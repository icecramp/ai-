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43"/>
  </p:notesMasterIdLst>
  <p:handoutMasterIdLst>
    <p:handoutMasterId r:id="rId44"/>
  </p:handoutMasterIdLst>
  <p:sldIdLst>
    <p:sldId id="321" r:id="rId5"/>
    <p:sldId id="277" r:id="rId6"/>
    <p:sldId id="279" r:id="rId7"/>
    <p:sldId id="308" r:id="rId8"/>
    <p:sldId id="280" r:id="rId9"/>
    <p:sldId id="310" r:id="rId10"/>
    <p:sldId id="285" r:id="rId11"/>
    <p:sldId id="281" r:id="rId12"/>
    <p:sldId id="311" r:id="rId13"/>
    <p:sldId id="294" r:id="rId14"/>
    <p:sldId id="312" r:id="rId15"/>
    <p:sldId id="295" r:id="rId16"/>
    <p:sldId id="296" r:id="rId17"/>
    <p:sldId id="313" r:id="rId18"/>
    <p:sldId id="297" r:id="rId19"/>
    <p:sldId id="298" r:id="rId20"/>
    <p:sldId id="299" r:id="rId21"/>
    <p:sldId id="314" r:id="rId22"/>
    <p:sldId id="307" r:id="rId23"/>
    <p:sldId id="300" r:id="rId24"/>
    <p:sldId id="315" r:id="rId25"/>
    <p:sldId id="301" r:id="rId26"/>
    <p:sldId id="302" r:id="rId27"/>
    <p:sldId id="303" r:id="rId28"/>
    <p:sldId id="316" r:id="rId29"/>
    <p:sldId id="304" r:id="rId30"/>
    <p:sldId id="305" r:id="rId31"/>
    <p:sldId id="317" r:id="rId32"/>
    <p:sldId id="318" r:id="rId33"/>
    <p:sldId id="287" r:id="rId34"/>
    <p:sldId id="288" r:id="rId35"/>
    <p:sldId id="289" r:id="rId36"/>
    <p:sldId id="290" r:id="rId37"/>
    <p:sldId id="319" r:id="rId38"/>
    <p:sldId id="291" r:id="rId39"/>
    <p:sldId id="320" r:id="rId40"/>
    <p:sldId id="286" r:id="rId41"/>
    <p:sldId id="270" r:id="rId42"/>
  </p:sldIdLst>
  <p:sldSz cx="18288000" cy="10287000"/>
  <p:notesSz cx="6858000" cy="9144000"/>
  <p:embeddedFontLst>
    <p:embeddedFont>
      <p:font typeface="Cascadia Code" panose="020B0609020000020004" pitchFamily="49" charset="0"/>
      <p:regular r:id="rId45"/>
      <p:bold r:id="rId46"/>
      <p:italic r:id="rId47"/>
      <p:boldItalic r:id="rId48"/>
    </p:embeddedFont>
    <p:embeddedFont>
      <p:font typeface="Museo Sans 300" panose="02000000000000000000" charset="0"/>
      <p:regular r:id="rId49"/>
      <p:italic r:id="rId50"/>
    </p:embeddedFont>
    <p:embeddedFont>
      <p:font typeface="Segoe UI" panose="020B0502040204020203" pitchFamily="34" charset="0"/>
      <p:regular r:id="rId51"/>
      <p:bold r:id="rId52"/>
      <p:italic r:id="rId53"/>
      <p:boldItalic r:id="rId5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2254BC-C669-4C58-8896-EBBB7531B6D9}" v="1" dt="2026-05-05T09:16:46.154"/>
    <p1510:client id="{A6A84AB0-1939-49CC-8FF8-086EF10AAC9A}" v="51" dt="2026-03-30T07:00:11.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477" autoAdjust="0"/>
  </p:normalViewPr>
  <p:slideViewPr>
    <p:cSldViewPr snapToGrid="0">
      <p:cViewPr varScale="1">
        <p:scale>
          <a:sx n="59" d="100"/>
          <a:sy n="59" d="100"/>
        </p:scale>
        <p:origin x="828"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2.fntdata"/><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handoutMaster" Target="handoutMasters/handoutMaster1.xml"/><Relationship Id="rId52"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29/9/2026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29/9/2026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61575-DA01-B900-44FE-A954F138E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4F2DA-8DC3-3957-0AAA-1827CB86B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EC4EE-1434-BD10-6AA8-EA0A77027375}"/>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180BCFB-48E9-E778-3159-862218F918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A40E94-7D3E-E066-B80B-2FBCA7962AAD}"/>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4231707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0C5-50F0-1EF8-54A3-68923A1BC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6C121-C55A-C30A-1AF5-C795EC307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3A19B-D26B-C5C2-8B32-110E4A0A8424}"/>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4041C93F-2C28-8633-1D2B-28E803BCEFD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0F86040-9268-D180-F2D8-EBCD990E5D84}"/>
              </a:ext>
            </a:extLst>
          </p:cNvPr>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112421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FDBF3-3854-3000-92D6-08372F072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D8DEA-7EBD-3DC8-CEC0-4CAD2066F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3F512-2973-7502-FCF2-98406B1253A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47C0738F-EDF8-AD90-A296-FD0C3FFCEA6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615823A-E69B-5AD8-0C39-76CC29F6B344}"/>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1229071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A1EC5-4506-193E-5873-D671EAE77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AD2F0-AB07-6DDA-D425-CE8A8C012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2D3B7-FE1B-92D9-89E6-6E1A8A0330A5}"/>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C326901-B35A-93A3-D690-36A5C70F38D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72C1DAC-EB58-A8AA-415A-13A846207AAA}"/>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13848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sz="1200" b="1" dirty="0"/>
              <a:t>Why does utils/ need to exist at all?</a:t>
            </a:r>
          </a:p>
          <a:p>
            <a:endParaRPr lang="en-MY" sz="1200" dirty="0"/>
          </a:p>
          <a:p>
            <a:r>
              <a:rPr lang="en-MY" sz="1200" dirty="0"/>
              <a:t>Because </a:t>
            </a:r>
            <a:r>
              <a:rPr lang="en-MY" sz="1200" b="1" dirty="0"/>
              <a:t>the same search code and data-loading code gets reused across Labs 1, 2, and 3.</a:t>
            </a:r>
            <a:r>
              <a:rPr lang="en-MY" sz="1200" dirty="0"/>
              <a:t> Without it, you'd have to copy-paste the entire BFS/DFS/UCS implementation and the </a:t>
            </a:r>
            <a:r>
              <a:rPr lang="en-MY" sz="1200" dirty="0" err="1"/>
              <a:t>OpenFlights</a:t>
            </a:r>
            <a:r>
              <a:rPr lang="en-MY" sz="1200" dirty="0"/>
              <a:t>-cleaning logic into three separate lab files. </a:t>
            </a:r>
          </a:p>
          <a:p>
            <a:r>
              <a:rPr lang="en-MY" sz="1200" dirty="0"/>
              <a:t>utils/ exists so that:</a:t>
            </a:r>
          </a:p>
          <a:p>
            <a:pPr lvl="0"/>
            <a:r>
              <a:rPr lang="en-MY" sz="1200" b="1" dirty="0"/>
              <a:t>You write the algorithm once</a:t>
            </a:r>
            <a:r>
              <a:rPr lang="en-MY" sz="1200" dirty="0"/>
              <a:t>, and every lab just calls </a:t>
            </a:r>
            <a:r>
              <a:rPr lang="en-MY" sz="1200" dirty="0" err="1"/>
              <a:t>bfs</a:t>
            </a:r>
            <a:r>
              <a:rPr lang="en-MY" sz="1200" dirty="0"/>
              <a:t>(...), </a:t>
            </a:r>
            <a:r>
              <a:rPr lang="en-MY" sz="1200" dirty="0" err="1"/>
              <a:t>ucs</a:t>
            </a:r>
            <a:r>
              <a:rPr lang="en-MY" sz="1200" dirty="0"/>
              <a:t>(...), etc.</a:t>
            </a:r>
          </a:p>
          <a:p>
            <a:pPr lvl="0"/>
            <a:r>
              <a:rPr lang="en-MY" sz="1200" b="1" dirty="0"/>
              <a:t>If there's a bug, you fix it in one place</a:t>
            </a:r>
            <a:r>
              <a:rPr lang="en-MY" sz="1200" dirty="0"/>
              <a:t>, not three.</a:t>
            </a:r>
          </a:p>
          <a:p>
            <a:pPr lvl="0"/>
            <a:r>
              <a:rPr lang="en-MY" sz="1200" b="1" dirty="0"/>
              <a:t>The lab files stay focused on the actual questions</a:t>
            </a:r>
            <a:r>
              <a:rPr lang="en-MY" sz="1200" dirty="0"/>
              <a:t> ("run BFS on this data, verify it") instead of being cluttered with 100+ lines of infrastructure code.</a:t>
            </a:r>
          </a:p>
          <a:p>
            <a:pPr lvl="0"/>
            <a:r>
              <a:rPr lang="en-MY" sz="1200" b="1" dirty="0"/>
              <a:t>It can be tested on its own</a:t>
            </a:r>
            <a:r>
              <a:rPr lang="en-MY" sz="1200" dirty="0"/>
              <a:t> (test_search.py) - you can trust the toolbox works correctly </a:t>
            </a:r>
            <a:r>
              <a:rPr lang="en-MY" sz="1200" i="1" dirty="0"/>
              <a:t>before</a:t>
            </a:r>
            <a:r>
              <a:rPr lang="en-MY" sz="1200" dirty="0"/>
              <a:t> trusting the results it gives you on real data.</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80447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Freeform 7"/>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2"/>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83600" y="4718912"/>
            <a:ext cx="11424666" cy="153631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04 </a:t>
            </a:r>
          </a:p>
          <a:p>
            <a:pPr lvl="0" algn="ctr">
              <a:spcBef>
                <a:spcPct val="0"/>
              </a:spcBef>
              <a:defRPr/>
            </a:pPr>
            <a:r>
              <a:rPr lang="en-MY"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rPr>
              <a:t>Search Foundations on an Airline Network</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718145"/>
          </a:xfrm>
          <a:prstGeom prst="rect">
            <a:avLst/>
          </a:prstGeom>
        </p:spPr>
        <p:txBody>
          <a:bodyPr lIns="0" tIns="0" rIns="0" bIns="0" rtlCol="0" anchor="t">
            <a:spAutoFit/>
          </a:bodyPr>
          <a:lstStyle/>
          <a:p>
            <a:pPr algn="ctr" defTabSz="304815">
              <a:lnSpc>
                <a:spcPts val="2837"/>
              </a:lnSpc>
              <a:defRPr/>
            </a:pPr>
            <a:r>
              <a:rPr lang="en-US" sz="2800" spc="69"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TGB2013/TFB2073/TEB2023_092 : Artificial Intelligence</a:t>
            </a:r>
          </a:p>
        </p:txBody>
      </p:sp>
      <p:sp>
        <p:nvSpPr>
          <p:cNvPr id="15" name="TextBox 15"/>
          <p:cNvSpPr txBox="1"/>
          <p:nvPr/>
        </p:nvSpPr>
        <p:spPr>
          <a:xfrm>
            <a:off x="8085066" y="7789617"/>
            <a:ext cx="8221734" cy="804451"/>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02E8717A-DAE6-83DA-B948-7047270D8AF1}"/>
              </a:ext>
            </a:extLst>
          </p:cNvPr>
          <p:cNvPicPr>
            <a:picLocks noChangeAspect="1"/>
          </p:cNvPicPr>
          <p:nvPr/>
        </p:nvPicPr>
        <p:blipFill>
          <a:blip r:embed="rId3"/>
          <a:stretch>
            <a:fillRect/>
          </a:stretch>
        </p:blipFill>
        <p:spPr>
          <a:xfrm>
            <a:off x="1" y="-2"/>
            <a:ext cx="6106886"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kumimoji="0" lang="en-US" sz="3200" b="1" i="0" u="none" strike="noStrike" kern="1200" cap="none" spc="147"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TOPIC</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04</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7A1256F-01ED-6251-D28B-5D99463419F9}"/>
              </a:ext>
            </a:extLst>
          </p:cNvPr>
          <p:cNvSpPr txBox="1"/>
          <p:nvPr/>
        </p:nvSpPr>
        <p:spPr>
          <a:xfrm>
            <a:off x="990600" y="1779814"/>
            <a:ext cx="14090495" cy="5293757"/>
          </a:xfrm>
          <a:prstGeom prst="rect">
            <a:avLst/>
          </a:prstGeom>
          <a:noFill/>
        </p:spPr>
        <p:txBody>
          <a:bodyPr wrap="square" rtlCol="0">
            <a:spAutoFit/>
          </a:bodyPr>
          <a:lstStyle/>
          <a:p>
            <a:pPr marL="514350" indent="-514350">
              <a:buFontTx/>
              <a:buAutoNum type="arabicPeriod"/>
            </a:pPr>
            <a:r>
              <a:rPr lang="en-MY" sz="2600" dirty="0"/>
              <a:t>Search and Problem Solving</a:t>
            </a:r>
          </a:p>
          <a:p>
            <a:pPr marL="514350" indent="-514350">
              <a:buFontTx/>
              <a:buAutoNum type="arabicPeriod"/>
            </a:pPr>
            <a:r>
              <a:rPr lang="en-MY" sz="2600" dirty="0"/>
              <a:t>Route finding as a search problem</a:t>
            </a:r>
          </a:p>
          <a:p>
            <a:pPr marL="514350" indent="-514350">
              <a:buFontTx/>
              <a:buAutoNum type="arabicPeriod"/>
            </a:pPr>
            <a:r>
              <a:rPr lang="en-MY" sz="2600" dirty="0"/>
              <a:t>Uninformed Search: BFS, DFS, and Uniform-Cost Search</a:t>
            </a:r>
          </a:p>
          <a:p>
            <a:pPr marL="514350" indent="-514350">
              <a:buFontTx/>
              <a:buAutoNum type="arabicPeriod"/>
            </a:pPr>
            <a:r>
              <a:rPr lang="en-MY" sz="2600" dirty="0"/>
              <a:t>What Lab 1 Actually Has You Do</a:t>
            </a:r>
          </a:p>
          <a:p>
            <a:pPr marL="514350" indent="-514350">
              <a:buFontTx/>
              <a:buAutoNum type="arabicPeriod"/>
            </a:pPr>
            <a:r>
              <a:rPr lang="en-MY" sz="2600" dirty="0"/>
              <a:t>The build order, and why</a:t>
            </a:r>
          </a:p>
          <a:p>
            <a:pPr marL="514350" indent="-514350">
              <a:buFontTx/>
              <a:buAutoNum type="arabicPeriod"/>
            </a:pPr>
            <a:r>
              <a:rPr lang="en-MY" sz="2600" dirty="0"/>
              <a:t>Why Having separate folder utils?</a:t>
            </a:r>
          </a:p>
          <a:p>
            <a:pPr marL="514350" indent="-514350">
              <a:buFontTx/>
              <a:buAutoNum type="arabicPeriod"/>
            </a:pPr>
            <a:r>
              <a:rPr lang="en-MY" sz="2600" dirty="0"/>
              <a:t>utils/core.py</a:t>
            </a:r>
          </a:p>
          <a:p>
            <a:pPr marL="514350" indent="-514350">
              <a:buFontTx/>
              <a:buAutoNum type="arabicPeriod"/>
            </a:pPr>
            <a:r>
              <a:rPr lang="en-MY" sz="2600" dirty="0"/>
              <a:t>utils/ test_search.py</a:t>
            </a:r>
          </a:p>
          <a:p>
            <a:pPr marL="514350" indent="-514350">
              <a:buFontTx/>
              <a:buAutoNum type="arabicPeriod"/>
            </a:pPr>
            <a:r>
              <a:rPr lang="en-MY" sz="2600" dirty="0"/>
              <a:t>utils/ openflights.py</a:t>
            </a:r>
          </a:p>
          <a:p>
            <a:pPr marL="514350" indent="-514350">
              <a:buFontTx/>
              <a:buAutoNum type="arabicPeriod"/>
            </a:pPr>
            <a:r>
              <a:rPr lang="en-MY" sz="2600" dirty="0"/>
              <a:t>utils/ plotting.py</a:t>
            </a:r>
          </a:p>
          <a:p>
            <a:pPr marL="514350" indent="-514350">
              <a:buFontTx/>
              <a:buAutoNum type="arabicPeriod"/>
            </a:pPr>
            <a:r>
              <a:rPr lang="en-MY" sz="2600" dirty="0"/>
              <a:t>utils/ __init__.py</a:t>
            </a:r>
          </a:p>
          <a:p>
            <a:pPr marL="514350" indent="-514350">
              <a:buFontTx/>
              <a:buAutoNum type="arabicPeriod"/>
            </a:pPr>
            <a:r>
              <a:rPr lang="en-MY" sz="2600" dirty="0"/>
              <a:t>lab01_search_foundations.py</a:t>
            </a:r>
          </a:p>
          <a:p>
            <a:pPr marL="514350" indent="-514350">
              <a:buFontTx/>
              <a:buAutoNum type="arabicPeriod"/>
            </a:pPr>
            <a:r>
              <a:rPr lang="en-MY" sz="2600" dirty="0"/>
              <a:t>Running Lab 1	</a:t>
            </a:r>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862E9-F54B-B087-DCBF-6460B684E8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48980F-82D1-EA4E-47E6-6EE24D6B39A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3FDB01E-F971-DBA0-B492-36082CBB644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34B1EFF-76C9-0A5A-AFD7-3CECD8249562}"/>
              </a:ext>
            </a:extLst>
          </p:cNvPr>
          <p:cNvSpPr txBox="1"/>
          <p:nvPr/>
        </p:nvSpPr>
        <p:spPr>
          <a:xfrm>
            <a:off x="990601" y="319041"/>
            <a:ext cx="14919959" cy="615553"/>
          </a:xfrm>
          <a:prstGeom prst="rect">
            <a:avLst/>
          </a:prstGeom>
        </p:spPr>
        <p:txBody>
          <a:bodyPr wrap="square" lIns="0" tIns="0" rIns="0" bIns="0" rtlCol="0" anchor="t">
            <a:spAutoFit/>
          </a:bodyPr>
          <a:lstStyle/>
          <a:p>
            <a:pPr>
              <a:lnSpc>
                <a:spcPct val="100000"/>
              </a:lnSpc>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Search and Problem Solving</a:t>
            </a:r>
          </a:p>
        </p:txBody>
      </p:sp>
      <p:sp>
        <p:nvSpPr>
          <p:cNvPr id="9" name="Date Placeholder 8">
            <a:extLst>
              <a:ext uri="{FF2B5EF4-FFF2-40B4-BE49-F238E27FC236}">
                <a16:creationId xmlns:a16="http://schemas.microsoft.com/office/drawing/2014/main" id="{D8CF1AFE-CF34-F1FE-4311-62830A81502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04</a:t>
            </a:r>
          </a:p>
        </p:txBody>
      </p:sp>
      <p:sp>
        <p:nvSpPr>
          <p:cNvPr id="10" name="Footer Placeholder 9">
            <a:extLst>
              <a:ext uri="{FF2B5EF4-FFF2-40B4-BE49-F238E27FC236}">
                <a16:creationId xmlns:a16="http://schemas.microsoft.com/office/drawing/2014/main" id="{6C64631D-62C3-E69A-389C-987D176833A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10B01C5-666B-2D11-797F-6C3D06354C0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B929406-DD43-521F-000F-E6FC4AAF902A}"/>
              </a:ext>
            </a:extLst>
          </p:cNvPr>
          <p:cNvSpPr txBox="1"/>
          <p:nvPr/>
        </p:nvSpPr>
        <p:spPr>
          <a:xfrm>
            <a:off x="990600" y="1865651"/>
            <a:ext cx="15108836" cy="4093428"/>
          </a:xfrm>
          <a:prstGeom prst="rect">
            <a:avLst/>
          </a:prstGeom>
          <a:noFill/>
        </p:spPr>
        <p:txBody>
          <a:bodyPr wrap="square" rtlCol="0">
            <a:spAutoFit/>
          </a:bodyPr>
          <a:lstStyle/>
          <a:p>
            <a:r>
              <a:rPr lang="en-MY" sz="3600" b="1" dirty="0"/>
              <a:t>The Big Picture</a:t>
            </a:r>
          </a:p>
          <a:p>
            <a:endParaRPr lang="en-MY" sz="3200" dirty="0"/>
          </a:p>
          <a:p>
            <a:r>
              <a:rPr lang="en-MY" sz="3200" dirty="0"/>
              <a:t>Imagine you want to fly from Kuala Lumpur to Iceland, but there's no direct flight. You need to find a route through other airports. </a:t>
            </a:r>
          </a:p>
          <a:p>
            <a:r>
              <a:rPr lang="en-MY" sz="3200" dirty="0"/>
              <a:t>Chapter 1 is about teaching a computer three different ways to find that route, and Lab 1 has you actually build and test them.</a:t>
            </a:r>
          </a:p>
          <a:p>
            <a:r>
              <a:rPr lang="en-MY" sz="3200" dirty="0"/>
              <a:t>All three methods ask the same question - "how do I get from A to B?“, but they search in different orders, so they don't always agree on the best answer.</a:t>
            </a:r>
          </a:p>
        </p:txBody>
      </p:sp>
      <p:sp>
        <p:nvSpPr>
          <p:cNvPr id="7" name="TextBox 6">
            <a:extLst>
              <a:ext uri="{FF2B5EF4-FFF2-40B4-BE49-F238E27FC236}">
                <a16:creationId xmlns:a16="http://schemas.microsoft.com/office/drawing/2014/main" id="{F03544D3-701D-1A29-3336-A53429B5C3E4}"/>
              </a:ext>
            </a:extLst>
          </p:cNvPr>
          <p:cNvSpPr txBox="1"/>
          <p:nvPr/>
        </p:nvSpPr>
        <p:spPr>
          <a:xfrm>
            <a:off x="2397442" y="7347704"/>
            <a:ext cx="13493115" cy="584775"/>
          </a:xfrm>
          <a:prstGeom prst="rect">
            <a:avLst/>
          </a:prstGeom>
          <a:noFill/>
        </p:spPr>
        <p:txBody>
          <a:bodyPr wrap="square">
            <a:spAutoFit/>
          </a:bodyPr>
          <a:lstStyle/>
          <a:p>
            <a:r>
              <a:rPr lang="en-MY" sz="3200" i="1" dirty="0">
                <a:solidFill>
                  <a:schemeClr val="accent2">
                    <a:lumMod val="75000"/>
                  </a:schemeClr>
                </a:solidFill>
              </a:rPr>
              <a:t>Lab 1 asks: how do you fly from Kuala Lumpur to Keflavík without a direct flight?</a:t>
            </a:r>
          </a:p>
        </p:txBody>
      </p:sp>
    </p:spTree>
    <p:extLst>
      <p:ext uri="{BB962C8B-B14F-4D97-AF65-F5344CB8AC3E}">
        <p14:creationId xmlns:p14="http://schemas.microsoft.com/office/powerpoint/2010/main" val="71604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0C44D-3364-180F-B2D8-FA67E35FCB9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57AACCE-1E3D-67F0-55D3-A9D7123103C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2E79674-040B-F1E4-105E-4832939A606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803AB8F-A524-9930-8F5D-D704CE871CDF}"/>
              </a:ext>
            </a:extLst>
          </p:cNvPr>
          <p:cNvSpPr txBox="1"/>
          <p:nvPr/>
        </p:nvSpPr>
        <p:spPr>
          <a:xfrm>
            <a:off x="990601" y="319041"/>
            <a:ext cx="14919959" cy="615553"/>
          </a:xfrm>
          <a:prstGeom prst="rect">
            <a:avLst/>
          </a:prstGeom>
        </p:spPr>
        <p:txBody>
          <a:bodyPr wrap="square" lIns="0" tIns="0" rIns="0" bIns="0" rtlCol="0" anchor="t">
            <a:spAutoFit/>
          </a:bodyPr>
          <a:lstStyle/>
          <a:p>
            <a:pPr>
              <a:lnSpc>
                <a:spcPct val="100000"/>
              </a:lnSpc>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Route finding as a search problem</a:t>
            </a:r>
          </a:p>
        </p:txBody>
      </p:sp>
      <p:sp>
        <p:nvSpPr>
          <p:cNvPr id="9" name="Date Placeholder 8">
            <a:extLst>
              <a:ext uri="{FF2B5EF4-FFF2-40B4-BE49-F238E27FC236}">
                <a16:creationId xmlns:a16="http://schemas.microsoft.com/office/drawing/2014/main" id="{8413777F-3C9C-582D-053D-B0CDC88C986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04</a:t>
            </a:r>
          </a:p>
        </p:txBody>
      </p:sp>
      <p:sp>
        <p:nvSpPr>
          <p:cNvPr id="10" name="Footer Placeholder 9">
            <a:extLst>
              <a:ext uri="{FF2B5EF4-FFF2-40B4-BE49-F238E27FC236}">
                <a16:creationId xmlns:a16="http://schemas.microsoft.com/office/drawing/2014/main" id="{7FFEE47C-50FA-DE91-6D30-D8421EE77E1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89FBEB6-14B1-D399-FEF0-3CBC692ED14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graphicFrame>
        <p:nvGraphicFramePr>
          <p:cNvPr id="8" name="Table 7">
            <a:extLst>
              <a:ext uri="{FF2B5EF4-FFF2-40B4-BE49-F238E27FC236}">
                <a16:creationId xmlns:a16="http://schemas.microsoft.com/office/drawing/2014/main" id="{F308988F-A09D-D799-10BE-93A0A6C1BB5C}"/>
              </a:ext>
            </a:extLst>
          </p:cNvPr>
          <p:cNvGraphicFramePr>
            <a:graphicFrameLocks noGrp="1"/>
          </p:cNvGraphicFramePr>
          <p:nvPr>
            <p:extLst>
              <p:ext uri="{D42A27DB-BD31-4B8C-83A1-F6EECF244321}">
                <p14:modId xmlns:p14="http://schemas.microsoft.com/office/powerpoint/2010/main" val="1959526722"/>
              </p:ext>
            </p:extLst>
          </p:nvPr>
        </p:nvGraphicFramePr>
        <p:xfrm>
          <a:off x="2354580" y="2103120"/>
          <a:ext cx="13384530" cy="5227320"/>
        </p:xfrm>
        <a:graphic>
          <a:graphicData uri="http://schemas.openxmlformats.org/drawingml/2006/table">
            <a:tbl>
              <a:tblPr firstRow="1" bandRow="1">
                <a:tableStyleId>{5C22544A-7EE6-4342-B048-85BDC9FD1C3A}</a:tableStyleId>
              </a:tblPr>
              <a:tblGrid>
                <a:gridCol w="4461510">
                  <a:extLst>
                    <a:ext uri="{9D8B030D-6E8A-4147-A177-3AD203B41FA5}">
                      <a16:colId xmlns:a16="http://schemas.microsoft.com/office/drawing/2014/main" val="3909815151"/>
                    </a:ext>
                  </a:extLst>
                </a:gridCol>
                <a:gridCol w="4461510">
                  <a:extLst>
                    <a:ext uri="{9D8B030D-6E8A-4147-A177-3AD203B41FA5}">
                      <a16:colId xmlns:a16="http://schemas.microsoft.com/office/drawing/2014/main" val="3869731021"/>
                    </a:ext>
                  </a:extLst>
                </a:gridCol>
                <a:gridCol w="4461510">
                  <a:extLst>
                    <a:ext uri="{9D8B030D-6E8A-4147-A177-3AD203B41FA5}">
                      <a16:colId xmlns:a16="http://schemas.microsoft.com/office/drawing/2014/main" val="85665034"/>
                    </a:ext>
                  </a:extLst>
                </a:gridCol>
              </a:tblGrid>
              <a:tr h="370840">
                <a:tc>
                  <a:txBody>
                    <a:bodyPr/>
                    <a:lstStyle/>
                    <a:p>
                      <a:r>
                        <a:rPr lang="en-MY" sz="2800" dirty="0"/>
                        <a:t>Ingredient</a:t>
                      </a:r>
                      <a:endParaRPr lang="en-MY" dirty="0"/>
                    </a:p>
                  </a:txBody>
                  <a:tcPr/>
                </a:tc>
                <a:tc>
                  <a:txBody>
                    <a:bodyPr/>
                    <a:lstStyle/>
                    <a:p>
                      <a:r>
                        <a:rPr lang="en-MY" sz="2800" dirty="0"/>
                        <a:t>In general </a:t>
                      </a:r>
                      <a:endParaRPr lang="en-MY" dirty="0"/>
                    </a:p>
                  </a:txBody>
                  <a:tcPr/>
                </a:tc>
                <a:tc>
                  <a:txBody>
                    <a:bodyPr/>
                    <a:lstStyle/>
                    <a:p>
                      <a:r>
                        <a:rPr lang="en-MY" sz="2800" dirty="0"/>
                        <a:t>In Lab 1 </a:t>
                      </a:r>
                      <a:endParaRPr lang="en-MY" dirty="0"/>
                    </a:p>
                  </a:txBody>
                  <a:tcPr/>
                </a:tc>
                <a:extLst>
                  <a:ext uri="{0D108BD9-81ED-4DB2-BD59-A6C34878D82A}">
                    <a16:rowId xmlns:a16="http://schemas.microsoft.com/office/drawing/2014/main" val="4062357536"/>
                  </a:ext>
                </a:extLst>
              </a:tr>
              <a:tr h="370840">
                <a:tc>
                  <a:txBody>
                    <a:bodyPr/>
                    <a:lstStyle/>
                    <a:p>
                      <a:r>
                        <a:rPr lang="en-MY" sz="2800" dirty="0"/>
                        <a:t>State</a:t>
                      </a:r>
                      <a:endParaRPr lang="en-MY" dirty="0"/>
                    </a:p>
                  </a:txBody>
                  <a:tcPr/>
                </a:tc>
                <a:tc>
                  <a:txBody>
                    <a:bodyPr/>
                    <a:lstStyle/>
                    <a:p>
                      <a:r>
                        <a:rPr lang="en-MY" sz="2800" dirty="0"/>
                        <a:t>A situation the search can be in</a:t>
                      </a:r>
                      <a:endParaRPr lang="en-MY" dirty="0"/>
                    </a:p>
                  </a:txBody>
                  <a:tcPr/>
                </a:tc>
                <a:tc>
                  <a:txBody>
                    <a:bodyPr/>
                    <a:lstStyle/>
                    <a:p>
                      <a:r>
                        <a:rPr lang="en-MY" sz="2800" dirty="0"/>
                        <a:t>An airport, named by its IATA code(KUL) </a:t>
                      </a:r>
                      <a:endParaRPr lang="en-MY" dirty="0"/>
                    </a:p>
                  </a:txBody>
                  <a:tcPr/>
                </a:tc>
                <a:extLst>
                  <a:ext uri="{0D108BD9-81ED-4DB2-BD59-A6C34878D82A}">
                    <a16:rowId xmlns:a16="http://schemas.microsoft.com/office/drawing/2014/main" val="667478900"/>
                  </a:ext>
                </a:extLst>
              </a:tr>
              <a:tr h="370840">
                <a:tc>
                  <a:txBody>
                    <a:bodyPr/>
                    <a:lstStyle/>
                    <a:p>
                      <a:r>
                        <a:rPr lang="en-MY" sz="2800" dirty="0"/>
                        <a:t>Start</a:t>
                      </a:r>
                      <a:endParaRPr lang="en-MY" dirty="0"/>
                    </a:p>
                  </a:txBody>
                  <a:tcPr/>
                </a:tc>
                <a:tc>
                  <a:txBody>
                    <a:bodyPr/>
                    <a:lstStyle/>
                    <a:p>
                      <a:r>
                        <a:rPr lang="en-MY" sz="2800" dirty="0"/>
                        <a:t>The initial state </a:t>
                      </a:r>
                      <a:endParaRPr lang="en-MY" dirty="0"/>
                    </a:p>
                  </a:txBody>
                  <a:tcPr/>
                </a:tc>
                <a:tc>
                  <a:txBody>
                    <a:bodyPr/>
                    <a:lstStyle/>
                    <a:p>
                      <a:r>
                        <a:rPr lang="en-MY" sz="2800" dirty="0"/>
                        <a:t>The origin airport of a query </a:t>
                      </a:r>
                      <a:endParaRPr lang="en-MY" dirty="0"/>
                    </a:p>
                  </a:txBody>
                  <a:tcPr/>
                </a:tc>
                <a:extLst>
                  <a:ext uri="{0D108BD9-81ED-4DB2-BD59-A6C34878D82A}">
                    <a16:rowId xmlns:a16="http://schemas.microsoft.com/office/drawing/2014/main" val="4134523267"/>
                  </a:ext>
                </a:extLst>
              </a:tr>
              <a:tr h="370840">
                <a:tc>
                  <a:txBody>
                    <a:bodyPr/>
                    <a:lstStyle/>
                    <a:p>
                      <a:r>
                        <a:rPr lang="en-MY" sz="2800" dirty="0"/>
                        <a:t>Goal</a:t>
                      </a:r>
                      <a:endParaRPr lang="en-MY" dirty="0"/>
                    </a:p>
                  </a:txBody>
                  <a:tcPr/>
                </a:tc>
                <a:tc>
                  <a:txBody>
                    <a:bodyPr/>
                    <a:lstStyle/>
                    <a:p>
                      <a:r>
                        <a:rPr lang="en-MY" sz="2800" dirty="0"/>
                        <a:t>The state we want to reach </a:t>
                      </a:r>
                      <a:endParaRPr lang="en-MY" dirty="0"/>
                    </a:p>
                  </a:txBody>
                  <a:tcPr/>
                </a:tc>
                <a:tc>
                  <a:txBody>
                    <a:bodyPr/>
                    <a:lstStyle/>
                    <a:p>
                      <a:r>
                        <a:rPr lang="en-MY" sz="2800" dirty="0"/>
                        <a:t>The destination airport </a:t>
                      </a:r>
                      <a:endParaRPr lang="en-MY" dirty="0"/>
                    </a:p>
                  </a:txBody>
                  <a:tcPr/>
                </a:tc>
                <a:extLst>
                  <a:ext uri="{0D108BD9-81ED-4DB2-BD59-A6C34878D82A}">
                    <a16:rowId xmlns:a16="http://schemas.microsoft.com/office/drawing/2014/main" val="1270793756"/>
                  </a:ext>
                </a:extLst>
              </a:tr>
              <a:tr h="370840">
                <a:tc>
                  <a:txBody>
                    <a:bodyPr/>
                    <a:lstStyle/>
                    <a:p>
                      <a:r>
                        <a:rPr lang="en-MY" sz="2800" dirty="0"/>
                        <a:t>Successors</a:t>
                      </a:r>
                      <a:endParaRPr lang="en-MY" dirty="0"/>
                    </a:p>
                  </a:txBody>
                  <a:tcPr/>
                </a:tc>
                <a:tc>
                  <a:txBody>
                    <a:bodyPr/>
                    <a:lstStyle/>
                    <a:p>
                      <a:r>
                        <a:rPr lang="en-MY" sz="2800" dirty="0"/>
                        <a:t>The states reachable in one step </a:t>
                      </a:r>
                      <a:endParaRPr lang="en-MY" dirty="0"/>
                    </a:p>
                  </a:txBody>
                  <a:tcPr/>
                </a:tc>
                <a:tc>
                  <a:txBody>
                    <a:bodyPr/>
                    <a:lstStyle/>
                    <a:p>
                      <a:r>
                        <a:rPr lang="en-MY" sz="2800" dirty="0"/>
                        <a:t>The airports with a direct route from here </a:t>
                      </a:r>
                      <a:endParaRPr lang="en-MY" dirty="0"/>
                    </a:p>
                  </a:txBody>
                  <a:tcPr/>
                </a:tc>
                <a:extLst>
                  <a:ext uri="{0D108BD9-81ED-4DB2-BD59-A6C34878D82A}">
                    <a16:rowId xmlns:a16="http://schemas.microsoft.com/office/drawing/2014/main" val="1461615919"/>
                  </a:ext>
                </a:extLst>
              </a:tr>
              <a:tr h="370840">
                <a:tc>
                  <a:txBody>
                    <a:bodyPr/>
                    <a:lstStyle/>
                    <a:p>
                      <a:r>
                        <a:rPr lang="en-MY" sz="2800" dirty="0"/>
                        <a:t>Path cost</a:t>
                      </a:r>
                      <a:endParaRPr lang="en-MY" dirty="0"/>
                    </a:p>
                  </a:txBody>
                  <a:tcPr/>
                </a:tc>
                <a:tc>
                  <a:txBody>
                    <a:bodyPr/>
                    <a:lstStyle/>
                    <a:p>
                      <a:r>
                        <a:rPr lang="en-MY" sz="2800" dirty="0"/>
                        <a:t>The accumulated cost of a path </a:t>
                      </a:r>
                      <a:endParaRPr lang="en-MY"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MY" sz="2800" dirty="0"/>
                        <a:t>Number of legs, or the sum of great-circle distances in km</a:t>
                      </a:r>
                      <a:endParaRPr lang="en-MY" sz="2400" dirty="0"/>
                    </a:p>
                    <a:p>
                      <a:endParaRPr lang="en-MY" dirty="0"/>
                    </a:p>
                  </a:txBody>
                  <a:tcPr/>
                </a:tc>
                <a:extLst>
                  <a:ext uri="{0D108BD9-81ED-4DB2-BD59-A6C34878D82A}">
                    <a16:rowId xmlns:a16="http://schemas.microsoft.com/office/drawing/2014/main" val="2183059906"/>
                  </a:ext>
                </a:extLst>
              </a:tr>
            </a:tbl>
          </a:graphicData>
        </a:graphic>
      </p:graphicFrame>
    </p:spTree>
    <p:extLst>
      <p:ext uri="{BB962C8B-B14F-4D97-AF65-F5344CB8AC3E}">
        <p14:creationId xmlns:p14="http://schemas.microsoft.com/office/powerpoint/2010/main" val="887643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9BB3-1797-E1C1-BB6B-11915C281777}"/>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A9ABF1ED-D5E9-9B5A-37C5-8E6FCDC7CDE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691F0BDD-9B9D-4757-16F4-C034C6E03DE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04</a:t>
            </a:r>
          </a:p>
        </p:txBody>
      </p:sp>
      <p:sp>
        <p:nvSpPr>
          <p:cNvPr id="10" name="Footer Placeholder 9">
            <a:extLst>
              <a:ext uri="{FF2B5EF4-FFF2-40B4-BE49-F238E27FC236}">
                <a16:creationId xmlns:a16="http://schemas.microsoft.com/office/drawing/2014/main" id="{ABFD4B9E-F319-E10F-77A2-1D433AF80C2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5C7393-8B40-0A9F-F3C3-6D07D11363F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674C8E1-5B36-D045-CC1D-CA3880556AEE}"/>
              </a:ext>
            </a:extLst>
          </p:cNvPr>
          <p:cNvSpPr txBox="1"/>
          <p:nvPr/>
        </p:nvSpPr>
        <p:spPr>
          <a:xfrm>
            <a:off x="865387" y="1452044"/>
            <a:ext cx="16557225" cy="7848302"/>
          </a:xfrm>
          <a:prstGeom prst="rect">
            <a:avLst/>
          </a:prstGeom>
          <a:noFill/>
        </p:spPr>
        <p:txBody>
          <a:bodyPr wrap="square" rtlCol="0">
            <a:spAutoFit/>
          </a:bodyPr>
          <a:lstStyle/>
          <a:p>
            <a:r>
              <a:rPr lang="en-MY" sz="3600" dirty="0"/>
              <a:t>Think of it like exploring a maze with sticky notes on a board, one note per airport, connected by strings (flights).</a:t>
            </a:r>
          </a:p>
          <a:p>
            <a:endParaRPr lang="en-MY" sz="3600" dirty="0"/>
          </a:p>
          <a:p>
            <a:pPr lvl="0"/>
            <a:r>
              <a:rPr lang="en-MY" sz="3600" b="1" dirty="0"/>
              <a:t>BFS (Breadth-First Search)</a:t>
            </a:r>
            <a:r>
              <a:rPr lang="en-MY" sz="3600" dirty="0"/>
              <a:t> - like water spreading out in ripples from where you dropped a stone. It checks every airport 1 flight away, then every airport 2 flights away, and so on. It finds the route with the </a:t>
            </a:r>
            <a:r>
              <a:rPr lang="en-MY" sz="3600" b="1" dirty="0"/>
              <a:t>fewest stops</a:t>
            </a:r>
            <a:r>
              <a:rPr lang="en-MY" sz="3600" dirty="0"/>
              <a:t>, but it doesn't care how many kilometres that route actually covers.</a:t>
            </a:r>
          </a:p>
          <a:p>
            <a:pPr lvl="0"/>
            <a:r>
              <a:rPr lang="en-MY" sz="3600" b="1" dirty="0"/>
              <a:t>DFS (Depth-First Search)</a:t>
            </a:r>
            <a:r>
              <a:rPr lang="en-MY" sz="3600" dirty="0"/>
              <a:t> - like a person who picks one direction and just keeps going as far as possible, only turning back when they hit a dead end. It's fast to write and uses little memory, but it can wander off on a wildly long route. It doesn't try to find a </a:t>
            </a:r>
            <a:r>
              <a:rPr lang="en-MY" sz="3600" i="1" dirty="0"/>
              <a:t>good</a:t>
            </a:r>
            <a:r>
              <a:rPr lang="en-MY" sz="3600" dirty="0"/>
              <a:t> answer, just </a:t>
            </a:r>
            <a:r>
              <a:rPr lang="en-MY" sz="3600" i="1" dirty="0"/>
              <a:t>an</a:t>
            </a:r>
            <a:r>
              <a:rPr lang="en-MY" sz="3600" dirty="0"/>
              <a:t> answer.</a:t>
            </a:r>
          </a:p>
          <a:p>
            <a:pPr lvl="0"/>
            <a:r>
              <a:rPr lang="en-MY" sz="3600" b="1" dirty="0"/>
              <a:t>UCS (Uniform-Cost Search)</a:t>
            </a:r>
            <a:r>
              <a:rPr lang="en-MY" sz="3600" dirty="0"/>
              <a:t> - instead of counting stops, this one always continues down whichever path currently has the </a:t>
            </a:r>
            <a:r>
              <a:rPr lang="en-MY" sz="3600" b="1" dirty="0"/>
              <a:t>lowest total distance so far</a:t>
            </a:r>
            <a:r>
              <a:rPr lang="en-MY" sz="3600" dirty="0"/>
              <a:t>. It guarantees the cheapest (shortest-distance) route exists, even if that means more stops.</a:t>
            </a:r>
          </a:p>
        </p:txBody>
      </p:sp>
      <p:sp>
        <p:nvSpPr>
          <p:cNvPr id="7" name="AutoShape 3">
            <a:extLst>
              <a:ext uri="{FF2B5EF4-FFF2-40B4-BE49-F238E27FC236}">
                <a16:creationId xmlns:a16="http://schemas.microsoft.com/office/drawing/2014/main" id="{9AD63779-45ED-BC2C-E57A-7A48637D6358}"/>
              </a:ext>
            </a:extLst>
          </p:cNvPr>
          <p:cNvSpPr/>
          <p:nvPr/>
        </p:nvSpPr>
        <p:spPr>
          <a:xfrm flipV="1">
            <a:off x="756446" y="1138319"/>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95266D91-7E84-894E-644A-EA02B8226F46}"/>
              </a:ext>
            </a:extLst>
          </p:cNvPr>
          <p:cNvSpPr txBox="1"/>
          <p:nvPr/>
        </p:nvSpPr>
        <p:spPr>
          <a:xfrm>
            <a:off x="834390" y="399528"/>
            <a:ext cx="14618970" cy="707886"/>
          </a:xfrm>
          <a:prstGeom prst="rect">
            <a:avLst/>
          </a:prstGeom>
          <a:noFill/>
        </p:spPr>
        <p:txBody>
          <a:bodyPr wrap="square">
            <a:spAutoFit/>
          </a:bodyPr>
          <a:lstStyle/>
          <a:p>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Uninformed Search: BFS, DFS, and Uniform-Cost Search</a:t>
            </a:r>
            <a:endParaRPr lang="en-MY" sz="4000" dirty="0"/>
          </a:p>
        </p:txBody>
      </p:sp>
    </p:spTree>
    <p:extLst>
      <p:ext uri="{BB962C8B-B14F-4D97-AF65-F5344CB8AC3E}">
        <p14:creationId xmlns:p14="http://schemas.microsoft.com/office/powerpoint/2010/main" val="3891600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6386-D591-6311-BA87-18FF9F53F298}"/>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E04A3C6F-DF8C-7E4B-68FE-EB90D4181D2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4E51A71F-69E6-29B7-5046-333CEBB9203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04</a:t>
            </a:r>
          </a:p>
        </p:txBody>
      </p:sp>
      <p:sp>
        <p:nvSpPr>
          <p:cNvPr id="10" name="Footer Placeholder 9">
            <a:extLst>
              <a:ext uri="{FF2B5EF4-FFF2-40B4-BE49-F238E27FC236}">
                <a16:creationId xmlns:a16="http://schemas.microsoft.com/office/drawing/2014/main" id="{01707DD6-1801-C18C-43DE-7025694734F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137B05F-29A6-E5F0-2592-A66A5AFE74E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graphicFrame>
        <p:nvGraphicFramePr>
          <p:cNvPr id="6" name="Table 5">
            <a:extLst>
              <a:ext uri="{FF2B5EF4-FFF2-40B4-BE49-F238E27FC236}">
                <a16:creationId xmlns:a16="http://schemas.microsoft.com/office/drawing/2014/main" id="{213815FD-A9F8-D5C5-EE53-30BE850F2ADB}"/>
              </a:ext>
            </a:extLst>
          </p:cNvPr>
          <p:cNvGraphicFramePr>
            <a:graphicFrameLocks noGrp="1"/>
          </p:cNvGraphicFramePr>
          <p:nvPr>
            <p:extLst>
              <p:ext uri="{D42A27DB-BD31-4B8C-83A1-F6EECF244321}">
                <p14:modId xmlns:p14="http://schemas.microsoft.com/office/powerpoint/2010/main" val="1156838255"/>
              </p:ext>
            </p:extLst>
          </p:nvPr>
        </p:nvGraphicFramePr>
        <p:xfrm>
          <a:off x="2251710" y="4069080"/>
          <a:ext cx="13704572" cy="4702809"/>
        </p:xfrm>
        <a:graphic>
          <a:graphicData uri="http://schemas.openxmlformats.org/drawingml/2006/table">
            <a:tbl>
              <a:tblPr firstRow="1" bandRow="1">
                <a:tableStyleId>{5C22544A-7EE6-4342-B048-85BDC9FD1C3A}</a:tableStyleId>
              </a:tblPr>
              <a:tblGrid>
                <a:gridCol w="3426143">
                  <a:extLst>
                    <a:ext uri="{9D8B030D-6E8A-4147-A177-3AD203B41FA5}">
                      <a16:colId xmlns:a16="http://schemas.microsoft.com/office/drawing/2014/main" val="2692532531"/>
                    </a:ext>
                  </a:extLst>
                </a:gridCol>
                <a:gridCol w="3426143">
                  <a:extLst>
                    <a:ext uri="{9D8B030D-6E8A-4147-A177-3AD203B41FA5}">
                      <a16:colId xmlns:a16="http://schemas.microsoft.com/office/drawing/2014/main" val="4000446506"/>
                    </a:ext>
                  </a:extLst>
                </a:gridCol>
                <a:gridCol w="3426143">
                  <a:extLst>
                    <a:ext uri="{9D8B030D-6E8A-4147-A177-3AD203B41FA5}">
                      <a16:colId xmlns:a16="http://schemas.microsoft.com/office/drawing/2014/main" val="3087923091"/>
                    </a:ext>
                  </a:extLst>
                </a:gridCol>
                <a:gridCol w="3426143">
                  <a:extLst>
                    <a:ext uri="{9D8B030D-6E8A-4147-A177-3AD203B41FA5}">
                      <a16:colId xmlns:a16="http://schemas.microsoft.com/office/drawing/2014/main" val="3727941856"/>
                    </a:ext>
                  </a:extLst>
                </a:gridCol>
              </a:tblGrid>
              <a:tr h="581246">
                <a:tc>
                  <a:txBody>
                    <a:bodyPr/>
                    <a:lstStyle/>
                    <a:p>
                      <a:r>
                        <a:rPr lang="en-MY" dirty="0"/>
                        <a:t>Method</a:t>
                      </a:r>
                    </a:p>
                  </a:txBody>
                  <a:tcPr/>
                </a:tc>
                <a:tc>
                  <a:txBody>
                    <a:bodyPr/>
                    <a:lstStyle/>
                    <a:p>
                      <a:r>
                        <a:rPr lang="en-MY" dirty="0"/>
                        <a:t>Frontier rule </a:t>
                      </a:r>
                    </a:p>
                  </a:txBody>
                  <a:tcPr/>
                </a:tc>
                <a:tc>
                  <a:txBody>
                    <a:bodyPr/>
                    <a:lstStyle/>
                    <a:p>
                      <a:r>
                        <a:rPr lang="en-MY" dirty="0"/>
                        <a:t>Data structure </a:t>
                      </a:r>
                    </a:p>
                  </a:txBody>
                  <a:tcPr/>
                </a:tc>
                <a:tc>
                  <a:txBody>
                    <a:bodyPr/>
                    <a:lstStyle/>
                    <a:p>
                      <a:r>
                        <a:rPr lang="en-MY" dirty="0"/>
                        <a:t>What it optimises </a:t>
                      </a:r>
                    </a:p>
                  </a:txBody>
                  <a:tcPr/>
                </a:tc>
                <a:extLst>
                  <a:ext uri="{0D108BD9-81ED-4DB2-BD59-A6C34878D82A}">
                    <a16:rowId xmlns:a16="http://schemas.microsoft.com/office/drawing/2014/main" val="4142380377"/>
                  </a:ext>
                </a:extLst>
              </a:tr>
              <a:tr h="1532376">
                <a:tc>
                  <a:txBody>
                    <a:bodyPr/>
                    <a:lstStyle/>
                    <a:p>
                      <a:r>
                        <a:rPr lang="en-MY" dirty="0"/>
                        <a:t>BFS</a:t>
                      </a:r>
                    </a:p>
                  </a:txBody>
                  <a:tcPr/>
                </a:tc>
                <a:tc>
                  <a:txBody>
                    <a:bodyPr/>
                    <a:lstStyle/>
                    <a:p>
                      <a:r>
                        <a:rPr lang="en-MY" dirty="0"/>
                        <a:t>Oldest first </a:t>
                      </a:r>
                    </a:p>
                  </a:txBody>
                  <a:tcPr/>
                </a:tc>
                <a:tc>
                  <a:txBody>
                    <a:bodyPr/>
                    <a:lstStyle/>
                    <a:p>
                      <a:r>
                        <a:rPr lang="en-MY" dirty="0"/>
                        <a:t>FIFO queue(deque) </a:t>
                      </a:r>
                    </a:p>
                  </a:txBody>
                  <a:tcPr/>
                </a:tc>
                <a:tc>
                  <a:txBody>
                    <a:bodyPr/>
                    <a:lstStyle/>
                    <a:p>
                      <a:r>
                        <a:rPr lang="en-MY" dirty="0"/>
                        <a:t>Fewest edges; every route counts as one leg </a:t>
                      </a:r>
                    </a:p>
                  </a:txBody>
                  <a:tcPr/>
                </a:tc>
                <a:extLst>
                  <a:ext uri="{0D108BD9-81ED-4DB2-BD59-A6C34878D82A}">
                    <a16:rowId xmlns:a16="http://schemas.microsoft.com/office/drawing/2014/main" val="799655294"/>
                  </a:ext>
                </a:extLst>
              </a:tr>
              <a:tr h="1532376">
                <a:tc>
                  <a:txBody>
                    <a:bodyPr/>
                    <a:lstStyle/>
                    <a:p>
                      <a:r>
                        <a:rPr lang="en-MY" dirty="0"/>
                        <a:t>DFS</a:t>
                      </a:r>
                    </a:p>
                  </a:txBody>
                  <a:tcPr/>
                </a:tc>
                <a:tc>
                  <a:txBody>
                    <a:bodyPr/>
                    <a:lstStyle/>
                    <a:p>
                      <a:r>
                        <a:rPr lang="en-MY" dirty="0"/>
                        <a:t>Newest first </a:t>
                      </a:r>
                    </a:p>
                  </a:txBody>
                  <a:tcPr/>
                </a:tc>
                <a:tc>
                  <a:txBody>
                    <a:bodyPr/>
                    <a:lstStyle/>
                    <a:p>
                      <a:r>
                        <a:rPr lang="en-MY" dirty="0"/>
                        <a:t>Stack (list)</a:t>
                      </a:r>
                    </a:p>
                  </a:txBody>
                  <a:tcPr/>
                </a:tc>
                <a:tc>
                  <a:txBody>
                    <a:bodyPr/>
                    <a:lstStyle/>
                    <a:p>
                      <a:r>
                        <a:rPr lang="en-MY" dirty="0"/>
                        <a:t>Nothing — finds a path, order dependent </a:t>
                      </a:r>
                    </a:p>
                  </a:txBody>
                  <a:tcPr/>
                </a:tc>
                <a:extLst>
                  <a:ext uri="{0D108BD9-81ED-4DB2-BD59-A6C34878D82A}">
                    <a16:rowId xmlns:a16="http://schemas.microsoft.com/office/drawing/2014/main" val="3980130702"/>
                  </a:ext>
                </a:extLst>
              </a:tr>
              <a:tr h="1056811">
                <a:tc>
                  <a:txBody>
                    <a:bodyPr/>
                    <a:lstStyle/>
                    <a:p>
                      <a:r>
                        <a:rPr lang="en-MY" dirty="0"/>
                        <a:t>UCS</a:t>
                      </a:r>
                    </a:p>
                  </a:txBody>
                  <a:tcPr/>
                </a:tc>
                <a:tc>
                  <a:txBody>
                    <a:bodyPr/>
                    <a:lstStyle/>
                    <a:p>
                      <a:r>
                        <a:rPr lang="en-MY" dirty="0"/>
                        <a:t>Lowest g(n) </a:t>
                      </a:r>
                    </a:p>
                  </a:txBody>
                  <a:tcPr/>
                </a:tc>
                <a:tc>
                  <a:txBody>
                    <a:bodyPr/>
                    <a:lstStyle/>
                    <a:p>
                      <a:r>
                        <a:rPr lang="en-MY" dirty="0"/>
                        <a:t>Min-heap (</a:t>
                      </a:r>
                      <a:r>
                        <a:rPr lang="en-MY" dirty="0" err="1"/>
                        <a:t>heapq</a:t>
                      </a:r>
                      <a:r>
                        <a:rPr lang="en-MY" dirty="0"/>
                        <a:t>) </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MY" dirty="0"/>
                        <a:t>Cheapest total cost, e.g. kilometres</a:t>
                      </a:r>
                    </a:p>
                  </a:txBody>
                  <a:tcPr/>
                </a:tc>
                <a:extLst>
                  <a:ext uri="{0D108BD9-81ED-4DB2-BD59-A6C34878D82A}">
                    <a16:rowId xmlns:a16="http://schemas.microsoft.com/office/drawing/2014/main" val="3250487213"/>
                  </a:ext>
                </a:extLst>
              </a:tr>
            </a:tbl>
          </a:graphicData>
        </a:graphic>
      </p:graphicFrame>
      <p:sp>
        <p:nvSpPr>
          <p:cNvPr id="8" name="AutoShape 3">
            <a:extLst>
              <a:ext uri="{FF2B5EF4-FFF2-40B4-BE49-F238E27FC236}">
                <a16:creationId xmlns:a16="http://schemas.microsoft.com/office/drawing/2014/main" id="{A7E9558E-9701-F863-F22C-B4D6F644BB45}"/>
              </a:ext>
            </a:extLst>
          </p:cNvPr>
          <p:cNvSpPr/>
          <p:nvPr/>
        </p:nvSpPr>
        <p:spPr>
          <a:xfrm flipV="1">
            <a:off x="779523" y="1158099"/>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E6EB86D-F575-C92A-7D44-3E5400CCFA78}"/>
              </a:ext>
            </a:extLst>
          </p:cNvPr>
          <p:cNvSpPr txBox="1"/>
          <p:nvPr/>
        </p:nvSpPr>
        <p:spPr>
          <a:xfrm>
            <a:off x="1223010" y="1938142"/>
            <a:ext cx="15888132" cy="1138773"/>
          </a:xfrm>
          <a:prstGeom prst="rect">
            <a:avLst/>
          </a:prstGeom>
          <a:noFill/>
        </p:spPr>
        <p:txBody>
          <a:bodyPr wrap="square">
            <a:spAutoFit/>
          </a:bodyPr>
          <a:lstStyle/>
          <a:p>
            <a:r>
              <a:rPr lang="en-MY" sz="3200" b="1" dirty="0"/>
              <a:t>Key takeaway:</a:t>
            </a:r>
            <a:r>
              <a:rPr lang="en-MY" sz="3200" dirty="0"/>
              <a:t> fewest stops (BFS) and shortest distance (UCS) are two different goals, they don't always point to the same route</a:t>
            </a:r>
            <a:r>
              <a:rPr lang="en-MY" sz="3600" dirty="0"/>
              <a:t>.</a:t>
            </a:r>
          </a:p>
        </p:txBody>
      </p:sp>
    </p:spTree>
    <p:extLst>
      <p:ext uri="{BB962C8B-B14F-4D97-AF65-F5344CB8AC3E}">
        <p14:creationId xmlns:p14="http://schemas.microsoft.com/office/powerpoint/2010/main" val="4092834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E968-EEFB-1C44-78CF-FCFFE92A8DF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93063AF-DA59-5A93-9DB6-F7691189A60D}"/>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8CCC07F1-EC9C-1128-EE63-809B9B436480}"/>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8593DCFC-CCD7-7829-4D87-8E3D1CF55518}"/>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AutoShape 2">
            <a:extLst>
              <a:ext uri="{FF2B5EF4-FFF2-40B4-BE49-F238E27FC236}">
                <a16:creationId xmlns:a16="http://schemas.microsoft.com/office/drawing/2014/main" id="{9F1882D9-62D4-642E-7AF2-E1A28346C79F}"/>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20AF97F2-BC66-7C9F-3D67-494832C5A797}"/>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FF1D61A7-8F9E-BFAC-6FA3-A8D21621066F}"/>
              </a:ext>
            </a:extLst>
          </p:cNvPr>
          <p:cNvSpPr txBox="1"/>
          <p:nvPr/>
        </p:nvSpPr>
        <p:spPr>
          <a:xfrm>
            <a:off x="990601" y="319041"/>
            <a:ext cx="14919959" cy="1231106"/>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What Lab 1 Actually Has You Do</a:t>
            </a:r>
          </a:p>
          <a:p>
            <a:pPr>
              <a:defRPr/>
            </a:pPr>
            <a:endPar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A8C30672-AD41-8400-7508-18D94BD71A75}"/>
              </a:ext>
            </a:extLst>
          </p:cNvPr>
          <p:cNvSpPr txBox="1"/>
          <p:nvPr/>
        </p:nvSpPr>
        <p:spPr>
          <a:xfrm>
            <a:off x="990601" y="1666352"/>
            <a:ext cx="16234409" cy="6555641"/>
          </a:xfrm>
          <a:prstGeom prst="rect">
            <a:avLst/>
          </a:prstGeom>
          <a:noFill/>
        </p:spPr>
        <p:txBody>
          <a:bodyPr wrap="square">
            <a:spAutoFit/>
          </a:bodyPr>
          <a:lstStyle/>
          <a:p>
            <a:r>
              <a:rPr lang="en-MY" sz="2800" dirty="0"/>
              <a:t>Six questions:</a:t>
            </a:r>
          </a:p>
          <a:p>
            <a:pPr lvl="0"/>
            <a:endParaRPr lang="en-MY" sz="2800" b="1" dirty="0"/>
          </a:p>
          <a:p>
            <a:pPr lvl="0"/>
            <a:r>
              <a:rPr lang="en-MY" sz="2800" b="1" dirty="0"/>
              <a:t>Clean the data</a:t>
            </a:r>
            <a:r>
              <a:rPr lang="en-MY" sz="2800" dirty="0"/>
              <a:t> - Load the real airport/route spreadsheets, throw out unusable rows, and see how much survives (spoiler: about 6,464 out of 10,668 airports are usable).</a:t>
            </a:r>
            <a:endParaRPr lang="en-MY" sz="2800" b="1" dirty="0"/>
          </a:p>
          <a:p>
            <a:pPr lvl="0"/>
            <a:r>
              <a:rPr lang="en-MY" sz="2800" b="1" dirty="0"/>
              <a:t>Define distance</a:t>
            </a:r>
            <a:r>
              <a:rPr lang="en-MY" sz="2800" dirty="0"/>
              <a:t> - Show that every route between two airports gets a real distance in kilometres attached to it, calculated from their coordinates.</a:t>
            </a:r>
          </a:p>
          <a:p>
            <a:pPr lvl="0"/>
            <a:r>
              <a:rPr lang="en-MY" sz="2800" b="1" dirty="0"/>
              <a:t>Run all three searches</a:t>
            </a:r>
            <a:r>
              <a:rPr lang="en-MY" sz="2800" dirty="0"/>
              <a:t> - Try BFS, DFS, and UCS on three real routes (like KUL → KEF) and record: how many stops, how many kilometres, how much effort, how long it took.</a:t>
            </a:r>
          </a:p>
          <a:p>
            <a:pPr lvl="0"/>
            <a:r>
              <a:rPr lang="en-MY" sz="2800" b="1" dirty="0"/>
              <a:t>Double-check the answers</a:t>
            </a:r>
            <a:r>
              <a:rPr lang="en-MY" sz="2800" dirty="0"/>
              <a:t> - Make sure every route the algorithms claim is real (not made up) and that the distances actually add up correctly.</a:t>
            </a:r>
          </a:p>
          <a:p>
            <a:pPr lvl="0"/>
            <a:r>
              <a:rPr lang="en-MY" sz="2800" b="1" dirty="0"/>
              <a:t>Compare the trade-offs</a:t>
            </a:r>
            <a:r>
              <a:rPr lang="en-MY" sz="2800" dirty="0"/>
              <a:t> - See side-by-side that BFS always wins on fewest stops, UCS always wins on shortest distance, and DFS just wanders, and prove DFS's answer even changes if you simply list the neighbouring airports in a different order.</a:t>
            </a:r>
          </a:p>
          <a:p>
            <a:pPr lvl="0"/>
            <a:r>
              <a:rPr lang="en-MY" sz="2800" b="1" dirty="0"/>
              <a:t>Save proof</a:t>
            </a:r>
            <a:r>
              <a:rPr lang="en-MY" sz="2800" dirty="0"/>
              <a:t> - Draw a picture comparing the three different routes and save it, along with a results table, into your results/lab01/ folder.</a:t>
            </a:r>
          </a:p>
        </p:txBody>
      </p:sp>
    </p:spTree>
    <p:extLst>
      <p:ext uri="{BB962C8B-B14F-4D97-AF65-F5344CB8AC3E}">
        <p14:creationId xmlns:p14="http://schemas.microsoft.com/office/powerpoint/2010/main" val="2792648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4E40A0-B05D-DC15-8ACC-09068FE0F9B2}"/>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CC860CC6-940E-C068-E9EE-4D1D023B5E26}"/>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579E5ABB-C06F-CFC9-E04E-41455E43180B}"/>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AutoShape 2">
            <a:extLst>
              <a:ext uri="{FF2B5EF4-FFF2-40B4-BE49-F238E27FC236}">
                <a16:creationId xmlns:a16="http://schemas.microsoft.com/office/drawing/2014/main" id="{795627AD-B669-AE60-7971-CA9328CB856F}"/>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15299651-9289-63F8-4C65-F382C978F4C4}"/>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F825D366-F82F-150A-6721-6F8767A17390}"/>
              </a:ext>
            </a:extLst>
          </p:cNvPr>
          <p:cNvSpPr txBox="1"/>
          <p:nvPr/>
        </p:nvSpPr>
        <p:spPr>
          <a:xfrm>
            <a:off x="990601" y="319041"/>
            <a:ext cx="805052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build order, and why</a:t>
            </a:r>
          </a:p>
        </p:txBody>
      </p:sp>
      <p:graphicFrame>
        <p:nvGraphicFramePr>
          <p:cNvPr id="21" name="Table 20">
            <a:extLst>
              <a:ext uri="{FF2B5EF4-FFF2-40B4-BE49-F238E27FC236}">
                <a16:creationId xmlns:a16="http://schemas.microsoft.com/office/drawing/2014/main" id="{DE671742-7A7D-81CE-B2CF-A094E8D7FF75}"/>
              </a:ext>
            </a:extLst>
          </p:cNvPr>
          <p:cNvGraphicFramePr>
            <a:graphicFrameLocks noGrp="1"/>
          </p:cNvGraphicFramePr>
          <p:nvPr>
            <p:extLst>
              <p:ext uri="{D42A27DB-BD31-4B8C-83A1-F6EECF244321}">
                <p14:modId xmlns:p14="http://schemas.microsoft.com/office/powerpoint/2010/main" val="4224501705"/>
              </p:ext>
            </p:extLst>
          </p:nvPr>
        </p:nvGraphicFramePr>
        <p:xfrm>
          <a:off x="531495" y="1569642"/>
          <a:ext cx="13727430" cy="7342027"/>
        </p:xfrm>
        <a:graphic>
          <a:graphicData uri="http://schemas.openxmlformats.org/drawingml/2006/table">
            <a:tbl>
              <a:tblPr firstRow="1" bandRow="1">
                <a:tableStyleId>{5C22544A-7EE6-4342-B048-85BDC9FD1C3A}</a:tableStyleId>
              </a:tblPr>
              <a:tblGrid>
                <a:gridCol w="2027509">
                  <a:extLst>
                    <a:ext uri="{9D8B030D-6E8A-4147-A177-3AD203B41FA5}">
                      <a16:colId xmlns:a16="http://schemas.microsoft.com/office/drawing/2014/main" val="2291198226"/>
                    </a:ext>
                  </a:extLst>
                </a:gridCol>
                <a:gridCol w="5223818">
                  <a:extLst>
                    <a:ext uri="{9D8B030D-6E8A-4147-A177-3AD203B41FA5}">
                      <a16:colId xmlns:a16="http://schemas.microsoft.com/office/drawing/2014/main" val="4240374439"/>
                    </a:ext>
                  </a:extLst>
                </a:gridCol>
                <a:gridCol w="6476103">
                  <a:extLst>
                    <a:ext uri="{9D8B030D-6E8A-4147-A177-3AD203B41FA5}">
                      <a16:colId xmlns:a16="http://schemas.microsoft.com/office/drawing/2014/main" val="1336089915"/>
                    </a:ext>
                  </a:extLst>
                </a:gridCol>
              </a:tblGrid>
              <a:tr h="403403">
                <a:tc>
                  <a:txBody>
                    <a:bodyPr/>
                    <a:lstStyle/>
                    <a:p>
                      <a:pPr marL="0" algn="l" defTabSz="1371600" rtl="0" eaLnBrk="1" latinLnBrk="0" hangingPunct="1">
                        <a:buNone/>
                      </a:pPr>
                      <a:r>
                        <a:rPr lang="en-MY" sz="2700" b="1" kern="1200" dirty="0">
                          <a:solidFill>
                            <a:schemeClr val="lt1"/>
                          </a:solidFill>
                        </a:rPr>
                        <a:t>Step</a:t>
                      </a:r>
                      <a:endParaRPr lang="en-MY" sz="2700" b="1" kern="1200" dirty="0">
                        <a:solidFill>
                          <a:schemeClr val="lt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1" kern="1200">
                          <a:solidFill>
                            <a:schemeClr val="lt1"/>
                          </a:solidFill>
                        </a:rPr>
                        <a:t>File</a:t>
                      </a:r>
                      <a:endParaRPr lang="en-MY" sz="2700" b="1" kern="1200">
                        <a:solidFill>
                          <a:schemeClr val="lt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1" kern="1200" dirty="0">
                          <a:solidFill>
                            <a:schemeClr val="lt1"/>
                          </a:solidFill>
                        </a:rPr>
                        <a:t>Why this comes now</a:t>
                      </a:r>
                      <a:endParaRPr lang="en-MY" sz="2700" b="1" kern="1200" dirty="0">
                        <a:solidFill>
                          <a:schemeClr val="lt1"/>
                        </a:solidFill>
                        <a:latin typeface="+mn-lt"/>
                        <a:ea typeface="+mn-ea"/>
                        <a:cs typeface="+mn-cs"/>
                      </a:endParaRPr>
                    </a:p>
                  </a:txBody>
                  <a:tcPr marL="73346" marR="73346" marT="36673" marB="36673" anchor="ctr"/>
                </a:tc>
                <a:extLst>
                  <a:ext uri="{0D108BD9-81ED-4DB2-BD59-A6C34878D82A}">
                    <a16:rowId xmlns:a16="http://schemas.microsoft.com/office/drawing/2014/main" val="547271397"/>
                  </a:ext>
                </a:extLst>
              </a:tr>
              <a:tr h="733461">
                <a:tc>
                  <a:txBody>
                    <a:bodyPr/>
                    <a:lstStyle/>
                    <a:p>
                      <a:pPr marL="0" algn="l" defTabSz="1371600" rtl="0" eaLnBrk="1" latinLnBrk="0" hangingPunct="1">
                        <a:buNone/>
                      </a:pPr>
                      <a:r>
                        <a:rPr lang="en-MY" sz="2700" b="0" kern="1200" dirty="0">
                          <a:solidFill>
                            <a:schemeClr val="tx1"/>
                          </a:solidFill>
                        </a:rPr>
                        <a:t>1</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a:solidFill>
                            <a:schemeClr val="tx1"/>
                          </a:solidFill>
                        </a:rPr>
                        <a:t>Folder structure</a:t>
                      </a:r>
                      <a:endParaRPr lang="en-MY" sz="2700" b="0" kern="120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a:solidFill>
                            <a:schemeClr val="tx1"/>
                          </a:solidFill>
                        </a:rPr>
                        <a:t>Nothing works without a place to live</a:t>
                      </a:r>
                      <a:endParaRPr lang="en-MY" sz="2700" b="0" kern="120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1573779462"/>
                  </a:ext>
                </a:extLst>
              </a:tr>
              <a:tr h="733461">
                <a:tc>
                  <a:txBody>
                    <a:bodyPr/>
                    <a:lstStyle/>
                    <a:p>
                      <a:pPr marL="0" algn="l" defTabSz="1371600" rtl="0" eaLnBrk="1" latinLnBrk="0" hangingPunct="1">
                        <a:buNone/>
                      </a:pPr>
                      <a:r>
                        <a:rPr lang="en-MY" sz="2700" b="0" kern="1200" dirty="0">
                          <a:solidFill>
                            <a:schemeClr val="tx1"/>
                          </a:solidFill>
                        </a:rPr>
                        <a:t>2</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utils/core.py</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The algorithms are generic, they don't need real data yet</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455553129"/>
                  </a:ext>
                </a:extLst>
              </a:tr>
              <a:tr h="1063518">
                <a:tc>
                  <a:txBody>
                    <a:bodyPr/>
                    <a:lstStyle/>
                    <a:p>
                      <a:pPr marL="0" algn="l" defTabSz="1371600" rtl="0" eaLnBrk="1" latinLnBrk="0" hangingPunct="1">
                        <a:buNone/>
                      </a:pPr>
                      <a:r>
                        <a:rPr lang="en-MY" sz="2700" b="0" kern="1200" dirty="0">
                          <a:solidFill>
                            <a:schemeClr val="tx1"/>
                          </a:solidFill>
                        </a:rPr>
                        <a:t>3</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utils/test_search.py</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Prove the algorithms are correct on tiny graphs before trusting them on messy real data</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2930221905"/>
                  </a:ext>
                </a:extLst>
              </a:tr>
              <a:tr h="1063518">
                <a:tc>
                  <a:txBody>
                    <a:bodyPr/>
                    <a:lstStyle/>
                    <a:p>
                      <a:pPr marL="0" algn="l" defTabSz="1371600" rtl="0" eaLnBrk="1" latinLnBrk="0" hangingPunct="1">
                        <a:buNone/>
                      </a:pPr>
                      <a:r>
                        <a:rPr lang="en-MY" sz="2700" b="0" kern="1200">
                          <a:solidFill>
                            <a:schemeClr val="tx1"/>
                          </a:solidFill>
                        </a:rPr>
                        <a:t>4</a:t>
                      </a:r>
                      <a:endParaRPr lang="en-MY" sz="2700" b="0" kern="120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utils/openflights.py</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Now bring in the real dataset, shaped exactly the way core.py expects</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1289550815"/>
                  </a:ext>
                </a:extLst>
              </a:tr>
              <a:tr h="733461">
                <a:tc>
                  <a:txBody>
                    <a:bodyPr/>
                    <a:lstStyle/>
                    <a:p>
                      <a:pPr marL="0" algn="l" defTabSz="1371600" rtl="0" eaLnBrk="1" latinLnBrk="0" hangingPunct="1">
                        <a:buNone/>
                      </a:pPr>
                      <a:r>
                        <a:rPr lang="en-MY" sz="2700" b="0" kern="1200">
                          <a:solidFill>
                            <a:schemeClr val="tx1"/>
                          </a:solidFill>
                        </a:rPr>
                        <a:t>5</a:t>
                      </a:r>
                      <a:endParaRPr lang="en-MY" sz="2700" b="0" kern="120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utils/plotting.py</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Once you have real routes, you need a way to show them</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1437653465"/>
                  </a:ext>
                </a:extLst>
              </a:tr>
              <a:tr h="733461">
                <a:tc>
                  <a:txBody>
                    <a:bodyPr/>
                    <a:lstStyle/>
                    <a:p>
                      <a:pPr marL="0" algn="l" defTabSz="1371600" rtl="0" eaLnBrk="1" latinLnBrk="0" hangingPunct="1">
                        <a:buNone/>
                      </a:pPr>
                      <a:r>
                        <a:rPr lang="en-MY" sz="2700" b="0" kern="1200">
                          <a:solidFill>
                            <a:schemeClr val="tx1"/>
                          </a:solidFill>
                        </a:rPr>
                        <a:t>6</a:t>
                      </a:r>
                      <a:endParaRPr lang="en-MY" sz="2700" b="0" kern="120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utils/__init__.py</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Tie all four pieces together into one clean import</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1408022029"/>
                  </a:ext>
                </a:extLst>
              </a:tr>
              <a:tr h="1063518">
                <a:tc>
                  <a:txBody>
                    <a:bodyPr/>
                    <a:lstStyle/>
                    <a:p>
                      <a:pPr marL="0" algn="l" defTabSz="1371600" rtl="0" eaLnBrk="1" latinLnBrk="0" hangingPunct="1">
                        <a:buNone/>
                      </a:pPr>
                      <a:r>
                        <a:rPr lang="en-MY" sz="2700" b="0" kern="1200" dirty="0">
                          <a:solidFill>
                            <a:schemeClr val="tx1"/>
                          </a:solidFill>
                        </a:rPr>
                        <a:t>7</a:t>
                      </a:r>
                      <a:endParaRPr lang="en-MY" sz="2700" b="0" kern="1200" dirty="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a:solidFill>
                            <a:schemeClr val="tx1"/>
                          </a:solidFill>
                        </a:rPr>
                        <a:t>lab01_search_foundations.py</a:t>
                      </a:r>
                      <a:endParaRPr lang="en-MY" sz="2700" b="0" kern="1200">
                        <a:solidFill>
                          <a:schemeClr val="tx1"/>
                        </a:solidFill>
                        <a:latin typeface="+mn-lt"/>
                        <a:ea typeface="+mn-ea"/>
                        <a:cs typeface="+mn-cs"/>
                      </a:endParaRPr>
                    </a:p>
                  </a:txBody>
                  <a:tcPr marL="73346" marR="73346" marT="36673" marB="36673" anchor="ctr"/>
                </a:tc>
                <a:tc>
                  <a:txBody>
                    <a:bodyPr/>
                    <a:lstStyle/>
                    <a:p>
                      <a:pPr marL="0" algn="l" defTabSz="1371600" rtl="0" eaLnBrk="1" latinLnBrk="0" hangingPunct="1">
                        <a:buNone/>
                      </a:pPr>
                      <a:r>
                        <a:rPr lang="en-MY" sz="2700" b="0" kern="1200" dirty="0">
                          <a:solidFill>
                            <a:schemeClr val="tx1"/>
                          </a:solidFill>
                        </a:rPr>
                        <a:t>The actual assignment - now that every tool exists, write the script that uses them</a:t>
                      </a:r>
                      <a:endParaRPr lang="en-MY" sz="2700" b="0" kern="1200" dirty="0">
                        <a:solidFill>
                          <a:schemeClr val="tx1"/>
                        </a:solidFill>
                        <a:latin typeface="+mn-lt"/>
                        <a:ea typeface="+mn-ea"/>
                        <a:cs typeface="+mn-cs"/>
                      </a:endParaRPr>
                    </a:p>
                  </a:txBody>
                  <a:tcPr marL="73346" marR="73346" marT="36673" marB="36673" anchor="ctr"/>
                </a:tc>
                <a:extLst>
                  <a:ext uri="{0D108BD9-81ED-4DB2-BD59-A6C34878D82A}">
                    <a16:rowId xmlns:a16="http://schemas.microsoft.com/office/drawing/2014/main" val="2953440541"/>
                  </a:ext>
                </a:extLst>
              </a:tr>
            </a:tbl>
          </a:graphicData>
        </a:graphic>
      </p:graphicFrame>
      <p:sp>
        <p:nvSpPr>
          <p:cNvPr id="25" name="TextBox 24">
            <a:extLst>
              <a:ext uri="{FF2B5EF4-FFF2-40B4-BE49-F238E27FC236}">
                <a16:creationId xmlns:a16="http://schemas.microsoft.com/office/drawing/2014/main" id="{D725BD36-B0B8-C077-A8D4-FA85BADD9C02}"/>
              </a:ext>
            </a:extLst>
          </p:cNvPr>
          <p:cNvSpPr txBox="1"/>
          <p:nvPr/>
        </p:nvSpPr>
        <p:spPr>
          <a:xfrm>
            <a:off x="14607539" y="2544882"/>
            <a:ext cx="3034665" cy="1938992"/>
          </a:xfrm>
          <a:prstGeom prst="rect">
            <a:avLst/>
          </a:prstGeom>
          <a:noFill/>
        </p:spPr>
        <p:txBody>
          <a:bodyPr wrap="square">
            <a:spAutoFit/>
          </a:bodyPr>
          <a:lstStyle/>
          <a:p>
            <a:r>
              <a:rPr lang="en-MY" sz="2400" dirty="0">
                <a:latin typeface="+mj-lt"/>
              </a:rPr>
              <a:t>AI/ </a:t>
            </a:r>
          </a:p>
          <a:p>
            <a:r>
              <a:rPr lang="en-MY" sz="2400" dirty="0">
                <a:latin typeface="+mj-lt"/>
              </a:rPr>
              <a:t>├── </a:t>
            </a:r>
            <a:r>
              <a:rPr lang="en-MY" sz="2400" dirty="0" err="1">
                <a:latin typeface="+mj-lt"/>
              </a:rPr>
              <a:t>all_datasets</a:t>
            </a:r>
            <a:r>
              <a:rPr lang="en-MY" sz="2400" dirty="0">
                <a:latin typeface="+mj-lt"/>
              </a:rPr>
              <a:t>/</a:t>
            </a:r>
          </a:p>
          <a:p>
            <a:r>
              <a:rPr lang="en-MY" sz="2400" dirty="0">
                <a:latin typeface="+mj-lt"/>
              </a:rPr>
              <a:t>├── </a:t>
            </a:r>
            <a:r>
              <a:rPr lang="en-MY" sz="2400" dirty="0" err="1">
                <a:latin typeface="+mj-lt"/>
              </a:rPr>
              <a:t>all_experiments</a:t>
            </a:r>
            <a:r>
              <a:rPr lang="en-MY" sz="2400" dirty="0">
                <a:latin typeface="+mj-lt"/>
              </a:rPr>
              <a:t>/</a:t>
            </a:r>
          </a:p>
          <a:p>
            <a:r>
              <a:rPr lang="en-MY" sz="2400" dirty="0">
                <a:latin typeface="+mj-lt"/>
              </a:rPr>
              <a:t> │       └── utils/ </a:t>
            </a:r>
          </a:p>
          <a:p>
            <a:r>
              <a:rPr lang="en-MY" sz="2400" dirty="0">
                <a:latin typeface="+mj-lt"/>
              </a:rPr>
              <a:t> └── results/</a:t>
            </a:r>
          </a:p>
        </p:txBody>
      </p:sp>
      <p:sp>
        <p:nvSpPr>
          <p:cNvPr id="27" name="TextBox 26">
            <a:extLst>
              <a:ext uri="{FF2B5EF4-FFF2-40B4-BE49-F238E27FC236}">
                <a16:creationId xmlns:a16="http://schemas.microsoft.com/office/drawing/2014/main" id="{D5308C57-97DE-0EF8-A2A3-473A40D11A68}"/>
              </a:ext>
            </a:extLst>
          </p:cNvPr>
          <p:cNvSpPr txBox="1"/>
          <p:nvPr/>
        </p:nvSpPr>
        <p:spPr>
          <a:xfrm>
            <a:off x="14721840" y="5143500"/>
            <a:ext cx="3034665" cy="3108543"/>
          </a:xfrm>
          <a:prstGeom prst="rect">
            <a:avLst/>
          </a:prstGeom>
          <a:noFill/>
        </p:spPr>
        <p:txBody>
          <a:bodyPr wrap="square">
            <a:spAutoFit/>
          </a:bodyPr>
          <a:lstStyle/>
          <a:p>
            <a:r>
              <a:rPr lang="en-MY" sz="2800" i="1" dirty="0">
                <a:latin typeface="+mn-lt"/>
              </a:rPr>
              <a:t>utils/</a:t>
            </a:r>
            <a:r>
              <a:rPr lang="en-MY" sz="2800" i="1" dirty="0"/>
              <a:t> </a:t>
            </a:r>
            <a:r>
              <a:rPr lang="en-MY" sz="2800" dirty="0"/>
              <a:t>lives </a:t>
            </a:r>
            <a:r>
              <a:rPr lang="en-MY" sz="2800" i="1" dirty="0"/>
              <a:t>inside</a:t>
            </a:r>
            <a:r>
              <a:rPr lang="en-MY" sz="2800" dirty="0"/>
              <a:t> </a:t>
            </a:r>
            <a:r>
              <a:rPr lang="en-MY" sz="2800" i="1" dirty="0" err="1">
                <a:latin typeface="+mn-lt"/>
              </a:rPr>
              <a:t>all_experiments</a:t>
            </a:r>
            <a:r>
              <a:rPr lang="en-MY" sz="2800" i="1" dirty="0">
                <a:latin typeface="+mn-lt"/>
              </a:rPr>
              <a:t>/</a:t>
            </a:r>
            <a:r>
              <a:rPr lang="en-MY" sz="2800" i="1" dirty="0"/>
              <a:t>, </a:t>
            </a:r>
            <a:r>
              <a:rPr lang="en-MY" sz="2800" dirty="0"/>
              <a:t>because that's where the notebook/script that uses it will run from.</a:t>
            </a:r>
          </a:p>
        </p:txBody>
      </p:sp>
      <p:sp>
        <p:nvSpPr>
          <p:cNvPr id="28" name="TextBox 27">
            <a:extLst>
              <a:ext uri="{FF2B5EF4-FFF2-40B4-BE49-F238E27FC236}">
                <a16:creationId xmlns:a16="http://schemas.microsoft.com/office/drawing/2014/main" id="{C71074B1-0A98-D922-98E3-3F73D4F64679}"/>
              </a:ext>
            </a:extLst>
          </p:cNvPr>
          <p:cNvSpPr txBox="1"/>
          <p:nvPr/>
        </p:nvSpPr>
        <p:spPr>
          <a:xfrm>
            <a:off x="14607539" y="1722617"/>
            <a:ext cx="2889124" cy="584775"/>
          </a:xfrm>
          <a:prstGeom prst="rect">
            <a:avLst/>
          </a:prstGeom>
          <a:noFill/>
        </p:spPr>
        <p:txBody>
          <a:bodyPr wrap="none" rtlCol="0">
            <a:spAutoFit/>
          </a:bodyPr>
          <a:lstStyle/>
          <a:p>
            <a:r>
              <a:rPr lang="en-US" sz="3200" u="sng" dirty="0"/>
              <a:t>Folder Structure</a:t>
            </a:r>
            <a:endParaRPr lang="en-MY" sz="3200" u="sng" dirty="0"/>
          </a:p>
        </p:txBody>
      </p:sp>
    </p:spTree>
    <p:extLst>
      <p:ext uri="{BB962C8B-B14F-4D97-AF65-F5344CB8AC3E}">
        <p14:creationId xmlns:p14="http://schemas.microsoft.com/office/powerpoint/2010/main" val="1602589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24DA1-38CC-120C-A1A9-276BF76322C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F2FC142-C6A3-8C76-C7A4-715CF103E6B0}"/>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1E08987D-0983-325D-71EE-C0F8C46E8817}"/>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7A6444BE-4DB9-294F-0CF0-8F1BCD5B9594}"/>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AutoShape 2">
            <a:extLst>
              <a:ext uri="{FF2B5EF4-FFF2-40B4-BE49-F238E27FC236}">
                <a16:creationId xmlns:a16="http://schemas.microsoft.com/office/drawing/2014/main" id="{CFD4AB36-5BFA-2B55-0B20-6F911D29E0C5}"/>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AB717936-76A4-67ED-6F7F-52C61E7FBEB4}"/>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07573D10-2109-D8BB-AC5B-7D1A7A76BF1C}"/>
              </a:ext>
            </a:extLst>
          </p:cNvPr>
          <p:cNvSpPr txBox="1"/>
          <p:nvPr/>
        </p:nvSpPr>
        <p:spPr>
          <a:xfrm>
            <a:off x="990601" y="319041"/>
            <a:ext cx="9227819" cy="615553"/>
          </a:xfrm>
          <a:prstGeom prst="rect">
            <a:avLst/>
          </a:prstGeom>
        </p:spPr>
        <p:txBody>
          <a:bodyPr wrap="square" lIns="0" tIns="0" rIns="0" bIns="0" rtlCol="0" anchor="t">
            <a:spAutoFit/>
          </a:bodyPr>
          <a:lstStyle/>
          <a:p>
            <a:pPr>
              <a:lnSpc>
                <a:spcPct val="100000"/>
              </a:lnSpc>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Why Having separate folder utils?</a:t>
            </a:r>
          </a:p>
        </p:txBody>
      </p:sp>
      <p:graphicFrame>
        <p:nvGraphicFramePr>
          <p:cNvPr id="13" name="Table 12">
            <a:extLst>
              <a:ext uri="{FF2B5EF4-FFF2-40B4-BE49-F238E27FC236}">
                <a16:creationId xmlns:a16="http://schemas.microsoft.com/office/drawing/2014/main" id="{3FC2F1F3-9C78-D468-C044-174AFEB3DF58}"/>
              </a:ext>
            </a:extLst>
          </p:cNvPr>
          <p:cNvGraphicFramePr>
            <a:graphicFrameLocks noGrp="1"/>
          </p:cNvGraphicFramePr>
          <p:nvPr>
            <p:extLst>
              <p:ext uri="{D42A27DB-BD31-4B8C-83A1-F6EECF244321}">
                <p14:modId xmlns:p14="http://schemas.microsoft.com/office/powerpoint/2010/main" val="1793310971"/>
              </p:ext>
            </p:extLst>
          </p:nvPr>
        </p:nvGraphicFramePr>
        <p:xfrm>
          <a:off x="1165860" y="3443478"/>
          <a:ext cx="15773400" cy="3337560"/>
        </p:xfrm>
        <a:graphic>
          <a:graphicData uri="http://schemas.openxmlformats.org/drawingml/2006/table">
            <a:tbl>
              <a:tblPr firstRow="1" bandRow="1">
                <a:tableStyleId>{5C22544A-7EE6-4342-B048-85BDC9FD1C3A}</a:tableStyleId>
              </a:tblPr>
              <a:tblGrid>
                <a:gridCol w="7886700">
                  <a:extLst>
                    <a:ext uri="{9D8B030D-6E8A-4147-A177-3AD203B41FA5}">
                      <a16:colId xmlns:a16="http://schemas.microsoft.com/office/drawing/2014/main" val="2181200685"/>
                    </a:ext>
                  </a:extLst>
                </a:gridCol>
                <a:gridCol w="7886700">
                  <a:extLst>
                    <a:ext uri="{9D8B030D-6E8A-4147-A177-3AD203B41FA5}">
                      <a16:colId xmlns:a16="http://schemas.microsoft.com/office/drawing/2014/main" val="1047944690"/>
                    </a:ext>
                  </a:extLst>
                </a:gridCol>
              </a:tblGrid>
              <a:tr h="0">
                <a:tc>
                  <a:txBody>
                    <a:bodyPr/>
                    <a:lstStyle/>
                    <a:p>
                      <a:pPr>
                        <a:buNone/>
                      </a:pPr>
                      <a:r>
                        <a:rPr lang="en-MY" dirty="0"/>
                        <a:t>If it were all in one file</a:t>
                      </a:r>
                    </a:p>
                  </a:txBody>
                  <a:tcPr anchor="ctr"/>
                </a:tc>
                <a:tc>
                  <a:txBody>
                    <a:bodyPr/>
                    <a:lstStyle/>
                    <a:p>
                      <a:pPr>
                        <a:buNone/>
                      </a:pPr>
                      <a:r>
                        <a:rPr lang="en-MY"/>
                        <a:t>If it's in a separate utils/ folder</a:t>
                      </a:r>
                    </a:p>
                  </a:txBody>
                  <a:tcPr anchor="ctr"/>
                </a:tc>
                <a:extLst>
                  <a:ext uri="{0D108BD9-81ED-4DB2-BD59-A6C34878D82A}">
                    <a16:rowId xmlns:a16="http://schemas.microsoft.com/office/drawing/2014/main" val="4257108464"/>
                  </a:ext>
                </a:extLst>
              </a:tr>
              <a:tr h="0">
                <a:tc>
                  <a:txBody>
                    <a:bodyPr/>
                    <a:lstStyle/>
                    <a:p>
                      <a:pPr>
                        <a:buNone/>
                      </a:pPr>
                      <a:r>
                        <a:rPr lang="en-MY" dirty="0"/>
                        <a:t>Copy-pasted into Labs 1, 2, and 3, bugs fixed 3 times</a:t>
                      </a:r>
                    </a:p>
                  </a:txBody>
                  <a:tcPr anchor="ctr"/>
                </a:tc>
                <a:tc>
                  <a:txBody>
                    <a:bodyPr/>
                    <a:lstStyle/>
                    <a:p>
                      <a:pPr>
                        <a:buNone/>
                      </a:pPr>
                      <a:r>
                        <a:rPr lang="en-MY"/>
                        <a:t>Written once, imported everywhere</a:t>
                      </a:r>
                    </a:p>
                  </a:txBody>
                  <a:tcPr anchor="ctr"/>
                </a:tc>
                <a:extLst>
                  <a:ext uri="{0D108BD9-81ED-4DB2-BD59-A6C34878D82A}">
                    <a16:rowId xmlns:a16="http://schemas.microsoft.com/office/drawing/2014/main" val="2605871446"/>
                  </a:ext>
                </a:extLst>
              </a:tr>
              <a:tr h="0">
                <a:tc>
                  <a:txBody>
                    <a:bodyPr/>
                    <a:lstStyle/>
                    <a:p>
                      <a:pPr>
                        <a:buNone/>
                      </a:pPr>
                      <a:r>
                        <a:rPr lang="en-MY" dirty="0"/>
                        <a:t>Lab file mixes "the answer" with "the machinery"</a:t>
                      </a:r>
                    </a:p>
                  </a:txBody>
                  <a:tcPr anchor="ctr"/>
                </a:tc>
                <a:tc>
                  <a:txBody>
                    <a:bodyPr/>
                    <a:lstStyle/>
                    <a:p>
                      <a:pPr>
                        <a:buNone/>
                      </a:pPr>
                      <a:r>
                        <a:rPr lang="en-MY" dirty="0"/>
                        <a:t>Lab file only shows the actual analysis; readable</a:t>
                      </a:r>
                    </a:p>
                  </a:txBody>
                  <a:tcPr anchor="ctr"/>
                </a:tc>
                <a:extLst>
                  <a:ext uri="{0D108BD9-81ED-4DB2-BD59-A6C34878D82A}">
                    <a16:rowId xmlns:a16="http://schemas.microsoft.com/office/drawing/2014/main" val="82708647"/>
                  </a:ext>
                </a:extLst>
              </a:tr>
              <a:tr h="0">
                <a:tc>
                  <a:txBody>
                    <a:bodyPr/>
                    <a:lstStyle/>
                    <a:p>
                      <a:pPr>
                        <a:buNone/>
                      </a:pPr>
                      <a:r>
                        <a:rPr lang="en-MY"/>
                        <a:t>Can't test the algorithms separately from the data</a:t>
                      </a:r>
                    </a:p>
                  </a:txBody>
                  <a:tcPr anchor="ctr"/>
                </a:tc>
                <a:tc>
                  <a:txBody>
                    <a:bodyPr/>
                    <a:lstStyle/>
                    <a:p>
                      <a:pPr>
                        <a:buNone/>
                      </a:pPr>
                      <a:r>
                        <a:rPr lang="en-MY" i="1" dirty="0"/>
                        <a:t>test_search.py </a:t>
                      </a:r>
                      <a:r>
                        <a:rPr lang="en-MY" dirty="0"/>
                        <a:t>checks the algorithms on tiny made-up graphs first</a:t>
                      </a:r>
                    </a:p>
                  </a:txBody>
                  <a:tcPr anchor="ctr"/>
                </a:tc>
                <a:extLst>
                  <a:ext uri="{0D108BD9-81ED-4DB2-BD59-A6C34878D82A}">
                    <a16:rowId xmlns:a16="http://schemas.microsoft.com/office/drawing/2014/main" val="3413857469"/>
                  </a:ext>
                </a:extLst>
              </a:tr>
              <a:tr h="0">
                <a:tc>
                  <a:txBody>
                    <a:bodyPr/>
                    <a:lstStyle/>
                    <a:p>
                      <a:pPr>
                        <a:buNone/>
                      </a:pPr>
                      <a:r>
                        <a:rPr lang="en-MY"/>
                        <a:t>Reordering/renaming breaks every lab that copied it</a:t>
                      </a:r>
                    </a:p>
                  </a:txBody>
                  <a:tcPr anchor="ctr"/>
                </a:tc>
                <a:tc>
                  <a:txBody>
                    <a:bodyPr/>
                    <a:lstStyle/>
                    <a:p>
                      <a:pPr>
                        <a:buNone/>
                      </a:pPr>
                      <a:r>
                        <a:rPr lang="en-MY" dirty="0"/>
                        <a:t>Change it once in </a:t>
                      </a:r>
                      <a:r>
                        <a:rPr lang="en-MY" i="1" dirty="0"/>
                        <a:t>utils/</a:t>
                      </a:r>
                      <a:r>
                        <a:rPr lang="en-MY" dirty="0"/>
                        <a:t>, every lab picks it up automatically</a:t>
                      </a:r>
                    </a:p>
                  </a:txBody>
                  <a:tcPr anchor="ctr"/>
                </a:tc>
                <a:extLst>
                  <a:ext uri="{0D108BD9-81ED-4DB2-BD59-A6C34878D82A}">
                    <a16:rowId xmlns:a16="http://schemas.microsoft.com/office/drawing/2014/main" val="175879043"/>
                  </a:ext>
                </a:extLst>
              </a:tr>
            </a:tbl>
          </a:graphicData>
        </a:graphic>
      </p:graphicFrame>
      <p:sp>
        <p:nvSpPr>
          <p:cNvPr id="15" name="TextBox 14">
            <a:extLst>
              <a:ext uri="{FF2B5EF4-FFF2-40B4-BE49-F238E27FC236}">
                <a16:creationId xmlns:a16="http://schemas.microsoft.com/office/drawing/2014/main" id="{FD66BF48-DB11-DAC3-0F79-4B56F20AD146}"/>
              </a:ext>
            </a:extLst>
          </p:cNvPr>
          <p:cNvSpPr txBox="1"/>
          <p:nvPr/>
        </p:nvSpPr>
        <p:spPr>
          <a:xfrm>
            <a:off x="990601" y="1528494"/>
            <a:ext cx="16540952" cy="1569660"/>
          </a:xfrm>
          <a:prstGeom prst="rect">
            <a:avLst/>
          </a:prstGeom>
          <a:noFill/>
        </p:spPr>
        <p:txBody>
          <a:bodyPr wrap="square">
            <a:spAutoFit/>
          </a:bodyPr>
          <a:lstStyle/>
          <a:p>
            <a:r>
              <a:rPr lang="en-MY" sz="3200" b="1" dirty="0"/>
              <a:t>Why is it in a separate folder instead of jammed into the main lab file?</a:t>
            </a:r>
            <a:r>
              <a:rPr lang="en-MY" sz="3200" dirty="0"/>
              <a:t> This is just standard practice for organizing code, same as how you don't write </a:t>
            </a:r>
            <a:r>
              <a:rPr lang="en-MY" sz="3200" i="1" dirty="0"/>
              <a:t>pandas</a:t>
            </a:r>
            <a:r>
              <a:rPr lang="en-MY" sz="3200" dirty="0"/>
              <a:t> or </a:t>
            </a:r>
            <a:r>
              <a:rPr lang="en-MY" sz="3200" i="1" dirty="0" err="1"/>
              <a:t>numpy</a:t>
            </a:r>
            <a:r>
              <a:rPr lang="en-MY" sz="3200" dirty="0"/>
              <a:t> yourself; you just import and use them:</a:t>
            </a:r>
          </a:p>
        </p:txBody>
      </p:sp>
      <p:sp>
        <p:nvSpPr>
          <p:cNvPr id="20" name="TextBox 19">
            <a:extLst>
              <a:ext uri="{FF2B5EF4-FFF2-40B4-BE49-F238E27FC236}">
                <a16:creationId xmlns:a16="http://schemas.microsoft.com/office/drawing/2014/main" id="{09F13DE0-35E6-FC01-0C3C-6BB17CDC77E6}"/>
              </a:ext>
            </a:extLst>
          </p:cNvPr>
          <p:cNvSpPr txBox="1"/>
          <p:nvPr/>
        </p:nvSpPr>
        <p:spPr>
          <a:xfrm>
            <a:off x="1055370" y="7283139"/>
            <a:ext cx="15773400" cy="1569660"/>
          </a:xfrm>
          <a:prstGeom prst="rect">
            <a:avLst/>
          </a:prstGeom>
          <a:noFill/>
        </p:spPr>
        <p:txBody>
          <a:bodyPr wrap="square">
            <a:spAutoFit/>
          </a:bodyPr>
          <a:lstStyle/>
          <a:p>
            <a:pPr rtl="0">
              <a:buNone/>
            </a:pPr>
            <a:r>
              <a:rPr lang="en-MY" sz="3200" dirty="0">
                <a:effectLst/>
              </a:rPr>
              <a:t>Think of it like a kitchen: </a:t>
            </a:r>
            <a:r>
              <a:rPr lang="en-MY" sz="3200" i="1" dirty="0">
                <a:effectLst/>
                <a:latin typeface="+mn-lt"/>
              </a:rPr>
              <a:t>utils/</a:t>
            </a:r>
            <a:r>
              <a:rPr lang="en-MY" sz="3200" dirty="0">
                <a:effectLst/>
              </a:rPr>
              <a:t> is the set of knives and pots (tools you use), and each </a:t>
            </a:r>
            <a:r>
              <a:rPr lang="en-MY" sz="3200" i="1" dirty="0" err="1">
                <a:effectLst/>
                <a:latin typeface="+mn-lt"/>
              </a:rPr>
              <a:t>labXX</a:t>
            </a:r>
            <a:r>
              <a:rPr lang="en-MY" sz="3200" i="1" dirty="0">
                <a:effectLst/>
                <a:latin typeface="+mn-lt"/>
              </a:rPr>
              <a:t>_*.</a:t>
            </a:r>
            <a:r>
              <a:rPr lang="en-MY" sz="3200" i="1" dirty="0" err="1">
                <a:effectLst/>
                <a:latin typeface="+mn-lt"/>
              </a:rPr>
              <a:t>py</a:t>
            </a:r>
            <a:r>
              <a:rPr lang="en-MY" sz="3200" i="1" dirty="0">
                <a:effectLst/>
              </a:rPr>
              <a:t>/</a:t>
            </a:r>
            <a:r>
              <a:rPr lang="en-MY" sz="3200" i="1" dirty="0">
                <a:effectLst/>
                <a:latin typeface="+mn-lt"/>
              </a:rPr>
              <a:t>.</a:t>
            </a:r>
            <a:r>
              <a:rPr lang="en-MY" sz="3200" i="1" dirty="0" err="1">
                <a:effectLst/>
                <a:latin typeface="+mn-lt"/>
              </a:rPr>
              <a:t>ipynb</a:t>
            </a:r>
            <a:r>
              <a:rPr lang="en-MY" sz="3200" i="1" dirty="0">
                <a:effectLst/>
              </a:rPr>
              <a:t> </a:t>
            </a:r>
            <a:r>
              <a:rPr lang="en-MY" sz="3200" dirty="0">
                <a:effectLst/>
              </a:rPr>
              <a:t>file is the actual recipe (what you do with those tools). You don't rebuild your knives every time you cook, you just use them.</a:t>
            </a:r>
          </a:p>
        </p:txBody>
      </p:sp>
    </p:spTree>
    <p:extLst>
      <p:ext uri="{BB962C8B-B14F-4D97-AF65-F5344CB8AC3E}">
        <p14:creationId xmlns:p14="http://schemas.microsoft.com/office/powerpoint/2010/main" val="467823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0D65C-8B40-E98A-7E72-9DCCD0D1BBA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4FB0DDD-8C4D-31A0-0FD6-1B7FC54B80F7}"/>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54F57B15-D7F0-E76F-B95A-2CCAD80586CB}"/>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ED64931F-9B7B-4D87-AFF7-EF442B38C2CD}"/>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AutoShape 2">
            <a:extLst>
              <a:ext uri="{FF2B5EF4-FFF2-40B4-BE49-F238E27FC236}">
                <a16:creationId xmlns:a16="http://schemas.microsoft.com/office/drawing/2014/main" id="{53AB8E3B-BFBA-700B-BF3A-C50832A6575A}"/>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D21DC400-5EFF-8DD7-63DF-F16A64AD4EBE}"/>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1F7EABFF-5EB8-FA85-6257-C5F609618792}"/>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A58AA611-5BB7-8BBA-5BF9-B6B319BF78DA}"/>
              </a:ext>
            </a:extLst>
          </p:cNvPr>
          <p:cNvSpPr txBox="1"/>
          <p:nvPr/>
        </p:nvSpPr>
        <p:spPr>
          <a:xfrm>
            <a:off x="1080135" y="1927235"/>
            <a:ext cx="16127730" cy="6432530"/>
          </a:xfrm>
          <a:prstGeom prst="rect">
            <a:avLst/>
          </a:prstGeom>
          <a:noFill/>
        </p:spPr>
        <p:txBody>
          <a:bodyPr wrap="square">
            <a:spAutoFit/>
          </a:bodyPr>
          <a:lstStyle/>
          <a:p>
            <a:r>
              <a:rPr lang="en-MY" sz="2800" dirty="0">
                <a:latin typeface="Cascadia Code" panose="020B0609020000020004" pitchFamily="49" charset="0"/>
                <a:cs typeface="Cascadia Code" panose="020B0609020000020004" pitchFamily="49" charset="0"/>
              </a:rPr>
              <a:t>from collections import deque</a:t>
            </a:r>
          </a:p>
          <a:p>
            <a:r>
              <a:rPr lang="en-MY" sz="2400" dirty="0">
                <a:solidFill>
                  <a:schemeClr val="accent2">
                    <a:lumMod val="75000"/>
                  </a:schemeClr>
                </a:solidFill>
              </a:rPr>
              <a:t>deque</a:t>
            </a:r>
            <a:r>
              <a:rPr lang="en-MY" sz="2400" dirty="0"/>
              <a:t> (double-ended queue) is a list-like structure that's fast at adding/removing from </a:t>
            </a:r>
            <a:r>
              <a:rPr lang="en-MY" sz="2400" i="1" dirty="0"/>
              <a:t>both</a:t>
            </a:r>
            <a:r>
              <a:rPr lang="en-MY" sz="2400" dirty="0"/>
              <a:t> ends — perfect for BFS's "add to the back, take from the front" </a:t>
            </a:r>
            <a:r>
              <a:rPr lang="en-MY" sz="2400" dirty="0" err="1"/>
              <a:t>behavior</a:t>
            </a:r>
            <a:r>
              <a:rPr lang="en-MY" sz="2400" dirty="0"/>
              <a:t>.</a:t>
            </a:r>
          </a:p>
          <a:p>
            <a:endParaRPr lang="en-MY" sz="2800" dirty="0"/>
          </a:p>
          <a:p>
            <a:r>
              <a:rPr lang="en-MY" sz="2800" dirty="0">
                <a:latin typeface="Cascadia Code" panose="020B0609020000020004" pitchFamily="49" charset="0"/>
                <a:cs typeface="Cascadia Code" panose="020B0609020000020004" pitchFamily="49" charset="0"/>
              </a:rPr>
              <a:t>from </a:t>
            </a:r>
            <a:r>
              <a:rPr lang="en-MY" sz="2800" dirty="0" err="1">
                <a:latin typeface="Cascadia Code" panose="020B0609020000020004" pitchFamily="49" charset="0"/>
                <a:cs typeface="Cascadia Code" panose="020B0609020000020004" pitchFamily="49" charset="0"/>
              </a:rPr>
              <a:t>dataclasses</a:t>
            </a:r>
            <a:r>
              <a:rPr lang="en-MY" sz="2800" dirty="0">
                <a:latin typeface="Cascadia Code" panose="020B0609020000020004" pitchFamily="49" charset="0"/>
                <a:cs typeface="Cascadia Code" panose="020B0609020000020004" pitchFamily="49" charset="0"/>
              </a:rPr>
              <a:t> import </a:t>
            </a:r>
            <a:r>
              <a:rPr lang="en-MY" sz="2800" dirty="0" err="1">
                <a:latin typeface="Cascadia Code" panose="020B0609020000020004" pitchFamily="49" charset="0"/>
                <a:cs typeface="Cascadia Code" panose="020B0609020000020004" pitchFamily="49" charset="0"/>
              </a:rPr>
              <a:t>asdict</a:t>
            </a:r>
            <a:r>
              <a:rPr lang="en-MY" sz="2800" dirty="0">
                <a:latin typeface="Cascadia Code" panose="020B0609020000020004" pitchFamily="49" charset="0"/>
                <a:cs typeface="Cascadia Code" panose="020B0609020000020004" pitchFamily="49" charset="0"/>
              </a:rPr>
              <a:t>, </a:t>
            </a:r>
            <a:r>
              <a:rPr lang="en-MY" sz="2800" dirty="0" err="1">
                <a:latin typeface="Cascadia Code" panose="020B0609020000020004" pitchFamily="49" charset="0"/>
                <a:cs typeface="Cascadia Code" panose="020B0609020000020004" pitchFamily="49" charset="0"/>
              </a:rPr>
              <a:t>dataclass</a:t>
            </a:r>
            <a:endParaRPr lang="en-MY" sz="2800" dirty="0">
              <a:latin typeface="Cascadia Code" panose="020B0609020000020004" pitchFamily="49" charset="0"/>
              <a:cs typeface="Cascadia Code" panose="020B0609020000020004" pitchFamily="49" charset="0"/>
            </a:endParaRPr>
          </a:p>
          <a:p>
            <a:r>
              <a:rPr lang="en-MY" sz="2400" dirty="0">
                <a:solidFill>
                  <a:schemeClr val="accent2">
                    <a:lumMod val="75000"/>
                  </a:schemeClr>
                </a:solidFill>
              </a:rPr>
              <a:t>@dataclass </a:t>
            </a:r>
            <a:r>
              <a:rPr lang="en-MY" sz="2400" dirty="0"/>
              <a:t>is a shortcut for creating simple "data container" classes without writing boilerplate code. </a:t>
            </a:r>
            <a:r>
              <a:rPr lang="en-MY" sz="2400" dirty="0" err="1"/>
              <a:t>asdict</a:t>
            </a:r>
            <a:r>
              <a:rPr lang="en-MY" sz="2400" dirty="0"/>
              <a:t> converts one of those objects into a plain dictionary.</a:t>
            </a:r>
          </a:p>
          <a:p>
            <a:endParaRPr lang="en-MY" sz="2800" dirty="0"/>
          </a:p>
          <a:p>
            <a:r>
              <a:rPr lang="en-MY" sz="2800" dirty="0">
                <a:latin typeface="Cascadia Code" panose="020B0609020000020004" pitchFamily="49" charset="0"/>
                <a:cs typeface="Cascadia Code" panose="020B0609020000020004" pitchFamily="49" charset="0"/>
              </a:rPr>
              <a:t>from </a:t>
            </a:r>
            <a:r>
              <a:rPr lang="en-MY" sz="2800" dirty="0" err="1">
                <a:latin typeface="Cascadia Code" panose="020B0609020000020004" pitchFamily="49" charset="0"/>
                <a:cs typeface="Cascadia Code" panose="020B0609020000020004" pitchFamily="49" charset="0"/>
              </a:rPr>
              <a:t>heapq</a:t>
            </a:r>
            <a:r>
              <a:rPr lang="en-MY" sz="2800" dirty="0">
                <a:latin typeface="Cascadia Code" panose="020B0609020000020004" pitchFamily="49" charset="0"/>
                <a:cs typeface="Cascadia Code" panose="020B0609020000020004" pitchFamily="49" charset="0"/>
              </a:rPr>
              <a:t> import </a:t>
            </a:r>
            <a:r>
              <a:rPr lang="en-MY" sz="2800" dirty="0" err="1">
                <a:latin typeface="Cascadia Code" panose="020B0609020000020004" pitchFamily="49" charset="0"/>
                <a:cs typeface="Cascadia Code" panose="020B0609020000020004" pitchFamily="49" charset="0"/>
              </a:rPr>
              <a:t>heappop</a:t>
            </a:r>
            <a:r>
              <a:rPr lang="en-MY" sz="2800" dirty="0">
                <a:latin typeface="Cascadia Code" panose="020B0609020000020004" pitchFamily="49" charset="0"/>
                <a:cs typeface="Cascadia Code" panose="020B0609020000020004" pitchFamily="49" charset="0"/>
              </a:rPr>
              <a:t>, </a:t>
            </a:r>
            <a:r>
              <a:rPr lang="en-MY" sz="2800" dirty="0" err="1">
                <a:latin typeface="Cascadia Code" panose="020B0609020000020004" pitchFamily="49" charset="0"/>
                <a:cs typeface="Cascadia Code" panose="020B0609020000020004" pitchFamily="49" charset="0"/>
              </a:rPr>
              <a:t>heappush</a:t>
            </a:r>
            <a:endParaRPr lang="en-MY" sz="2800" dirty="0">
              <a:latin typeface="Cascadia Code" panose="020B0609020000020004" pitchFamily="49" charset="0"/>
              <a:cs typeface="Cascadia Code" panose="020B0609020000020004" pitchFamily="49" charset="0"/>
            </a:endParaRPr>
          </a:p>
          <a:p>
            <a:r>
              <a:rPr lang="en-MY" sz="2400" dirty="0" err="1">
                <a:solidFill>
                  <a:schemeClr val="accent2">
                    <a:lumMod val="75000"/>
                  </a:schemeClr>
                </a:solidFill>
              </a:rPr>
              <a:t>heapq</a:t>
            </a:r>
            <a:r>
              <a:rPr lang="en-MY" sz="2400" dirty="0"/>
              <a:t> implements a </a:t>
            </a:r>
            <a:r>
              <a:rPr lang="en-MY" sz="2400" b="1" dirty="0"/>
              <a:t>min-heap</a:t>
            </a:r>
            <a:r>
              <a:rPr lang="en-MY" sz="2400" dirty="0"/>
              <a:t> - a structure that always gives you the </a:t>
            </a:r>
            <a:r>
              <a:rPr lang="en-MY" sz="2400" i="1" dirty="0"/>
              <a:t>smallest</a:t>
            </a:r>
            <a:r>
              <a:rPr lang="en-MY" sz="2400" dirty="0"/>
              <a:t> item quickly. This is what powers UCS's "always expand the cheapest path so far" rule.</a:t>
            </a:r>
          </a:p>
          <a:p>
            <a:endParaRPr lang="en-MY" sz="2800" dirty="0"/>
          </a:p>
          <a:p>
            <a:r>
              <a:rPr lang="en-MY" sz="2800" dirty="0">
                <a:latin typeface="Cascadia Code" panose="020B0609020000020004" pitchFamily="49" charset="0"/>
                <a:cs typeface="Cascadia Code" panose="020B0609020000020004" pitchFamily="49" charset="0"/>
              </a:rPr>
              <a:t>from math import inf</a:t>
            </a:r>
          </a:p>
          <a:p>
            <a:r>
              <a:rPr lang="en-MY" sz="2800" dirty="0">
                <a:latin typeface="Cascadia Code" panose="020B0609020000020004" pitchFamily="49" charset="0"/>
                <a:cs typeface="Cascadia Code" panose="020B0609020000020004" pitchFamily="49" charset="0"/>
              </a:rPr>
              <a:t>from time import </a:t>
            </a:r>
            <a:r>
              <a:rPr lang="en-MY" sz="2800" dirty="0" err="1">
                <a:latin typeface="Cascadia Code" panose="020B0609020000020004" pitchFamily="49" charset="0"/>
                <a:cs typeface="Cascadia Code" panose="020B0609020000020004" pitchFamily="49" charset="0"/>
              </a:rPr>
              <a:t>perf_counter</a:t>
            </a:r>
            <a:endParaRPr lang="en-MY" sz="2800" dirty="0">
              <a:latin typeface="Cascadia Code" panose="020B0609020000020004" pitchFamily="49" charset="0"/>
              <a:cs typeface="Cascadia Code" panose="020B0609020000020004" pitchFamily="49" charset="0"/>
            </a:endParaRPr>
          </a:p>
          <a:p>
            <a:r>
              <a:rPr lang="en-MY" sz="2400" dirty="0"/>
              <a:t>inf = infinity, used as a placeholder for "not reachable yet." </a:t>
            </a:r>
            <a:r>
              <a:rPr lang="en-MY" sz="2400" dirty="0" err="1"/>
              <a:t>perf_counter</a:t>
            </a:r>
            <a:r>
              <a:rPr lang="en-MY" sz="2400" dirty="0"/>
              <a:t>() is a precise stopwatch, used to measure </a:t>
            </a:r>
            <a:r>
              <a:rPr lang="en-MY" sz="2400" dirty="0" err="1"/>
              <a:t>runtime_ms</a:t>
            </a:r>
            <a:r>
              <a:rPr lang="en-MY" sz="2400" dirty="0"/>
              <a:t>.</a:t>
            </a:r>
          </a:p>
          <a:p>
            <a:endParaRPr lang="en-MY" sz="2000" dirty="0"/>
          </a:p>
        </p:txBody>
      </p:sp>
    </p:spTree>
    <p:extLst>
      <p:ext uri="{BB962C8B-B14F-4D97-AF65-F5344CB8AC3E}">
        <p14:creationId xmlns:p14="http://schemas.microsoft.com/office/powerpoint/2010/main" val="4034628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2002A-CE1A-26DD-95E0-69DD258DAB7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8DC8776-03FA-D8EE-6BF4-9E04848978F4}"/>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F116C58C-B23A-7CC1-9373-E2A780CC06BD}"/>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C446D6DB-FF08-36D6-8D49-BDC96ACC8E27}"/>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6" name="AutoShape 2">
            <a:extLst>
              <a:ext uri="{FF2B5EF4-FFF2-40B4-BE49-F238E27FC236}">
                <a16:creationId xmlns:a16="http://schemas.microsoft.com/office/drawing/2014/main" id="{3279DF07-785F-D922-5269-7566AECB3C7B}"/>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27EBFCCD-2689-3081-B1F7-DAB0B86D947E}"/>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0FE80675-EED3-0090-D7C0-1539A89A10D7}"/>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EFE2E521-DEEE-64F0-9971-BDF84E503F38}"/>
              </a:ext>
            </a:extLst>
          </p:cNvPr>
          <p:cNvSpPr txBox="1"/>
          <p:nvPr/>
        </p:nvSpPr>
        <p:spPr>
          <a:xfrm>
            <a:off x="876028" y="1191387"/>
            <a:ext cx="16535944" cy="8217634"/>
          </a:xfrm>
          <a:prstGeom prst="rect">
            <a:avLst/>
          </a:prstGeom>
          <a:noFill/>
        </p:spPr>
        <p:txBody>
          <a:bodyPr wrap="square">
            <a:spAutoFit/>
          </a:bodyPr>
          <a:lstStyle/>
          <a:p>
            <a:r>
              <a:rPr lang="en-MY" sz="2000" dirty="0">
                <a:latin typeface="Cascadia Code" panose="020B0609020000020004" pitchFamily="49" charset="0"/>
                <a:cs typeface="Cascadia Code" panose="020B0609020000020004" pitchFamily="49" charset="0"/>
              </a:rPr>
              <a:t>@dataclass(frozen=True)</a:t>
            </a:r>
          </a:p>
          <a:p>
            <a:r>
              <a:rPr lang="en-MY" sz="2000" dirty="0">
                <a:latin typeface="Cascadia Code" panose="020B0609020000020004" pitchFamily="49" charset="0"/>
                <a:cs typeface="Cascadia Code" panose="020B0609020000020004" pitchFamily="49" charset="0"/>
              </a:rPr>
              <a:t>class </a:t>
            </a:r>
            <a:r>
              <a:rPr lang="en-MY" sz="2000" dirty="0" err="1">
                <a:latin typeface="Cascadia Code" panose="020B0609020000020004" pitchFamily="49" charset="0"/>
                <a:cs typeface="Cascadia Code" panose="020B0609020000020004" pitchFamily="49" charset="0"/>
              </a:rPr>
              <a:t>SearchResult</a:t>
            </a:r>
            <a:r>
              <a:rPr lang="en-MY" sz="2000" dirty="0">
                <a:latin typeface="Cascadia Code" panose="020B0609020000020004" pitchFamily="49" charset="0"/>
                <a:cs typeface="Cascadia Code" panose="020B0609020000020004" pitchFamily="49" charset="0"/>
              </a:rPr>
              <a:t>:</a:t>
            </a:r>
          </a:p>
          <a:p>
            <a:r>
              <a:rPr lang="en-MY" sz="2000" dirty="0">
                <a:latin typeface="Cascadia Code" panose="020B0609020000020004" pitchFamily="49" charset="0"/>
                <a:cs typeface="Cascadia Code" panose="020B0609020000020004" pitchFamily="49" charset="0"/>
              </a:rPr>
              <a:t>    found: bool</a:t>
            </a:r>
          </a:p>
          <a:p>
            <a:r>
              <a:rPr lang="en-MY" sz="2000" dirty="0">
                <a:latin typeface="Cascadia Code" panose="020B0609020000020004" pitchFamily="49" charset="0"/>
                <a:cs typeface="Cascadia Code" panose="020B0609020000020004" pitchFamily="49" charset="0"/>
              </a:rPr>
              <a:t>    path: list</a:t>
            </a:r>
          </a:p>
          <a:p>
            <a:r>
              <a:rPr lang="en-MY" sz="2000" dirty="0">
                <a:latin typeface="Cascadia Code" panose="020B0609020000020004" pitchFamily="49" charset="0"/>
                <a:cs typeface="Cascadia Code" panose="020B0609020000020004" pitchFamily="49" charset="0"/>
              </a:rPr>
              <a:t>    hops: int</a:t>
            </a:r>
          </a:p>
          <a:p>
            <a:r>
              <a:rPr lang="en-MY" sz="2000" dirty="0">
                <a:latin typeface="Cascadia Code" panose="020B0609020000020004" pitchFamily="49" charset="0"/>
                <a:cs typeface="Cascadia Code" panose="020B0609020000020004" pitchFamily="49" charset="0"/>
              </a:rPr>
              <a:t>    </a:t>
            </a:r>
            <a:r>
              <a:rPr lang="en-MY" sz="2000" dirty="0" err="1">
                <a:latin typeface="Cascadia Code" panose="020B0609020000020004" pitchFamily="49" charset="0"/>
                <a:cs typeface="Cascadia Code" panose="020B0609020000020004" pitchFamily="49" charset="0"/>
              </a:rPr>
              <a:t>path_cost_km</a:t>
            </a:r>
            <a:r>
              <a:rPr lang="en-MY" sz="2000" dirty="0">
                <a:latin typeface="Cascadia Code" panose="020B0609020000020004" pitchFamily="49" charset="0"/>
                <a:cs typeface="Cascadia Code" panose="020B0609020000020004" pitchFamily="49" charset="0"/>
              </a:rPr>
              <a:t>: float</a:t>
            </a:r>
          </a:p>
          <a:p>
            <a:r>
              <a:rPr lang="en-MY" sz="2000" dirty="0">
                <a:latin typeface="Cascadia Code" panose="020B0609020000020004" pitchFamily="49" charset="0"/>
                <a:cs typeface="Cascadia Code" panose="020B0609020000020004" pitchFamily="49" charset="0"/>
              </a:rPr>
              <a:t>    expanded: int</a:t>
            </a:r>
          </a:p>
          <a:p>
            <a:r>
              <a:rPr lang="en-MY" sz="2000" dirty="0">
                <a:latin typeface="Cascadia Code" panose="020B0609020000020004" pitchFamily="49" charset="0"/>
                <a:cs typeface="Cascadia Code" panose="020B0609020000020004" pitchFamily="49" charset="0"/>
              </a:rPr>
              <a:t>    </a:t>
            </a:r>
            <a:r>
              <a:rPr lang="en-MY" sz="2000" dirty="0" err="1">
                <a:latin typeface="Cascadia Code" panose="020B0609020000020004" pitchFamily="49" charset="0"/>
                <a:cs typeface="Cascadia Code" panose="020B0609020000020004" pitchFamily="49" charset="0"/>
              </a:rPr>
              <a:t>max_frontier</a:t>
            </a:r>
            <a:r>
              <a:rPr lang="en-MY" sz="2000" dirty="0">
                <a:latin typeface="Cascadia Code" panose="020B0609020000020004" pitchFamily="49" charset="0"/>
                <a:cs typeface="Cascadia Code" panose="020B0609020000020004" pitchFamily="49" charset="0"/>
              </a:rPr>
              <a:t>: int</a:t>
            </a:r>
          </a:p>
          <a:p>
            <a:r>
              <a:rPr lang="en-MY" sz="2000" dirty="0">
                <a:latin typeface="Cascadia Code" panose="020B0609020000020004" pitchFamily="49" charset="0"/>
                <a:cs typeface="Cascadia Code" panose="020B0609020000020004" pitchFamily="49" charset="0"/>
              </a:rPr>
              <a:t>    </a:t>
            </a:r>
            <a:r>
              <a:rPr lang="en-MY" sz="2000" dirty="0" err="1">
                <a:latin typeface="Cascadia Code" panose="020B0609020000020004" pitchFamily="49" charset="0"/>
                <a:cs typeface="Cascadia Code" panose="020B0609020000020004" pitchFamily="49" charset="0"/>
              </a:rPr>
              <a:t>runtime_ms</a:t>
            </a:r>
            <a:r>
              <a:rPr lang="en-MY" sz="2000" dirty="0">
                <a:latin typeface="Cascadia Code" panose="020B0609020000020004" pitchFamily="49" charset="0"/>
                <a:cs typeface="Cascadia Code" panose="020B0609020000020004" pitchFamily="49" charset="0"/>
              </a:rPr>
              <a:t>: float</a:t>
            </a:r>
          </a:p>
          <a:p>
            <a:endParaRPr lang="en-MY" sz="2000" dirty="0">
              <a:latin typeface="Cascadia Code" panose="020B0609020000020004" pitchFamily="49" charset="0"/>
              <a:cs typeface="Cascadia Code" panose="020B0609020000020004" pitchFamily="49" charset="0"/>
            </a:endParaRPr>
          </a:p>
          <a:p>
            <a:r>
              <a:rPr lang="en-MY" sz="2000" dirty="0">
                <a:latin typeface="Cascadia Code" panose="020B0609020000020004" pitchFamily="49" charset="0"/>
                <a:cs typeface="Cascadia Code" panose="020B0609020000020004" pitchFamily="49" charset="0"/>
              </a:rPr>
              <a:t>    def </a:t>
            </a:r>
            <a:r>
              <a:rPr lang="en-MY" sz="2000" dirty="0" err="1">
                <a:latin typeface="Cascadia Code" panose="020B0609020000020004" pitchFamily="49" charset="0"/>
                <a:cs typeface="Cascadia Code" panose="020B0609020000020004" pitchFamily="49" charset="0"/>
              </a:rPr>
              <a:t>as_dict</a:t>
            </a:r>
            <a:r>
              <a:rPr lang="en-MY" sz="2000" dirty="0">
                <a:latin typeface="Cascadia Code" panose="020B0609020000020004" pitchFamily="49" charset="0"/>
                <a:cs typeface="Cascadia Code" panose="020B0609020000020004" pitchFamily="49" charset="0"/>
              </a:rPr>
              <a:t>(self) -&gt; </a:t>
            </a:r>
            <a:r>
              <a:rPr lang="en-MY" sz="2000" dirty="0" err="1">
                <a:latin typeface="Cascadia Code" panose="020B0609020000020004" pitchFamily="49" charset="0"/>
                <a:cs typeface="Cascadia Code" panose="020B0609020000020004" pitchFamily="49" charset="0"/>
              </a:rPr>
              <a:t>dict</a:t>
            </a:r>
            <a:r>
              <a:rPr lang="en-MY" sz="2000" dirty="0">
                <a:latin typeface="Cascadia Code" panose="020B0609020000020004" pitchFamily="49" charset="0"/>
                <a:cs typeface="Cascadia Code" panose="020B0609020000020004" pitchFamily="49" charset="0"/>
              </a:rPr>
              <a:t>:</a:t>
            </a:r>
          </a:p>
          <a:p>
            <a:r>
              <a:rPr lang="en-MY" sz="2000" dirty="0">
                <a:latin typeface="Cascadia Code" panose="020B0609020000020004" pitchFamily="49" charset="0"/>
                <a:cs typeface="Cascadia Code" panose="020B0609020000020004" pitchFamily="49" charset="0"/>
              </a:rPr>
              <a:t>        return </a:t>
            </a:r>
            <a:r>
              <a:rPr lang="en-MY" sz="2000" dirty="0" err="1">
                <a:latin typeface="Cascadia Code" panose="020B0609020000020004" pitchFamily="49" charset="0"/>
                <a:cs typeface="Cascadia Code" panose="020B0609020000020004" pitchFamily="49" charset="0"/>
              </a:rPr>
              <a:t>asdict</a:t>
            </a:r>
            <a:r>
              <a:rPr lang="en-MY" sz="2000" dirty="0">
                <a:latin typeface="Cascadia Code" panose="020B0609020000020004" pitchFamily="49" charset="0"/>
                <a:cs typeface="Cascadia Code" panose="020B0609020000020004" pitchFamily="49" charset="0"/>
              </a:rPr>
              <a:t>(self)</a:t>
            </a:r>
          </a:p>
          <a:p>
            <a:r>
              <a:rPr lang="en-MY" sz="2400" dirty="0"/>
              <a:t>This defines the "report card" every algorithm returns. frozen=True means once created, it can't be accidentally changed later. </a:t>
            </a:r>
            <a:r>
              <a:rPr lang="en-MY" sz="2400" dirty="0" err="1"/>
              <a:t>as_dict</a:t>
            </a:r>
            <a:r>
              <a:rPr lang="en-MY" sz="2400" dirty="0"/>
              <a:t>() is what lets Question 3's **</a:t>
            </a:r>
            <a:r>
              <a:rPr lang="en-MY" sz="2400" dirty="0" err="1"/>
              <a:t>result.as_dict</a:t>
            </a:r>
            <a:r>
              <a:rPr lang="en-MY" sz="2400" dirty="0"/>
              <a:t>() trick work.</a:t>
            </a:r>
          </a:p>
          <a:p>
            <a:endParaRPr lang="en-MY" sz="2400" dirty="0"/>
          </a:p>
          <a:p>
            <a:r>
              <a:rPr lang="en-MY" sz="2400" dirty="0">
                <a:latin typeface="Cascadia Code" panose="020B0609020000020004" pitchFamily="49" charset="0"/>
                <a:cs typeface="Cascadia Code" panose="020B0609020000020004" pitchFamily="49" charset="0"/>
              </a:rPr>
              <a:t>def _</a:t>
            </a:r>
            <a:r>
              <a:rPr lang="en-MY" sz="2400" dirty="0" err="1">
                <a:latin typeface="Cascadia Code" panose="020B0609020000020004" pitchFamily="49" charset="0"/>
                <a:cs typeface="Cascadia Code" panose="020B0609020000020004" pitchFamily="49" charset="0"/>
              </a:rPr>
              <a:t>build_path</a:t>
            </a:r>
            <a:r>
              <a:rPr lang="en-MY" sz="2400" dirty="0">
                <a:latin typeface="Cascadia Code" panose="020B0609020000020004" pitchFamily="49" charset="0"/>
                <a:cs typeface="Cascadia Code" panose="020B0609020000020004" pitchFamily="49" charset="0"/>
              </a:rPr>
              <a:t>(parent: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 goal) -&gt; list:</a:t>
            </a:r>
          </a:p>
          <a:p>
            <a:r>
              <a:rPr lang="en-MY" sz="2400" dirty="0">
                <a:latin typeface="Cascadia Code" panose="020B0609020000020004" pitchFamily="49" charset="0"/>
                <a:cs typeface="Cascadia Code" panose="020B0609020000020004" pitchFamily="49" charset="0"/>
              </a:rPr>
              <a:t>    path = []</a:t>
            </a:r>
          </a:p>
          <a:p>
            <a:r>
              <a:rPr lang="en-MY" sz="2400" dirty="0">
                <a:latin typeface="Cascadia Code" panose="020B0609020000020004" pitchFamily="49" charset="0"/>
                <a:cs typeface="Cascadia Code" panose="020B0609020000020004" pitchFamily="49" charset="0"/>
              </a:rPr>
              <a:t>    state = goal</a:t>
            </a:r>
          </a:p>
          <a:p>
            <a:r>
              <a:rPr lang="en-MY" sz="2400" dirty="0">
                <a:latin typeface="Cascadia Code" panose="020B0609020000020004" pitchFamily="49" charset="0"/>
                <a:cs typeface="Cascadia Code" panose="020B0609020000020004" pitchFamily="49" charset="0"/>
              </a:rPr>
              <a:t>    while state is not None:</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path.append</a:t>
            </a:r>
            <a:r>
              <a:rPr lang="en-MY" sz="2400" dirty="0">
                <a:latin typeface="Cascadia Code" panose="020B0609020000020004" pitchFamily="49" charset="0"/>
                <a:cs typeface="Cascadia Code" panose="020B0609020000020004" pitchFamily="49" charset="0"/>
              </a:rPr>
              <a:t>(state)</a:t>
            </a:r>
          </a:p>
          <a:p>
            <a:r>
              <a:rPr lang="en-MY" sz="2400" dirty="0">
                <a:latin typeface="Cascadia Code" panose="020B0609020000020004" pitchFamily="49" charset="0"/>
                <a:cs typeface="Cascadia Code" panose="020B0609020000020004" pitchFamily="49" charset="0"/>
              </a:rPr>
              <a:t>        state = parent[state]</a:t>
            </a:r>
          </a:p>
          <a:p>
            <a:r>
              <a:rPr lang="en-MY" sz="2400" dirty="0">
                <a:latin typeface="Cascadia Code" panose="020B0609020000020004" pitchFamily="49" charset="0"/>
                <a:cs typeface="Cascadia Code" panose="020B0609020000020004" pitchFamily="49" charset="0"/>
              </a:rPr>
              <a:t>    return path[::-1]</a:t>
            </a:r>
          </a:p>
          <a:p>
            <a:r>
              <a:rPr lang="en-MY" sz="2400" dirty="0"/>
              <a:t>Every search keeps a parent dictionary — "I reached this airport </a:t>
            </a:r>
            <a:r>
              <a:rPr lang="en-MY" sz="2400" i="1" dirty="0"/>
              <a:t>from</a:t>
            </a:r>
            <a:r>
              <a:rPr lang="en-MY" sz="2400" dirty="0"/>
              <a:t> this other airport." Starting at the goal and following parent backwards rebuilds the whole route, then [::-1] flips it so it reads </a:t>
            </a:r>
            <a:r>
              <a:rPr lang="en-MY" sz="2400" dirty="0" err="1"/>
              <a:t>start→goal</a:t>
            </a:r>
            <a:r>
              <a:rPr lang="en-MY" sz="2400" dirty="0"/>
              <a:t> instead of </a:t>
            </a:r>
            <a:r>
              <a:rPr lang="en-MY" sz="2400" dirty="0" err="1"/>
              <a:t>goal→start</a:t>
            </a:r>
            <a:r>
              <a:rPr lang="en-MY" sz="2400" dirty="0"/>
              <a:t>.</a:t>
            </a:r>
          </a:p>
        </p:txBody>
      </p:sp>
    </p:spTree>
    <p:extLst>
      <p:ext uri="{BB962C8B-B14F-4D97-AF65-F5344CB8AC3E}">
        <p14:creationId xmlns:p14="http://schemas.microsoft.com/office/powerpoint/2010/main" val="73160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949D-15C6-9DFC-C5DF-1308D395FCF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50A925C-F2C2-F4D4-EFAC-CFEE94CE3D40}"/>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92419D63-8CFD-B25F-2D76-226EF33B4D08}"/>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03F7906D-73D9-22F4-0BE7-4B2CD6A306FD}"/>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6" name="AutoShape 2">
            <a:extLst>
              <a:ext uri="{FF2B5EF4-FFF2-40B4-BE49-F238E27FC236}">
                <a16:creationId xmlns:a16="http://schemas.microsoft.com/office/drawing/2014/main" id="{7F5927A6-1721-A383-C3A8-497E8AF294C4}"/>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14B8D9A3-2377-B195-9665-31E457FB4739}"/>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0921A979-D561-F9D8-6EFC-F0647F4587B5}"/>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A4AE06D1-207A-CCD8-09E1-C9666747229E}"/>
              </a:ext>
            </a:extLst>
          </p:cNvPr>
          <p:cNvSpPr txBox="1"/>
          <p:nvPr/>
        </p:nvSpPr>
        <p:spPr>
          <a:xfrm>
            <a:off x="902970" y="1316504"/>
            <a:ext cx="16127730" cy="5262979"/>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def _</a:t>
            </a:r>
            <a:r>
              <a:rPr lang="en-MY" sz="2400" dirty="0" err="1">
                <a:latin typeface="Cascadia Code" panose="020B0609020000020004" pitchFamily="49" charset="0"/>
                <a:cs typeface="Cascadia Code" panose="020B0609020000020004" pitchFamily="49" charset="0"/>
              </a:rPr>
              <a:t>path_cost</a:t>
            </a:r>
            <a:r>
              <a:rPr lang="en-MY" sz="2400" dirty="0">
                <a:latin typeface="Cascadia Code" panose="020B0609020000020004" pitchFamily="49" charset="0"/>
                <a:cs typeface="Cascadia Code" panose="020B0609020000020004" pitchFamily="49" charset="0"/>
              </a:rPr>
              <a:t>(path: list, graph: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 -&gt; float:</a:t>
            </a:r>
          </a:p>
          <a:p>
            <a:r>
              <a:rPr lang="en-MY" sz="2400" dirty="0">
                <a:latin typeface="Cascadia Code" panose="020B0609020000020004" pitchFamily="49" charset="0"/>
                <a:cs typeface="Cascadia Code" panose="020B0609020000020004" pitchFamily="49" charset="0"/>
              </a:rPr>
              <a:t>    edges = {state: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(neighbours) for state, neighbours in </a:t>
            </a:r>
            <a:r>
              <a:rPr lang="en-MY" sz="2400" dirty="0" err="1">
                <a:latin typeface="Cascadia Code" panose="020B0609020000020004" pitchFamily="49" charset="0"/>
                <a:cs typeface="Cascadia Code" panose="020B0609020000020004" pitchFamily="49" charset="0"/>
              </a:rPr>
              <a:t>graph.items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sum(edges[a][b] for a, b in zip(path, path[1:]))</a:t>
            </a:r>
          </a:p>
          <a:p>
            <a:r>
              <a:rPr lang="en-MY" sz="2400" dirty="0"/>
              <a:t>Same "add up consecutive leg distances" trick used later in the lab script — this is the </a:t>
            </a:r>
            <a:r>
              <a:rPr lang="en-MY" sz="2400" i="1" dirty="0"/>
              <a:t>official</a:t>
            </a:r>
            <a:r>
              <a:rPr lang="en-MY" sz="2400" dirty="0"/>
              <a:t> version the algorithms themselves use to compute </a:t>
            </a:r>
            <a:r>
              <a:rPr lang="en-MY" sz="2400" dirty="0" err="1"/>
              <a:t>path_cost_km</a:t>
            </a:r>
            <a:r>
              <a:rPr lang="en-MY" sz="2400" dirty="0"/>
              <a:t>.</a:t>
            </a:r>
          </a:p>
          <a:p>
            <a:endParaRPr lang="en-MY" sz="2400" dirty="0"/>
          </a:p>
          <a:p>
            <a:r>
              <a:rPr lang="en-MY" sz="2400" dirty="0">
                <a:latin typeface="Cascadia Code" panose="020B0609020000020004" pitchFamily="49" charset="0"/>
                <a:cs typeface="Cascadia Code" panose="020B0609020000020004" pitchFamily="49" charset="0"/>
              </a:rPr>
              <a:t>def _result(found, parent, goal, graph, expanded,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started) -&gt; </a:t>
            </a:r>
            <a:r>
              <a:rPr lang="en-MY" sz="2400" dirty="0" err="1">
                <a:latin typeface="Cascadia Code" panose="020B0609020000020004" pitchFamily="49" charset="0"/>
                <a:cs typeface="Cascadia Code" panose="020B0609020000020004" pitchFamily="49" charset="0"/>
              </a:rPr>
              <a:t>SearchResult</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path = _</a:t>
            </a:r>
            <a:r>
              <a:rPr lang="en-MY" sz="2400" dirty="0" err="1">
                <a:latin typeface="Cascadia Code" panose="020B0609020000020004" pitchFamily="49" charset="0"/>
                <a:cs typeface="Cascadia Code" panose="020B0609020000020004" pitchFamily="49" charset="0"/>
              </a:rPr>
              <a:t>build_path</a:t>
            </a:r>
            <a:r>
              <a:rPr lang="en-MY" sz="2400" dirty="0">
                <a:latin typeface="Cascadia Code" panose="020B0609020000020004" pitchFamily="49" charset="0"/>
                <a:cs typeface="Cascadia Code" panose="020B0609020000020004" pitchFamily="49" charset="0"/>
              </a:rPr>
              <a:t>(parent, goal) if found else []</a:t>
            </a:r>
          </a:p>
          <a:p>
            <a:r>
              <a:rPr lang="en-MY" sz="2400" dirty="0">
                <a:latin typeface="Cascadia Code" panose="020B0609020000020004" pitchFamily="49" charset="0"/>
                <a:cs typeface="Cascadia Code" panose="020B0609020000020004" pitchFamily="49" charset="0"/>
              </a:rPr>
              <a:t>    cost = _</a:t>
            </a:r>
            <a:r>
              <a:rPr lang="en-MY" sz="2400" dirty="0" err="1">
                <a:latin typeface="Cascadia Code" panose="020B0609020000020004" pitchFamily="49" charset="0"/>
                <a:cs typeface="Cascadia Code" panose="020B0609020000020004" pitchFamily="49" charset="0"/>
              </a:rPr>
              <a:t>path_cost</a:t>
            </a:r>
            <a:r>
              <a:rPr lang="en-MY" sz="2400" dirty="0">
                <a:latin typeface="Cascadia Code" panose="020B0609020000020004" pitchFamily="49" charset="0"/>
                <a:cs typeface="Cascadia Code" panose="020B0609020000020004" pitchFamily="49" charset="0"/>
              </a:rPr>
              <a:t>(path, graph) if found else inf</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runtime_ms</a:t>
            </a:r>
            <a:r>
              <a:rPr lang="en-MY" sz="2400" dirty="0">
                <a:latin typeface="Cascadia Code" panose="020B0609020000020004" pitchFamily="49" charset="0"/>
                <a:cs typeface="Cascadia Code" panose="020B0609020000020004" pitchFamily="49" charset="0"/>
              </a:rPr>
              <a:t> = (</a:t>
            </a:r>
            <a:r>
              <a:rPr lang="en-MY" sz="2400" dirty="0" err="1">
                <a:latin typeface="Cascadia Code" panose="020B0609020000020004" pitchFamily="49" charset="0"/>
                <a:cs typeface="Cascadia Code" panose="020B0609020000020004" pitchFamily="49" charset="0"/>
              </a:rPr>
              <a:t>perf_counter</a:t>
            </a:r>
            <a:r>
              <a:rPr lang="en-MY" sz="2400" dirty="0">
                <a:latin typeface="Cascadia Code" panose="020B0609020000020004" pitchFamily="49" charset="0"/>
                <a:cs typeface="Cascadia Code" panose="020B0609020000020004" pitchFamily="49" charset="0"/>
              </a:rPr>
              <a:t>() - started) * 1000</a:t>
            </a:r>
          </a:p>
          <a:p>
            <a:r>
              <a:rPr lang="en-MY" sz="2400" dirty="0">
                <a:latin typeface="Cascadia Code" panose="020B0609020000020004" pitchFamily="49" charset="0"/>
                <a:cs typeface="Cascadia Code" panose="020B0609020000020004" pitchFamily="49" charset="0"/>
              </a:rPr>
              <a:t>    return </a:t>
            </a:r>
            <a:r>
              <a:rPr lang="en-MY" sz="2400" dirty="0" err="1">
                <a:latin typeface="Cascadia Code" panose="020B0609020000020004" pitchFamily="49" charset="0"/>
                <a:cs typeface="Cascadia Code" panose="020B0609020000020004" pitchFamily="49" charset="0"/>
              </a:rPr>
              <a:t>SearchResult</a:t>
            </a:r>
            <a:r>
              <a:rPr lang="en-MY" sz="2400" dirty="0">
                <a:latin typeface="Cascadia Code" panose="020B0609020000020004" pitchFamily="49" charset="0"/>
                <a:cs typeface="Cascadia Code" panose="020B0609020000020004" pitchFamily="49" charset="0"/>
              </a:rPr>
              <a:t>(found, path,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(path) - 1, cost, expanded,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runtime_ms</a:t>
            </a:r>
            <a:r>
              <a:rPr lang="en-MY" sz="2400" dirty="0">
                <a:latin typeface="Cascadia Code" panose="020B0609020000020004" pitchFamily="49" charset="0"/>
                <a:cs typeface="Cascadia Code" panose="020B0609020000020004" pitchFamily="49" charset="0"/>
              </a:rPr>
              <a:t>)</a:t>
            </a:r>
          </a:p>
          <a:p>
            <a:r>
              <a:rPr lang="en-MY" sz="2400" dirty="0"/>
              <a:t>A shared helper that all three algorithms call at the end to package up their final answer consistently. </a:t>
            </a:r>
            <a:r>
              <a:rPr lang="en-MY" sz="2400" dirty="0" err="1"/>
              <a:t>len</a:t>
            </a:r>
            <a:r>
              <a:rPr lang="en-MY" sz="2400" dirty="0"/>
              <a:t>(path) - 1 converts "3 airports visited" into "2 hops" (one fewer flight than stops).</a:t>
            </a:r>
          </a:p>
        </p:txBody>
      </p:sp>
    </p:spTree>
    <p:extLst>
      <p:ext uri="{BB962C8B-B14F-4D97-AF65-F5344CB8AC3E}">
        <p14:creationId xmlns:p14="http://schemas.microsoft.com/office/powerpoint/2010/main" val="103974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763F-799D-84E0-F4C1-8DE097C45DA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A0740CF-79F1-4D65-A645-194D0B442156}"/>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C645B48C-18AE-5170-2DBF-7C9FE32B4DBF}"/>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97E06193-D616-25EF-BBF1-988CB1382B71}"/>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AutoShape 2">
            <a:extLst>
              <a:ext uri="{FF2B5EF4-FFF2-40B4-BE49-F238E27FC236}">
                <a16:creationId xmlns:a16="http://schemas.microsoft.com/office/drawing/2014/main" id="{B13BADEF-E442-D756-222F-9DADC6C4600E}"/>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81F2B29B-39AE-4B76-7368-8E0CFCE0C8A1}"/>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89D007BC-9A14-06CF-C72B-71E35198E3BB}"/>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794EB4DE-487E-3175-9826-9D702E56B26D}"/>
              </a:ext>
            </a:extLst>
          </p:cNvPr>
          <p:cNvSpPr txBox="1"/>
          <p:nvPr/>
        </p:nvSpPr>
        <p:spPr>
          <a:xfrm>
            <a:off x="609328" y="1316504"/>
            <a:ext cx="17069344" cy="7478970"/>
          </a:xfrm>
          <a:prstGeom prst="rect">
            <a:avLst/>
          </a:prstGeom>
          <a:noFill/>
        </p:spPr>
        <p:txBody>
          <a:bodyPr wrap="square">
            <a:spAutoFit/>
          </a:bodyPr>
          <a:lstStyle/>
          <a:p>
            <a:r>
              <a:rPr lang="en-MY" sz="2400" b="1" dirty="0" err="1">
                <a:solidFill>
                  <a:schemeClr val="accent2">
                    <a:lumMod val="75000"/>
                  </a:schemeClr>
                </a:solidFill>
              </a:rPr>
              <a:t>bfs</a:t>
            </a:r>
            <a:r>
              <a:rPr lang="en-MY" sz="2400" b="1" dirty="0">
                <a:solidFill>
                  <a:schemeClr val="accent2">
                    <a:lumMod val="75000"/>
                  </a:schemeClr>
                </a:solidFill>
              </a:rPr>
              <a:t>()</a:t>
            </a:r>
          </a:p>
          <a:p>
            <a:endParaRPr lang="en-MY" sz="2400" dirty="0"/>
          </a:p>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bfs</a:t>
            </a:r>
            <a:r>
              <a:rPr lang="en-MY" sz="2400" dirty="0">
                <a:latin typeface="Cascadia Code" panose="020B0609020000020004" pitchFamily="49" charset="0"/>
                <a:cs typeface="Cascadia Code" panose="020B0609020000020004" pitchFamily="49" charset="0"/>
              </a:rPr>
              <a:t>(graph: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 start, goal) -&gt; </a:t>
            </a:r>
            <a:r>
              <a:rPr lang="en-MY" sz="2400" dirty="0" err="1">
                <a:latin typeface="Cascadia Code" panose="020B0609020000020004" pitchFamily="49" charset="0"/>
                <a:cs typeface="Cascadia Code" panose="020B0609020000020004" pitchFamily="49" charset="0"/>
              </a:rPr>
              <a:t>SearchResult</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started = </a:t>
            </a:r>
            <a:r>
              <a:rPr lang="en-MY" sz="2400" dirty="0" err="1">
                <a:latin typeface="Cascadia Code" panose="020B0609020000020004" pitchFamily="49" charset="0"/>
                <a:cs typeface="Cascadia Code" panose="020B0609020000020004" pitchFamily="49" charset="0"/>
              </a:rPr>
              <a:t>perf_counter</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frontier = deque([start])</a:t>
            </a:r>
          </a:p>
          <a:p>
            <a:r>
              <a:rPr lang="en-MY" sz="2400" dirty="0">
                <a:latin typeface="Cascadia Code" panose="020B0609020000020004" pitchFamily="49" charset="0"/>
                <a:cs typeface="Cascadia Code" panose="020B0609020000020004" pitchFamily="49" charset="0"/>
              </a:rPr>
              <a:t>    parent = {start: None}</a:t>
            </a:r>
          </a:p>
          <a:p>
            <a:r>
              <a:rPr lang="en-MY" sz="2400" dirty="0">
                <a:latin typeface="Cascadia Code" panose="020B0609020000020004" pitchFamily="49" charset="0"/>
                <a:cs typeface="Cascadia Code" panose="020B0609020000020004" pitchFamily="49" charset="0"/>
              </a:rPr>
              <a:t>    expanded,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 0, 1</a:t>
            </a:r>
          </a:p>
          <a:p>
            <a:r>
              <a:rPr lang="en-MY" sz="2400" dirty="0"/>
              <a:t>Starts the stopwatch. The waiting list (frontier) begins with just the start airport. parent[start] = None marks it as having no "came from" (it's the beginning). Counters start at zero/one.</a:t>
            </a:r>
          </a:p>
          <a:p>
            <a:endParaRPr lang="en-MY" sz="2400" dirty="0"/>
          </a:p>
          <a:p>
            <a:r>
              <a:rPr lang="en-MY" sz="2400" dirty="0">
                <a:latin typeface="Cascadia Code" panose="020B0609020000020004" pitchFamily="49" charset="0"/>
                <a:cs typeface="Cascadia Code" panose="020B0609020000020004" pitchFamily="49" charset="0"/>
              </a:rPr>
              <a:t>    while frontier:</a:t>
            </a:r>
          </a:p>
          <a:p>
            <a:r>
              <a:rPr lang="en-MY" sz="2400" dirty="0">
                <a:latin typeface="Cascadia Code" panose="020B0609020000020004" pitchFamily="49" charset="0"/>
                <a:cs typeface="Cascadia Code" panose="020B0609020000020004" pitchFamily="49" charset="0"/>
              </a:rPr>
              <a:t>        state = </a:t>
            </a:r>
            <a:r>
              <a:rPr lang="en-MY" sz="2400" dirty="0" err="1">
                <a:latin typeface="Cascadia Code" panose="020B0609020000020004" pitchFamily="49" charset="0"/>
                <a:cs typeface="Cascadia Code" panose="020B0609020000020004" pitchFamily="49" charset="0"/>
              </a:rPr>
              <a:t>frontier.popleft</a:t>
            </a:r>
            <a:r>
              <a:rPr lang="en-MY" sz="2400" dirty="0">
                <a:latin typeface="Cascadia Code" panose="020B0609020000020004" pitchFamily="49" charset="0"/>
                <a:cs typeface="Cascadia Code" panose="020B0609020000020004" pitchFamily="49" charset="0"/>
              </a:rPr>
              <a:t>()</a:t>
            </a:r>
          </a:p>
          <a:p>
            <a:r>
              <a:rPr lang="en-MY" sz="2400" dirty="0"/>
              <a:t>Keep going while there's something to check. </a:t>
            </a:r>
            <a:r>
              <a:rPr lang="en-MY" sz="2400" dirty="0" err="1"/>
              <a:t>popleft</a:t>
            </a:r>
            <a:r>
              <a:rPr lang="en-MY" sz="2400" dirty="0"/>
              <a:t>() takes from the </a:t>
            </a:r>
            <a:r>
              <a:rPr lang="en-MY" sz="2400" i="1" dirty="0"/>
              <a:t>front</a:t>
            </a:r>
            <a:r>
              <a:rPr lang="en-MY" sz="2400" dirty="0"/>
              <a:t> of the queue — the airport that's been waiting longest. This "oldest first" rule is what makes it BFS.</a:t>
            </a:r>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if state == goal:</a:t>
            </a:r>
          </a:p>
          <a:p>
            <a:r>
              <a:rPr lang="en-MY" sz="2400" dirty="0">
                <a:latin typeface="Cascadia Code" panose="020B0609020000020004" pitchFamily="49" charset="0"/>
                <a:cs typeface="Cascadia Code" panose="020B0609020000020004" pitchFamily="49" charset="0"/>
              </a:rPr>
              <a:t>           			 return _result(True, parent, goal, graph, expanded,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started)</a:t>
            </a:r>
          </a:p>
          <a:p>
            <a:r>
              <a:rPr lang="en-MY" sz="2400" dirty="0">
                <a:latin typeface="Cascadia Code" panose="020B0609020000020004" pitchFamily="49" charset="0"/>
                <a:cs typeface="Cascadia Code" panose="020B0609020000020004" pitchFamily="49" charset="0"/>
              </a:rPr>
              <a:t>        expanded += 1</a:t>
            </a:r>
          </a:p>
          <a:p>
            <a:r>
              <a:rPr lang="en-MY" sz="2400" dirty="0"/>
              <a:t>If we just pulled out the goal, we're done — return success. Otherwise, count this airport as "expanded" (we're about to look at its neighbours).</a:t>
            </a:r>
          </a:p>
        </p:txBody>
      </p:sp>
    </p:spTree>
    <p:extLst>
      <p:ext uri="{BB962C8B-B14F-4D97-AF65-F5344CB8AC3E}">
        <p14:creationId xmlns:p14="http://schemas.microsoft.com/office/powerpoint/2010/main" val="1310386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CFC3-A4F1-AFB4-120E-C3A4EF74BA3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C62703C-F3E8-BA96-243D-F4CC959A3013}"/>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E5E144C5-F802-15CC-4AF9-942427A0AF85}"/>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EA49E6A9-9BF2-05AB-4D7D-128337957C0C}"/>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AutoShape 2">
            <a:extLst>
              <a:ext uri="{FF2B5EF4-FFF2-40B4-BE49-F238E27FC236}">
                <a16:creationId xmlns:a16="http://schemas.microsoft.com/office/drawing/2014/main" id="{56E9A14A-F507-90CB-7549-78FE79E2243A}"/>
              </a:ext>
            </a:extLst>
          </p:cNvPr>
          <p:cNvSpPr/>
          <p:nvPr/>
        </p:nvSpPr>
        <p:spPr>
          <a:xfrm>
            <a:off x="756447" y="85305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AFEDA045-EBE8-7D33-543E-A895AED8C4A2}"/>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B6B9C582-F957-820A-68E4-439EBB014740}"/>
              </a:ext>
            </a:extLst>
          </p:cNvPr>
          <p:cNvSpPr txBox="1"/>
          <p:nvPr/>
        </p:nvSpPr>
        <p:spPr>
          <a:xfrm>
            <a:off x="990601" y="197764"/>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086858DD-0393-914A-A1E7-72109F27F57C}"/>
              </a:ext>
            </a:extLst>
          </p:cNvPr>
          <p:cNvSpPr txBox="1"/>
          <p:nvPr/>
        </p:nvSpPr>
        <p:spPr>
          <a:xfrm>
            <a:off x="902970" y="1065715"/>
            <a:ext cx="16904970" cy="3785652"/>
          </a:xfrm>
          <a:prstGeom prst="rect">
            <a:avLst/>
          </a:prstGeom>
          <a:noFill/>
        </p:spPr>
        <p:txBody>
          <a:bodyPr wrap="square">
            <a:spAutoFit/>
          </a:bodyPr>
          <a:lstStyle/>
          <a:p>
            <a:r>
              <a:rPr lang="en-MY" sz="2400" dirty="0"/>
              <a:t>        </a:t>
            </a:r>
            <a:r>
              <a:rPr lang="en-MY" sz="2400" dirty="0">
                <a:latin typeface="Cascadia Code" panose="020B0609020000020004" pitchFamily="49" charset="0"/>
                <a:cs typeface="Cascadia Code" panose="020B0609020000020004" pitchFamily="49" charset="0"/>
              </a:rPr>
              <a:t>for neighbour, _ in </a:t>
            </a:r>
            <a:r>
              <a:rPr lang="en-MY" sz="2400" dirty="0" err="1">
                <a:latin typeface="Cascadia Code" panose="020B0609020000020004" pitchFamily="49" charset="0"/>
                <a:cs typeface="Cascadia Code" panose="020B0609020000020004" pitchFamily="49" charset="0"/>
              </a:rPr>
              <a:t>graph.get</a:t>
            </a:r>
            <a:r>
              <a:rPr lang="en-MY" sz="2400" dirty="0">
                <a:latin typeface="Cascadia Code" panose="020B0609020000020004" pitchFamily="49" charset="0"/>
                <a:cs typeface="Cascadia Code" panose="020B0609020000020004" pitchFamily="49" charset="0"/>
              </a:rPr>
              <a:t>(state, ()):</a:t>
            </a:r>
          </a:p>
          <a:p>
            <a:r>
              <a:rPr lang="en-MY" sz="2400" dirty="0">
                <a:latin typeface="Cascadia Code" panose="020B0609020000020004" pitchFamily="49" charset="0"/>
                <a:cs typeface="Cascadia Code" panose="020B0609020000020004" pitchFamily="49" charset="0"/>
              </a:rPr>
              <a:t>            if neighbour not in parent:</a:t>
            </a:r>
          </a:p>
          <a:p>
            <a:r>
              <a:rPr lang="en-MY" sz="2400" dirty="0">
                <a:latin typeface="Cascadia Code" panose="020B0609020000020004" pitchFamily="49" charset="0"/>
                <a:cs typeface="Cascadia Code" panose="020B0609020000020004" pitchFamily="49" charset="0"/>
              </a:rPr>
              <a:t>                parent[neighbour] = state</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frontier.append</a:t>
            </a:r>
            <a:r>
              <a:rPr lang="en-MY" sz="2400" dirty="0">
                <a:latin typeface="Cascadia Code" panose="020B0609020000020004" pitchFamily="49" charset="0"/>
                <a:cs typeface="Cascadia Code" panose="020B0609020000020004" pitchFamily="49" charset="0"/>
              </a:rPr>
              <a:t>(neighbour)</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 max(</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(frontier))</a:t>
            </a:r>
          </a:p>
          <a:p>
            <a:r>
              <a:rPr lang="en-MY" sz="2400" dirty="0">
                <a:latin typeface="Cascadia Code" panose="020B0609020000020004" pitchFamily="49" charset="0"/>
                <a:cs typeface="Cascadia Code" panose="020B0609020000020004" pitchFamily="49" charset="0"/>
              </a:rPr>
              <a:t>    return _result(False, parent, goal, graph, expanded,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started)</a:t>
            </a:r>
          </a:p>
          <a:p>
            <a:r>
              <a:rPr lang="en-MY" sz="2400" dirty="0"/>
              <a:t>Look at every flight out of the current airport. </a:t>
            </a:r>
            <a:r>
              <a:rPr lang="en-MY" sz="2400" dirty="0" err="1"/>
              <a:t>graph.get</a:t>
            </a:r>
            <a:r>
              <a:rPr lang="en-MY" sz="2400" dirty="0"/>
              <a:t>(state, ()) safely returns an empty list if the airport has no outgoing flights, instead of crashing. If a neighbour hasn't been seen before, record where it came from and add it to the back of the queue. Track the largest the waiting list ever got (this becomes </a:t>
            </a:r>
            <a:r>
              <a:rPr lang="en-MY" sz="2400" dirty="0" err="1"/>
              <a:t>max_frontier</a:t>
            </a:r>
            <a:r>
              <a:rPr lang="en-MY" sz="2400" dirty="0"/>
              <a:t>, your memory-usage measurement). If the loop finishes without ever finding the goal, return failure.</a:t>
            </a:r>
          </a:p>
        </p:txBody>
      </p:sp>
      <p:sp>
        <p:nvSpPr>
          <p:cNvPr id="7" name="TextBox 6">
            <a:extLst>
              <a:ext uri="{FF2B5EF4-FFF2-40B4-BE49-F238E27FC236}">
                <a16:creationId xmlns:a16="http://schemas.microsoft.com/office/drawing/2014/main" id="{C49D3820-8ED4-98F8-FFAC-15E878CDFC68}"/>
              </a:ext>
            </a:extLst>
          </p:cNvPr>
          <p:cNvSpPr txBox="1"/>
          <p:nvPr/>
        </p:nvSpPr>
        <p:spPr>
          <a:xfrm>
            <a:off x="902970" y="4963910"/>
            <a:ext cx="16904970" cy="4154984"/>
          </a:xfrm>
          <a:prstGeom prst="rect">
            <a:avLst/>
          </a:prstGeom>
          <a:noFill/>
        </p:spPr>
        <p:txBody>
          <a:bodyPr wrap="square">
            <a:spAutoFit/>
          </a:bodyPr>
          <a:lstStyle/>
          <a:p>
            <a:r>
              <a:rPr lang="en-MY" sz="2400" b="1" dirty="0" err="1">
                <a:solidFill>
                  <a:schemeClr val="accent2">
                    <a:lumMod val="75000"/>
                  </a:schemeClr>
                </a:solidFill>
              </a:rPr>
              <a:t>dfs</a:t>
            </a:r>
            <a:r>
              <a:rPr lang="en-MY" sz="2400" b="1" dirty="0">
                <a:solidFill>
                  <a:schemeClr val="accent2">
                    <a:lumMod val="75000"/>
                  </a:schemeClr>
                </a:solidFill>
              </a:rPr>
              <a:t>()</a:t>
            </a:r>
          </a:p>
          <a:p>
            <a:endParaRPr lang="en-MY" sz="2400" b="1" dirty="0">
              <a:solidFill>
                <a:schemeClr val="accent2">
                  <a:lumMod val="75000"/>
                </a:schemeClr>
              </a:solidFill>
            </a:endParaRPr>
          </a:p>
          <a:p>
            <a:r>
              <a:rPr lang="en-MY" sz="2400" dirty="0"/>
              <a:t>Nearly identical to </a:t>
            </a:r>
            <a:r>
              <a:rPr lang="en-MY" sz="2400" dirty="0" err="1"/>
              <a:t>bfs</a:t>
            </a:r>
            <a:r>
              <a:rPr lang="en-MY" sz="2400" dirty="0"/>
              <a:t>(), with two key differences:</a:t>
            </a:r>
          </a:p>
          <a:p>
            <a:r>
              <a:rPr lang="en-MY" sz="2400" dirty="0">
                <a:latin typeface="Cascadia Code" panose="020B0609020000020004" pitchFamily="49" charset="0"/>
                <a:cs typeface="Cascadia Code" panose="020B0609020000020004" pitchFamily="49" charset="0"/>
              </a:rPr>
              <a:t>frontier = [start]</a:t>
            </a:r>
          </a:p>
          <a:p>
            <a:r>
              <a:rPr lang="en-MY" sz="2400" dirty="0">
                <a:latin typeface="Cascadia Code" panose="020B0609020000020004" pitchFamily="49" charset="0"/>
                <a:cs typeface="Cascadia Code" panose="020B0609020000020004" pitchFamily="49" charset="0"/>
              </a:rPr>
              <a:t>    ...</a:t>
            </a:r>
          </a:p>
          <a:p>
            <a:r>
              <a:rPr lang="en-MY" sz="2400" dirty="0">
                <a:latin typeface="Cascadia Code" panose="020B0609020000020004" pitchFamily="49" charset="0"/>
                <a:cs typeface="Cascadia Code" panose="020B0609020000020004" pitchFamily="49" charset="0"/>
              </a:rPr>
              <a:t>state = </a:t>
            </a:r>
            <a:r>
              <a:rPr lang="en-MY" sz="2400" dirty="0" err="1">
                <a:latin typeface="Cascadia Code" panose="020B0609020000020004" pitchFamily="49" charset="0"/>
                <a:cs typeface="Cascadia Code" panose="020B0609020000020004" pitchFamily="49" charset="0"/>
              </a:rPr>
              <a:t>frontier.pop</a:t>
            </a:r>
            <a:r>
              <a:rPr lang="en-MY" sz="2400" dirty="0">
                <a:latin typeface="Cascadia Code" panose="020B0609020000020004" pitchFamily="49" charset="0"/>
                <a:cs typeface="Cascadia Code" panose="020B0609020000020004" pitchFamily="49" charset="0"/>
              </a:rPr>
              <a:t>()</a:t>
            </a:r>
          </a:p>
          <a:p>
            <a:r>
              <a:rPr lang="en-MY" sz="2400" dirty="0"/>
              <a:t>Uses a plain list instead of a deque, and .pop() takes from the </a:t>
            </a:r>
            <a:r>
              <a:rPr lang="en-MY" sz="2400" b="1" dirty="0"/>
              <a:t>end;</a:t>
            </a:r>
            <a:r>
              <a:rPr lang="en-MY" sz="2400" dirty="0"/>
              <a:t> "most recently added first." That's what makes it DFS instead of BFS.</a:t>
            </a:r>
          </a:p>
          <a:p>
            <a:endParaRPr lang="en-MY" sz="2400" dirty="0"/>
          </a:p>
          <a:p>
            <a:r>
              <a:rPr lang="en-MY" sz="2400" dirty="0">
                <a:latin typeface="Cascadia Code" panose="020B0609020000020004" pitchFamily="49" charset="0"/>
                <a:cs typeface="Cascadia Code" panose="020B0609020000020004" pitchFamily="49" charset="0"/>
              </a:rPr>
              <a:t>for neighbour, _ in reversed(</a:t>
            </a:r>
            <a:r>
              <a:rPr lang="en-MY" sz="2400" dirty="0" err="1">
                <a:latin typeface="Cascadia Code" panose="020B0609020000020004" pitchFamily="49" charset="0"/>
                <a:cs typeface="Cascadia Code" panose="020B0609020000020004" pitchFamily="49" charset="0"/>
              </a:rPr>
              <a:t>graph.get</a:t>
            </a:r>
            <a:r>
              <a:rPr lang="en-MY" sz="2400" dirty="0">
                <a:latin typeface="Cascadia Code" panose="020B0609020000020004" pitchFamily="49" charset="0"/>
                <a:cs typeface="Cascadia Code" panose="020B0609020000020004" pitchFamily="49" charset="0"/>
              </a:rPr>
              <a:t>(state, ())):</a:t>
            </a:r>
          </a:p>
          <a:p>
            <a:r>
              <a:rPr lang="en-MY" sz="2400" dirty="0"/>
              <a:t>Neighbours are pushed in </a:t>
            </a:r>
            <a:r>
              <a:rPr lang="en-MY" sz="2400" b="1" dirty="0"/>
              <a:t>reverse order</a:t>
            </a:r>
            <a:r>
              <a:rPr lang="en-MY" sz="2400" dirty="0"/>
              <a:t>. Since .pop() grabs from the end, reversing first ensures the </a:t>
            </a:r>
            <a:r>
              <a:rPr lang="en-MY" sz="2400" i="1" dirty="0"/>
              <a:t>first-listed</a:t>
            </a:r>
            <a:r>
              <a:rPr lang="en-MY" sz="2400" dirty="0"/>
              <a:t> neighbour ends up being explored first — matching what you'd naturally expect "follow the first path" to mean.</a:t>
            </a:r>
          </a:p>
        </p:txBody>
      </p:sp>
    </p:spTree>
    <p:extLst>
      <p:ext uri="{BB962C8B-B14F-4D97-AF65-F5344CB8AC3E}">
        <p14:creationId xmlns:p14="http://schemas.microsoft.com/office/powerpoint/2010/main" val="3423341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9686-AFE4-0BAD-A35F-B194939E866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3C6A1EC-09DB-B5DB-9417-11347592ABFE}"/>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990F4B09-C91F-9B99-6CA4-7A7BF5555A4E}"/>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3455EC13-D7B8-AAA8-4445-974CD3622159}"/>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AutoShape 2">
            <a:extLst>
              <a:ext uri="{FF2B5EF4-FFF2-40B4-BE49-F238E27FC236}">
                <a16:creationId xmlns:a16="http://schemas.microsoft.com/office/drawing/2014/main" id="{40E218C2-8CDD-2718-4EE1-A74E4072A4B6}"/>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2E6BB9D2-1E70-1ED0-47C1-A0D3DA9CB755}"/>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FEF25BC9-A957-6BDC-C0A9-907703942797}"/>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7" name="TextBox 6">
            <a:extLst>
              <a:ext uri="{FF2B5EF4-FFF2-40B4-BE49-F238E27FC236}">
                <a16:creationId xmlns:a16="http://schemas.microsoft.com/office/drawing/2014/main" id="{672816CF-98C0-445E-B1FC-01E3950235DE}"/>
              </a:ext>
            </a:extLst>
          </p:cNvPr>
          <p:cNvSpPr txBox="1"/>
          <p:nvPr/>
        </p:nvSpPr>
        <p:spPr>
          <a:xfrm>
            <a:off x="902970" y="1752630"/>
            <a:ext cx="16127730" cy="6370975"/>
          </a:xfrm>
          <a:prstGeom prst="rect">
            <a:avLst/>
          </a:prstGeom>
          <a:noFill/>
        </p:spPr>
        <p:txBody>
          <a:bodyPr wrap="square">
            <a:spAutoFit/>
          </a:bodyPr>
          <a:lstStyle/>
          <a:p>
            <a:pPr rtl="0">
              <a:buNone/>
            </a:pPr>
            <a:r>
              <a:rPr lang="en-MY" sz="2400" b="1" dirty="0" err="1">
                <a:solidFill>
                  <a:schemeClr val="accent2">
                    <a:lumMod val="75000"/>
                  </a:schemeClr>
                </a:solidFill>
                <a:latin typeface="+mn-lt"/>
              </a:rPr>
              <a:t>best_first</a:t>
            </a:r>
            <a:r>
              <a:rPr lang="en-MY" sz="2400" b="1" dirty="0">
                <a:solidFill>
                  <a:schemeClr val="accent2">
                    <a:lumMod val="75000"/>
                  </a:schemeClr>
                </a:solidFill>
                <a:latin typeface="+mn-lt"/>
              </a:rPr>
              <a:t>()</a:t>
            </a:r>
            <a:r>
              <a:rPr lang="en-MY" sz="2400" b="1" dirty="0">
                <a:solidFill>
                  <a:schemeClr val="accent2">
                    <a:lumMod val="75000"/>
                  </a:schemeClr>
                </a:solidFill>
              </a:rPr>
              <a:t> - shared engine for UCS, GBFS, and A*</a:t>
            </a:r>
          </a:p>
          <a:p>
            <a:pPr rtl="0">
              <a:buNone/>
            </a:pPr>
            <a:endParaRPr lang="en-MY" sz="2400" dirty="0">
              <a:solidFill>
                <a:schemeClr val="tx1"/>
              </a:solidFill>
              <a:effectLst/>
              <a:latin typeface="+mn-lt"/>
            </a:endParaRPr>
          </a:p>
          <a:p>
            <a:pPr rtl="0">
              <a:buNone/>
            </a:pPr>
            <a:r>
              <a:rPr lang="en-MY" sz="2400" dirty="0">
                <a:solidFill>
                  <a:schemeClr val="tx1"/>
                </a:solidFill>
                <a:effectLst/>
                <a:latin typeface="Cascadia Code" panose="020B0609020000020004" pitchFamily="49" charset="0"/>
                <a:cs typeface="Cascadia Code" panose="020B0609020000020004" pitchFamily="49" charset="0"/>
              </a:rPr>
              <a:t>def </a:t>
            </a:r>
            <a:r>
              <a:rPr lang="en-MY" sz="2400" dirty="0" err="1">
                <a:solidFill>
                  <a:schemeClr val="tx1"/>
                </a:solidFill>
                <a:effectLst/>
                <a:latin typeface="Cascadia Code" panose="020B0609020000020004" pitchFamily="49" charset="0"/>
                <a:cs typeface="Cascadia Code" panose="020B0609020000020004" pitchFamily="49" charset="0"/>
              </a:rPr>
              <a:t>best_first</a:t>
            </a:r>
            <a:r>
              <a:rPr lang="en-MY" sz="2400" dirty="0">
                <a:solidFill>
                  <a:schemeClr val="tx1"/>
                </a:solidFill>
                <a:effectLst/>
                <a:latin typeface="Cascadia Code" panose="020B0609020000020004" pitchFamily="49" charset="0"/>
                <a:cs typeface="Cascadia Code" panose="020B0609020000020004" pitchFamily="49" charset="0"/>
              </a:rPr>
              <a:t>(graph: </a:t>
            </a:r>
            <a:r>
              <a:rPr lang="en-MY" sz="2400" dirty="0" err="1">
                <a:solidFill>
                  <a:schemeClr val="tx1"/>
                </a:solidFill>
                <a:effectLst/>
                <a:latin typeface="Cascadia Code" panose="020B0609020000020004" pitchFamily="49" charset="0"/>
                <a:cs typeface="Cascadia Code" panose="020B0609020000020004" pitchFamily="49" charset="0"/>
              </a:rPr>
              <a:t>dict</a:t>
            </a:r>
            <a:r>
              <a:rPr lang="en-MY" sz="2400" dirty="0">
                <a:solidFill>
                  <a:schemeClr val="tx1"/>
                </a:solidFill>
                <a:effectLst/>
                <a:latin typeface="Cascadia Code" panose="020B0609020000020004" pitchFamily="49" charset="0"/>
                <a:cs typeface="Cascadia Code" panose="020B0609020000020004" pitchFamily="49" charset="0"/>
              </a:rPr>
              <a:t>, start, goal, heuristic=None, mode: str = "</a:t>
            </a:r>
            <a:r>
              <a:rPr lang="en-MY" sz="2400" dirty="0" err="1">
                <a:solidFill>
                  <a:schemeClr val="tx1"/>
                </a:solidFill>
                <a:effectLst/>
                <a:latin typeface="Cascadia Code" panose="020B0609020000020004" pitchFamily="49" charset="0"/>
                <a:cs typeface="Cascadia Code" panose="020B0609020000020004" pitchFamily="49" charset="0"/>
              </a:rPr>
              <a:t>ucs</a:t>
            </a:r>
            <a:r>
              <a:rPr lang="en-MY" sz="2400" dirty="0">
                <a:solidFill>
                  <a:schemeClr val="tx1"/>
                </a:solidFill>
                <a:effectLst/>
                <a:latin typeface="Cascadia Code" panose="020B0609020000020004" pitchFamily="49" charset="0"/>
                <a:cs typeface="Cascadia Code" panose="020B0609020000020004" pitchFamily="49" charset="0"/>
              </a:rPr>
              <a:t>") -&gt; </a:t>
            </a:r>
            <a:r>
              <a:rPr lang="en-MY" sz="2400" dirty="0" err="1">
                <a:solidFill>
                  <a:schemeClr val="tx1"/>
                </a:solidFill>
                <a:effectLst/>
                <a:latin typeface="Cascadia Code" panose="020B0609020000020004" pitchFamily="49" charset="0"/>
                <a:cs typeface="Cascadia Code" panose="020B0609020000020004" pitchFamily="49" charset="0"/>
              </a:rPr>
              <a:t>SearchResult</a:t>
            </a:r>
            <a:r>
              <a:rPr lang="en-MY" sz="2400" dirty="0">
                <a:solidFill>
                  <a:schemeClr val="tx1"/>
                </a:solidFill>
                <a:effectLst/>
                <a:latin typeface="Cascadia Code" panose="020B0609020000020004" pitchFamily="49" charset="0"/>
                <a:cs typeface="Cascadia Code" panose="020B0609020000020004" pitchFamily="49" charset="0"/>
              </a:rPr>
              <a:t>:</a:t>
            </a:r>
          </a:p>
          <a:p>
            <a:pPr rtl="0">
              <a:buNone/>
            </a:pPr>
            <a:r>
              <a:rPr lang="en-MY" sz="2400" dirty="0">
                <a:solidFill>
                  <a:schemeClr val="tx1"/>
                </a:solidFill>
                <a:effectLst/>
                <a:latin typeface="Cascadia Code" panose="020B0609020000020004" pitchFamily="49" charset="0"/>
                <a:cs typeface="Cascadia Code" panose="020B0609020000020004" pitchFamily="49" charset="0"/>
              </a:rPr>
              <a:t>    if mode not in ("</a:t>
            </a:r>
            <a:r>
              <a:rPr lang="en-MY" sz="2400" dirty="0" err="1">
                <a:solidFill>
                  <a:schemeClr val="tx1"/>
                </a:solidFill>
                <a:effectLst/>
                <a:latin typeface="Cascadia Code" panose="020B0609020000020004" pitchFamily="49" charset="0"/>
                <a:cs typeface="Cascadia Code" panose="020B0609020000020004" pitchFamily="49" charset="0"/>
              </a:rPr>
              <a:t>ucs</a:t>
            </a:r>
            <a:r>
              <a:rPr lang="en-MY" sz="2400" dirty="0">
                <a:solidFill>
                  <a:schemeClr val="tx1"/>
                </a:solidFill>
                <a:effectLst/>
                <a:latin typeface="Cascadia Code" panose="020B0609020000020004" pitchFamily="49" charset="0"/>
                <a:cs typeface="Cascadia Code" panose="020B0609020000020004" pitchFamily="49" charset="0"/>
              </a:rPr>
              <a:t>", "</a:t>
            </a:r>
            <a:r>
              <a:rPr lang="en-MY" sz="2400" dirty="0" err="1">
                <a:solidFill>
                  <a:schemeClr val="tx1"/>
                </a:solidFill>
                <a:effectLst/>
                <a:latin typeface="Cascadia Code" panose="020B0609020000020004" pitchFamily="49" charset="0"/>
                <a:cs typeface="Cascadia Code" panose="020B0609020000020004" pitchFamily="49" charset="0"/>
              </a:rPr>
              <a:t>gbfs</a:t>
            </a:r>
            <a:r>
              <a:rPr lang="en-MY" sz="2400" dirty="0">
                <a:solidFill>
                  <a:schemeClr val="tx1"/>
                </a:solidFill>
                <a:effectLst/>
                <a:latin typeface="Cascadia Code" panose="020B0609020000020004" pitchFamily="49" charset="0"/>
                <a:cs typeface="Cascadia Code" panose="020B0609020000020004" pitchFamily="49" charset="0"/>
              </a:rPr>
              <a:t>", "</a:t>
            </a:r>
            <a:r>
              <a:rPr lang="en-MY" sz="2400" dirty="0" err="1">
                <a:solidFill>
                  <a:schemeClr val="tx1"/>
                </a:solidFill>
                <a:effectLst/>
                <a:latin typeface="Cascadia Code" panose="020B0609020000020004" pitchFamily="49" charset="0"/>
                <a:cs typeface="Cascadia Code" panose="020B0609020000020004" pitchFamily="49" charset="0"/>
              </a:rPr>
              <a:t>astar</a:t>
            </a:r>
            <a:r>
              <a:rPr lang="en-MY" sz="2400" dirty="0">
                <a:solidFill>
                  <a:schemeClr val="tx1"/>
                </a:solidFill>
                <a:effectLst/>
                <a:latin typeface="Cascadia Code" panose="020B0609020000020004" pitchFamily="49" charset="0"/>
                <a:cs typeface="Cascadia Code" panose="020B0609020000020004" pitchFamily="49" charset="0"/>
              </a:rPr>
              <a:t>"):</a:t>
            </a:r>
          </a:p>
          <a:p>
            <a:pPr rtl="0">
              <a:buNone/>
            </a:pPr>
            <a:r>
              <a:rPr lang="en-MY" sz="2400" dirty="0">
                <a:solidFill>
                  <a:schemeClr val="tx1"/>
                </a:solidFill>
                <a:effectLst/>
                <a:latin typeface="Cascadia Code" panose="020B0609020000020004" pitchFamily="49" charset="0"/>
                <a:cs typeface="Cascadia Code" panose="020B0609020000020004" pitchFamily="49" charset="0"/>
              </a:rPr>
              <a:t>        raise </a:t>
            </a:r>
            <a:r>
              <a:rPr lang="en-MY" sz="2400" dirty="0" err="1">
                <a:solidFill>
                  <a:schemeClr val="tx1"/>
                </a:solidFill>
                <a:effectLst/>
                <a:latin typeface="Cascadia Code" panose="020B0609020000020004" pitchFamily="49" charset="0"/>
                <a:cs typeface="Cascadia Code" panose="020B0609020000020004" pitchFamily="49" charset="0"/>
              </a:rPr>
              <a:t>ValueError</a:t>
            </a:r>
            <a:r>
              <a:rPr lang="en-MY" sz="2400" dirty="0">
                <a:solidFill>
                  <a:schemeClr val="tx1"/>
                </a:solidFill>
                <a:effectLst/>
                <a:latin typeface="Cascadia Code" panose="020B0609020000020004" pitchFamily="49" charset="0"/>
                <a:cs typeface="Cascadia Code" panose="020B0609020000020004" pitchFamily="49" charset="0"/>
              </a:rPr>
              <a:t>("mode must be '</a:t>
            </a:r>
            <a:r>
              <a:rPr lang="en-MY" sz="2400" dirty="0" err="1">
                <a:solidFill>
                  <a:schemeClr val="tx1"/>
                </a:solidFill>
                <a:effectLst/>
                <a:latin typeface="Cascadia Code" panose="020B0609020000020004" pitchFamily="49" charset="0"/>
                <a:cs typeface="Cascadia Code" panose="020B0609020000020004" pitchFamily="49" charset="0"/>
              </a:rPr>
              <a:t>ucs</a:t>
            </a:r>
            <a:r>
              <a:rPr lang="en-MY" sz="2400" dirty="0">
                <a:solidFill>
                  <a:schemeClr val="tx1"/>
                </a:solidFill>
                <a:effectLst/>
                <a:latin typeface="Cascadia Code" panose="020B0609020000020004" pitchFamily="49" charset="0"/>
                <a:cs typeface="Cascadia Code" panose="020B0609020000020004" pitchFamily="49" charset="0"/>
              </a:rPr>
              <a:t>', '</a:t>
            </a:r>
            <a:r>
              <a:rPr lang="en-MY" sz="2400" dirty="0" err="1">
                <a:solidFill>
                  <a:schemeClr val="tx1"/>
                </a:solidFill>
                <a:effectLst/>
                <a:latin typeface="Cascadia Code" panose="020B0609020000020004" pitchFamily="49" charset="0"/>
                <a:cs typeface="Cascadia Code" panose="020B0609020000020004" pitchFamily="49" charset="0"/>
              </a:rPr>
              <a:t>gbfs'</a:t>
            </a:r>
            <a:r>
              <a:rPr lang="en-MY" sz="2400" dirty="0">
                <a:solidFill>
                  <a:schemeClr val="tx1"/>
                </a:solidFill>
                <a:effectLst/>
                <a:latin typeface="Cascadia Code" panose="020B0609020000020004" pitchFamily="49" charset="0"/>
                <a:cs typeface="Cascadia Code" panose="020B0609020000020004" pitchFamily="49" charset="0"/>
              </a:rPr>
              <a:t> or '</a:t>
            </a:r>
            <a:r>
              <a:rPr lang="en-MY" sz="2400" dirty="0" err="1">
                <a:solidFill>
                  <a:schemeClr val="tx1"/>
                </a:solidFill>
                <a:effectLst/>
                <a:latin typeface="Cascadia Code" panose="020B0609020000020004" pitchFamily="49" charset="0"/>
                <a:cs typeface="Cascadia Code" panose="020B0609020000020004" pitchFamily="49" charset="0"/>
              </a:rPr>
              <a:t>astar</a:t>
            </a:r>
            <a:r>
              <a:rPr lang="en-MY" sz="2400" dirty="0">
                <a:solidFill>
                  <a:schemeClr val="tx1"/>
                </a:solidFill>
                <a:effectLst/>
                <a:latin typeface="Cascadia Code" panose="020B0609020000020004" pitchFamily="49" charset="0"/>
                <a:cs typeface="Cascadia Code" panose="020B0609020000020004" pitchFamily="49" charset="0"/>
              </a:rPr>
              <a:t>'")</a:t>
            </a:r>
          </a:p>
          <a:p>
            <a:pPr rtl="0">
              <a:buNone/>
            </a:pPr>
            <a:r>
              <a:rPr lang="en-MY" sz="2400" dirty="0"/>
              <a:t>Guards against typos — only three valid modes.</a:t>
            </a:r>
          </a:p>
          <a:p>
            <a:pPr rtl="0">
              <a:buNone/>
            </a:pPr>
            <a:endParaRPr lang="en-MY" sz="2400" dirty="0"/>
          </a:p>
          <a:p>
            <a:pPr rtl="0">
              <a:buNone/>
            </a:pPr>
            <a:r>
              <a:rPr lang="en-MY" sz="2400" dirty="0">
                <a:solidFill>
                  <a:schemeClr val="tx1"/>
                </a:solidFill>
                <a:effectLst/>
                <a:latin typeface="+mn-lt"/>
              </a:rPr>
              <a:t>    	   </a:t>
            </a:r>
            <a:r>
              <a:rPr lang="en-MY" sz="2400" dirty="0">
                <a:solidFill>
                  <a:schemeClr val="tx1"/>
                </a:solidFill>
                <a:effectLst/>
                <a:latin typeface="Cascadia Code" panose="020B0609020000020004" pitchFamily="49" charset="0"/>
                <a:cs typeface="Cascadia Code" panose="020B0609020000020004" pitchFamily="49" charset="0"/>
              </a:rPr>
              <a:t>for neighbours in </a:t>
            </a:r>
            <a:r>
              <a:rPr lang="en-MY" sz="2400" dirty="0" err="1">
                <a:solidFill>
                  <a:schemeClr val="tx1"/>
                </a:solidFill>
                <a:effectLst/>
                <a:latin typeface="Cascadia Code" panose="020B0609020000020004" pitchFamily="49" charset="0"/>
                <a:cs typeface="Cascadia Code" panose="020B0609020000020004" pitchFamily="49" charset="0"/>
              </a:rPr>
              <a:t>graph.values</a:t>
            </a:r>
            <a:r>
              <a:rPr lang="en-MY" sz="2400" dirty="0">
                <a:solidFill>
                  <a:schemeClr val="tx1"/>
                </a:solidFill>
                <a:effectLst/>
                <a:latin typeface="Cascadia Code" panose="020B0609020000020004" pitchFamily="49" charset="0"/>
                <a:cs typeface="Cascadia Code" panose="020B0609020000020004" pitchFamily="49" charset="0"/>
              </a:rPr>
              <a:t>():</a:t>
            </a:r>
          </a:p>
          <a:p>
            <a:pPr rtl="0">
              <a:buNone/>
            </a:pPr>
            <a:r>
              <a:rPr lang="en-MY" sz="2400" dirty="0">
                <a:solidFill>
                  <a:schemeClr val="tx1"/>
                </a:solidFill>
                <a:effectLst/>
                <a:latin typeface="Cascadia Code" panose="020B0609020000020004" pitchFamily="49" charset="0"/>
                <a:cs typeface="Cascadia Code" panose="020B0609020000020004" pitchFamily="49" charset="0"/>
              </a:rPr>
              <a:t>        if any(cost &lt; 0 for _, cost in neighbours):</a:t>
            </a:r>
          </a:p>
          <a:p>
            <a:pPr rtl="0">
              <a:buNone/>
            </a:pPr>
            <a:r>
              <a:rPr lang="en-MY" sz="2400" dirty="0">
                <a:solidFill>
                  <a:schemeClr val="tx1"/>
                </a:solidFill>
                <a:effectLst/>
                <a:latin typeface="Cascadia Code" panose="020B0609020000020004" pitchFamily="49" charset="0"/>
                <a:cs typeface="Cascadia Code" panose="020B0609020000020004" pitchFamily="49" charset="0"/>
              </a:rPr>
              <a:t>            raise </a:t>
            </a:r>
            <a:r>
              <a:rPr lang="en-MY" sz="2400" dirty="0" err="1">
                <a:solidFill>
                  <a:schemeClr val="tx1"/>
                </a:solidFill>
                <a:effectLst/>
                <a:latin typeface="Cascadia Code" panose="020B0609020000020004" pitchFamily="49" charset="0"/>
                <a:cs typeface="Cascadia Code" panose="020B0609020000020004" pitchFamily="49" charset="0"/>
              </a:rPr>
              <a:t>ValueError</a:t>
            </a:r>
            <a:r>
              <a:rPr lang="en-MY" sz="2400" dirty="0">
                <a:solidFill>
                  <a:schemeClr val="tx1"/>
                </a:solidFill>
                <a:effectLst/>
                <a:latin typeface="Cascadia Code" panose="020B0609020000020004" pitchFamily="49" charset="0"/>
                <a:cs typeface="Cascadia Code" panose="020B0609020000020004" pitchFamily="49" charset="0"/>
              </a:rPr>
              <a:t>("edge costs must be non-negative")</a:t>
            </a:r>
          </a:p>
          <a:p>
            <a:pPr rtl="0">
              <a:buNone/>
            </a:pPr>
            <a:r>
              <a:rPr lang="en-MY" sz="2400" dirty="0"/>
              <a:t>UCS's cheapest-first guarantee only holds if no route has a negative distance (which wouldn't make physical sense anyway) — this check protects against a broken/corrupted graph.</a:t>
            </a:r>
          </a:p>
          <a:p>
            <a:pPr rtl="0">
              <a:buNone/>
            </a:pPr>
            <a:endParaRPr lang="en-MY" sz="2400" dirty="0"/>
          </a:p>
          <a:p>
            <a:pPr rtl="0">
              <a:buNone/>
            </a:pPr>
            <a:r>
              <a:rPr lang="en-MY" sz="2400" dirty="0">
                <a:solidFill>
                  <a:schemeClr val="tx1"/>
                </a:solidFill>
                <a:effectLst/>
                <a:latin typeface="+mn-lt"/>
              </a:rPr>
              <a:t>    	    </a:t>
            </a:r>
            <a:r>
              <a:rPr lang="en-MY" sz="2400" dirty="0">
                <a:solidFill>
                  <a:schemeClr val="tx1"/>
                </a:solidFill>
                <a:effectLst/>
                <a:latin typeface="Cascadia Code" panose="020B0609020000020004" pitchFamily="49" charset="0"/>
                <a:cs typeface="Cascadia Code" panose="020B0609020000020004" pitchFamily="49" charset="0"/>
              </a:rPr>
              <a:t>h = heuristic or (lambda state: 0.0)</a:t>
            </a:r>
          </a:p>
          <a:p>
            <a:pPr rtl="0">
              <a:buNone/>
            </a:pPr>
            <a:r>
              <a:rPr lang="en-MY" sz="2400" dirty="0"/>
              <a:t>If no heuristic function is supplied (which is the case for plain UCS), use a fake one that always returns 0 — this makes UCS just a special case of the same code, not a separate algorithm.</a:t>
            </a:r>
          </a:p>
        </p:txBody>
      </p:sp>
    </p:spTree>
    <p:extLst>
      <p:ext uri="{BB962C8B-B14F-4D97-AF65-F5344CB8AC3E}">
        <p14:creationId xmlns:p14="http://schemas.microsoft.com/office/powerpoint/2010/main" val="130989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DF832-F727-8624-D890-9A4D22AC28C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F30F6AA-7BAB-04DA-65CD-B3F320D98CB2}"/>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74B301A9-1B25-2462-05AB-D9B31FD93198}"/>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5847FEE2-7FDE-B89A-EA51-94FDB3745582}"/>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AutoShape 2">
            <a:extLst>
              <a:ext uri="{FF2B5EF4-FFF2-40B4-BE49-F238E27FC236}">
                <a16:creationId xmlns:a16="http://schemas.microsoft.com/office/drawing/2014/main" id="{E8F57430-53D9-0A08-61AE-132F0ADEF935}"/>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A2E23C82-CD76-59F9-DB8B-B1D4BF44A1BE}"/>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EE1B3897-AAC4-F18A-3337-1151D8DABD1D}"/>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F9A07FED-0AFC-22C7-868B-B2F5531F812D}"/>
              </a:ext>
            </a:extLst>
          </p:cNvPr>
          <p:cNvSpPr txBox="1"/>
          <p:nvPr/>
        </p:nvSpPr>
        <p:spPr>
          <a:xfrm>
            <a:off x="902970" y="1316504"/>
            <a:ext cx="16904970" cy="7478970"/>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def priority(state, g):</a:t>
            </a:r>
          </a:p>
          <a:p>
            <a:r>
              <a:rPr lang="en-MY" sz="2400" dirty="0">
                <a:latin typeface="Cascadia Code" panose="020B0609020000020004" pitchFamily="49" charset="0"/>
                <a:cs typeface="Cascadia Code" panose="020B0609020000020004" pitchFamily="49" charset="0"/>
              </a:rPr>
              <a:t>        if mode == "</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g</a:t>
            </a:r>
          </a:p>
          <a:p>
            <a:r>
              <a:rPr lang="en-MY" sz="2400" dirty="0">
                <a:latin typeface="Cascadia Code" panose="020B0609020000020004" pitchFamily="49" charset="0"/>
                <a:cs typeface="Cascadia Code" panose="020B0609020000020004" pitchFamily="49" charset="0"/>
              </a:rPr>
              <a:t>        if mode == "</a:t>
            </a:r>
            <a:r>
              <a:rPr lang="en-MY" sz="2400" dirty="0" err="1">
                <a:latin typeface="Cascadia Code" panose="020B0609020000020004" pitchFamily="49" charset="0"/>
                <a:cs typeface="Cascadia Code" panose="020B0609020000020004" pitchFamily="49" charset="0"/>
              </a:rPr>
              <a:t>gbfs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h(state)</a:t>
            </a:r>
          </a:p>
          <a:p>
            <a:r>
              <a:rPr lang="en-MY" sz="2400" dirty="0">
                <a:latin typeface="Cascadia Code" panose="020B0609020000020004" pitchFamily="49" charset="0"/>
                <a:cs typeface="Cascadia Code" panose="020B0609020000020004" pitchFamily="49" charset="0"/>
              </a:rPr>
              <a:t>        return g + h(state)</a:t>
            </a:r>
          </a:p>
          <a:p>
            <a:r>
              <a:rPr lang="en-MY" sz="2400" dirty="0">
                <a:cs typeface="Cascadia Code" panose="020B0609020000020004" pitchFamily="49" charset="0"/>
              </a:rPr>
              <a:t>This is the heart of the "one loop, three algorithms" trick: </a:t>
            </a:r>
            <a:r>
              <a:rPr lang="en-MY" sz="2400" b="1" dirty="0">
                <a:cs typeface="Cascadia Code" panose="020B0609020000020004" pitchFamily="49" charset="0"/>
              </a:rPr>
              <a:t>UCS</a:t>
            </a:r>
            <a:r>
              <a:rPr lang="en-MY" sz="2400" dirty="0">
                <a:cs typeface="Cascadia Code" panose="020B0609020000020004" pitchFamily="49" charset="0"/>
              </a:rPr>
              <a:t> ranks by real distance travelled so far (g). </a:t>
            </a:r>
            <a:r>
              <a:rPr lang="en-MY" sz="2400" b="1" dirty="0">
                <a:cs typeface="Cascadia Code" panose="020B0609020000020004" pitchFamily="49" charset="0"/>
              </a:rPr>
              <a:t>GBFS</a:t>
            </a:r>
            <a:r>
              <a:rPr lang="en-MY" sz="2400" dirty="0">
                <a:cs typeface="Cascadia Code" panose="020B0609020000020004" pitchFamily="49" charset="0"/>
              </a:rPr>
              <a:t> ranks purely by the estimated distance remaining (h), ignoring what's already been spent. </a:t>
            </a:r>
            <a:r>
              <a:rPr lang="en-MY" sz="2400" b="1" dirty="0">
                <a:cs typeface="Cascadia Code" panose="020B0609020000020004" pitchFamily="49" charset="0"/>
              </a:rPr>
              <a:t>A*</a:t>
            </a:r>
            <a:r>
              <a:rPr lang="en-MY" sz="2400" dirty="0">
                <a:cs typeface="Cascadia Code" panose="020B0609020000020004" pitchFamily="49" charset="0"/>
              </a:rPr>
              <a:t> ranks by both combined — real cost so far </a:t>
            </a:r>
            <a:r>
              <a:rPr lang="en-MY" sz="2400" i="1" dirty="0">
                <a:cs typeface="Cascadia Code" panose="020B0609020000020004" pitchFamily="49" charset="0"/>
              </a:rPr>
              <a:t>plus</a:t>
            </a:r>
            <a:r>
              <a:rPr lang="en-MY" sz="2400" dirty="0">
                <a:cs typeface="Cascadia Code" panose="020B0609020000020004" pitchFamily="49" charset="0"/>
              </a:rPr>
              <a:t> estimated cost remaining.</a:t>
            </a:r>
          </a:p>
          <a:p>
            <a:endParaRPr lang="en-MY" sz="2400" dirty="0"/>
          </a:p>
          <a:p>
            <a:r>
              <a:rPr lang="en-MY" sz="2400" dirty="0">
                <a:latin typeface="Cascadia Code" panose="020B0609020000020004" pitchFamily="49" charset="0"/>
                <a:cs typeface="Cascadia Code" panose="020B0609020000020004" pitchFamily="49" charset="0"/>
              </a:rPr>
              <a:t>started = </a:t>
            </a:r>
            <a:r>
              <a:rPr lang="en-MY" sz="2400" dirty="0" err="1">
                <a:latin typeface="Cascadia Code" panose="020B0609020000020004" pitchFamily="49" charset="0"/>
                <a:cs typeface="Cascadia Code" panose="020B0609020000020004" pitchFamily="49" charset="0"/>
              </a:rPr>
              <a:t>perf_counter</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counter = 0</a:t>
            </a:r>
          </a:p>
          <a:p>
            <a:r>
              <a:rPr lang="en-MY" sz="2400" dirty="0">
                <a:latin typeface="Cascadia Code" panose="020B0609020000020004" pitchFamily="49" charset="0"/>
                <a:cs typeface="Cascadia Code" panose="020B0609020000020004" pitchFamily="49" charset="0"/>
              </a:rPr>
              <a:t>    frontier = [(priority(start, 0.0), counter, start, 0.0)]</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best_g</a:t>
            </a:r>
            <a:r>
              <a:rPr lang="en-MY" sz="2400" dirty="0">
                <a:latin typeface="Cascadia Code" panose="020B0609020000020004" pitchFamily="49" charset="0"/>
                <a:cs typeface="Cascadia Code" panose="020B0609020000020004" pitchFamily="49" charset="0"/>
              </a:rPr>
              <a:t> = {start: 0.0}</a:t>
            </a:r>
          </a:p>
          <a:p>
            <a:r>
              <a:rPr lang="en-MY" sz="2400" dirty="0">
                <a:latin typeface="Cascadia Code" panose="020B0609020000020004" pitchFamily="49" charset="0"/>
                <a:cs typeface="Cascadia Code" panose="020B0609020000020004" pitchFamily="49" charset="0"/>
              </a:rPr>
              <a:t>    parent = {start: None}</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expanded_states</a:t>
            </a:r>
            <a:r>
              <a:rPr lang="en-MY" sz="2400" dirty="0">
                <a:latin typeface="Cascadia Code" panose="020B0609020000020004" pitchFamily="49" charset="0"/>
                <a:cs typeface="Cascadia Code" panose="020B0609020000020004" pitchFamily="49" charset="0"/>
              </a:rPr>
              <a:t> = set()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 1</a:t>
            </a:r>
          </a:p>
          <a:p>
            <a:r>
              <a:rPr lang="en-MY" sz="2400" dirty="0"/>
              <a:t>Sets up the priority queue. Each entry is a 4-item tuple: (priority, counter, airport, distance-so-far). counter is a tie-breaker — if two entries have the exact same priority, Python would otherwise try to compare the airport names/types directly, which can error out; the counter guarantees a stable, always-comparable order instead. </a:t>
            </a:r>
            <a:r>
              <a:rPr lang="en-MY" sz="2400" dirty="0" err="1"/>
              <a:t>best_g</a:t>
            </a:r>
            <a:r>
              <a:rPr lang="en-MY" sz="2400" dirty="0"/>
              <a:t> tracks the cheapest known distance to reach each airport so far.</a:t>
            </a:r>
          </a:p>
        </p:txBody>
      </p:sp>
    </p:spTree>
    <p:extLst>
      <p:ext uri="{BB962C8B-B14F-4D97-AF65-F5344CB8AC3E}">
        <p14:creationId xmlns:p14="http://schemas.microsoft.com/office/powerpoint/2010/main" val="620220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042B-2799-C026-C0A3-3C876F0B19D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C06E386-723C-AE15-AC52-54225FF2802E}"/>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AF66BA7B-135C-AA16-3BA7-FF87C27BE499}"/>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82BD641A-C5E4-8447-7C0E-1472343D7A07}"/>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6" name="AutoShape 2">
            <a:extLst>
              <a:ext uri="{FF2B5EF4-FFF2-40B4-BE49-F238E27FC236}">
                <a16:creationId xmlns:a16="http://schemas.microsoft.com/office/drawing/2014/main" id="{A8CAF189-BC07-F82F-14CD-53BF2449401E}"/>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829E577D-C68B-B08B-4086-E87F1B87C6A0}"/>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E8E0AB37-CEB9-F320-07B8-12C2F6F3A2C8}"/>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674044EF-8C6C-44BF-BB6B-673658C6D114}"/>
              </a:ext>
            </a:extLst>
          </p:cNvPr>
          <p:cNvSpPr txBox="1"/>
          <p:nvPr/>
        </p:nvSpPr>
        <p:spPr>
          <a:xfrm>
            <a:off x="1080135" y="1458018"/>
            <a:ext cx="16127730" cy="6001643"/>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while frontier:</a:t>
            </a:r>
          </a:p>
          <a:p>
            <a:r>
              <a:rPr lang="en-MY" sz="2400" dirty="0">
                <a:latin typeface="Cascadia Code" panose="020B0609020000020004" pitchFamily="49" charset="0"/>
                <a:cs typeface="Cascadia Code" panose="020B0609020000020004" pitchFamily="49" charset="0"/>
              </a:rPr>
              <a:t>        _, _, state, g = </a:t>
            </a:r>
            <a:r>
              <a:rPr lang="en-MY" sz="2400" dirty="0" err="1">
                <a:latin typeface="Cascadia Code" panose="020B0609020000020004" pitchFamily="49" charset="0"/>
                <a:cs typeface="Cascadia Code" panose="020B0609020000020004" pitchFamily="49" charset="0"/>
              </a:rPr>
              <a:t>heappop</a:t>
            </a:r>
            <a:r>
              <a:rPr lang="en-MY" sz="2400" dirty="0">
                <a:latin typeface="Cascadia Code" panose="020B0609020000020004" pitchFamily="49" charset="0"/>
                <a:cs typeface="Cascadia Code" panose="020B0609020000020004" pitchFamily="49" charset="0"/>
              </a:rPr>
              <a:t>(frontier)</a:t>
            </a:r>
          </a:p>
          <a:p>
            <a:r>
              <a:rPr lang="en-MY" sz="2400" dirty="0"/>
              <a:t>Pops the entry with the </a:t>
            </a:r>
            <a:r>
              <a:rPr lang="en-MY" sz="2400" b="1" dirty="0"/>
              <a:t>lowest priority value</a:t>
            </a:r>
            <a:r>
              <a:rPr lang="en-MY" sz="2400" dirty="0"/>
              <a:t> (that's what a min-heap guarantees) — this is what makes it "expand the most promising path so far" instead of "oldest" or "newest."</a:t>
            </a:r>
          </a:p>
          <a:p>
            <a:endParaRPr lang="en-MY" sz="2400" dirty="0"/>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if state in </a:t>
            </a:r>
            <a:r>
              <a:rPr lang="en-MY" sz="2400" dirty="0" err="1">
                <a:latin typeface="Cascadia Code" panose="020B0609020000020004" pitchFamily="49" charset="0"/>
                <a:cs typeface="Cascadia Code" panose="020B0609020000020004" pitchFamily="49" charset="0"/>
              </a:rPr>
              <a:t>expanded_states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continue</a:t>
            </a:r>
          </a:p>
          <a:p>
            <a:r>
              <a:rPr lang="en-MY" sz="2400" dirty="0"/>
              <a:t>It's possible for the same airport to get added to the frontier multiple times (once via an expensive route, once via a cheaper one found later). If we've already properly finished with this airport, skip this stale, worse copy.</a:t>
            </a:r>
          </a:p>
          <a:p>
            <a:endParaRPr lang="en-MY" sz="2400" dirty="0"/>
          </a:p>
          <a:p>
            <a:r>
              <a:rPr lang="en-MY" sz="2400" dirty="0">
                <a:latin typeface="Cascadia Code" panose="020B0609020000020004" pitchFamily="49" charset="0"/>
                <a:cs typeface="Cascadia Code" panose="020B0609020000020004" pitchFamily="49" charset="0"/>
              </a:rPr>
              <a:t>if state == goal:</a:t>
            </a:r>
          </a:p>
          <a:p>
            <a:r>
              <a:rPr lang="en-MY" sz="2400" dirty="0">
                <a:latin typeface="Cascadia Code" panose="020B0609020000020004" pitchFamily="49" charset="0"/>
                <a:cs typeface="Cascadia Code" panose="020B0609020000020004" pitchFamily="49" charset="0"/>
              </a:rPr>
              <a:t>            return _result(True, parent, goal, graph,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expanded_states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started)</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expanded_states.add</a:t>
            </a:r>
            <a:r>
              <a:rPr lang="en-MY" sz="2400" dirty="0">
                <a:latin typeface="Cascadia Code" panose="020B0609020000020004" pitchFamily="49" charset="0"/>
                <a:cs typeface="Cascadia Code" panose="020B0609020000020004" pitchFamily="49" charset="0"/>
              </a:rPr>
              <a:t>(state)</a:t>
            </a:r>
          </a:p>
          <a:p>
            <a:r>
              <a:rPr lang="en-MY" sz="2400" dirty="0"/>
              <a:t>Same idea as BFS/DFS: check for the goal, otherwise mark this airport as done.</a:t>
            </a:r>
          </a:p>
        </p:txBody>
      </p:sp>
    </p:spTree>
    <p:extLst>
      <p:ext uri="{BB962C8B-B14F-4D97-AF65-F5344CB8AC3E}">
        <p14:creationId xmlns:p14="http://schemas.microsoft.com/office/powerpoint/2010/main" val="224171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E694-25AF-002F-3CA3-0BC1B05DD6C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3ABC8F3-F469-619D-D20B-6C5999872B84}"/>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3F50A5E6-255C-0A20-BAF7-FC4AA2F23688}"/>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67102636-9EB3-4BB0-6DE4-A79D094CBFF3}"/>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6" name="AutoShape 2">
            <a:extLst>
              <a:ext uri="{FF2B5EF4-FFF2-40B4-BE49-F238E27FC236}">
                <a16:creationId xmlns:a16="http://schemas.microsoft.com/office/drawing/2014/main" id="{BE0D2BB5-CA4B-23D2-CE22-3BB74BF20292}"/>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E5D84D25-6B01-DBD0-2CEA-5367976BF000}"/>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FD661CA5-7E46-A009-9ACB-BED0CF5803DF}"/>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utils/core.py</a:t>
            </a:r>
          </a:p>
        </p:txBody>
      </p:sp>
      <p:sp>
        <p:nvSpPr>
          <p:cNvPr id="12" name="TextBox 11">
            <a:extLst>
              <a:ext uri="{FF2B5EF4-FFF2-40B4-BE49-F238E27FC236}">
                <a16:creationId xmlns:a16="http://schemas.microsoft.com/office/drawing/2014/main" id="{CB2CCA76-A90B-7BE7-2B27-577EF12F12E3}"/>
              </a:ext>
            </a:extLst>
          </p:cNvPr>
          <p:cNvSpPr txBox="1"/>
          <p:nvPr/>
        </p:nvSpPr>
        <p:spPr>
          <a:xfrm>
            <a:off x="1080135" y="1381818"/>
            <a:ext cx="16127730" cy="7017306"/>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for neighbour, cost in </a:t>
            </a:r>
            <a:r>
              <a:rPr lang="en-MY" sz="2400" dirty="0" err="1">
                <a:latin typeface="Cascadia Code" panose="020B0609020000020004" pitchFamily="49" charset="0"/>
                <a:cs typeface="Cascadia Code" panose="020B0609020000020004" pitchFamily="49" charset="0"/>
              </a:rPr>
              <a:t>graph.get</a:t>
            </a:r>
            <a:r>
              <a:rPr lang="en-MY" sz="2400" dirty="0">
                <a:latin typeface="Cascadia Code" panose="020B0609020000020004" pitchFamily="49" charset="0"/>
                <a:cs typeface="Cascadia Code" panose="020B0609020000020004" pitchFamily="49" charset="0"/>
              </a:rPr>
              <a:t>(state, ()):</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new_g</a:t>
            </a:r>
            <a:r>
              <a:rPr lang="en-MY" sz="2400" dirty="0">
                <a:latin typeface="Cascadia Code" panose="020B0609020000020004" pitchFamily="49" charset="0"/>
                <a:cs typeface="Cascadia Code" panose="020B0609020000020004" pitchFamily="49" charset="0"/>
              </a:rPr>
              <a:t> = g + cost</a:t>
            </a:r>
          </a:p>
          <a:p>
            <a:r>
              <a:rPr lang="en-MY" sz="2400" dirty="0">
                <a:latin typeface="Cascadia Code" panose="020B0609020000020004" pitchFamily="49" charset="0"/>
                <a:cs typeface="Cascadia Code" panose="020B0609020000020004" pitchFamily="49" charset="0"/>
              </a:rPr>
              <a:t>            if neighbour not in </a:t>
            </a:r>
            <a:r>
              <a:rPr lang="en-MY" sz="2400" dirty="0" err="1">
                <a:latin typeface="Cascadia Code" panose="020B0609020000020004" pitchFamily="49" charset="0"/>
                <a:cs typeface="Cascadia Code" panose="020B0609020000020004" pitchFamily="49" charset="0"/>
              </a:rPr>
              <a:t>expanded_states</a:t>
            </a:r>
            <a:r>
              <a:rPr lang="en-MY" sz="2400" dirty="0">
                <a:latin typeface="Cascadia Code" panose="020B0609020000020004" pitchFamily="49" charset="0"/>
                <a:cs typeface="Cascadia Code" panose="020B0609020000020004" pitchFamily="49" charset="0"/>
              </a:rPr>
              <a:t> and </a:t>
            </a:r>
            <a:r>
              <a:rPr lang="en-MY" sz="2400" dirty="0" err="1">
                <a:latin typeface="Cascadia Code" panose="020B0609020000020004" pitchFamily="49" charset="0"/>
                <a:cs typeface="Cascadia Code" panose="020B0609020000020004" pitchFamily="49" charset="0"/>
              </a:rPr>
              <a:t>new_g</a:t>
            </a:r>
            <a:r>
              <a:rPr lang="en-MY" sz="2400" dirty="0">
                <a:latin typeface="Cascadia Code" panose="020B0609020000020004" pitchFamily="49" charset="0"/>
                <a:cs typeface="Cascadia Code" panose="020B0609020000020004" pitchFamily="49" charset="0"/>
              </a:rPr>
              <a:t> &lt; </a:t>
            </a:r>
            <a:r>
              <a:rPr lang="en-MY" sz="2400" dirty="0" err="1">
                <a:latin typeface="Cascadia Code" panose="020B0609020000020004" pitchFamily="49" charset="0"/>
                <a:cs typeface="Cascadia Code" panose="020B0609020000020004" pitchFamily="49" charset="0"/>
              </a:rPr>
              <a:t>best_g.get</a:t>
            </a:r>
            <a:r>
              <a:rPr lang="en-MY" sz="2400" dirty="0">
                <a:latin typeface="Cascadia Code" panose="020B0609020000020004" pitchFamily="49" charset="0"/>
                <a:cs typeface="Cascadia Code" panose="020B0609020000020004" pitchFamily="49" charset="0"/>
              </a:rPr>
              <a:t>(neighbour, inf):</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best_g</a:t>
            </a:r>
            <a:r>
              <a:rPr lang="en-MY" sz="2400" dirty="0">
                <a:latin typeface="Cascadia Code" panose="020B0609020000020004" pitchFamily="49" charset="0"/>
                <a:cs typeface="Cascadia Code" panose="020B0609020000020004" pitchFamily="49" charset="0"/>
              </a:rPr>
              <a:t>[neighbour] = </a:t>
            </a:r>
            <a:r>
              <a:rPr lang="en-MY" sz="2400" dirty="0" err="1">
                <a:latin typeface="Cascadia Code" panose="020B0609020000020004" pitchFamily="49" charset="0"/>
                <a:cs typeface="Cascadia Code" panose="020B0609020000020004" pitchFamily="49" charset="0"/>
              </a:rPr>
              <a:t>new_g</a:t>
            </a:r>
            <a:endParaRPr lang="en-MY" sz="2400" dirty="0">
              <a:latin typeface="Cascadia Code" panose="020B0609020000020004" pitchFamily="49" charset="0"/>
              <a:cs typeface="Cascadia Code" panose="020B0609020000020004" pitchFamily="49" charset="0"/>
            </a:endParaRPr>
          </a:p>
          <a:p>
            <a:r>
              <a:rPr lang="en-MY" sz="2400" dirty="0">
                <a:latin typeface="Cascadia Code" panose="020B0609020000020004" pitchFamily="49" charset="0"/>
                <a:cs typeface="Cascadia Code" panose="020B0609020000020004" pitchFamily="49" charset="0"/>
              </a:rPr>
              <a:t>                parent[neighbour] = state</a:t>
            </a:r>
          </a:p>
          <a:p>
            <a:r>
              <a:rPr lang="en-MY" sz="2400" dirty="0">
                <a:latin typeface="Cascadia Code" panose="020B0609020000020004" pitchFamily="49" charset="0"/>
                <a:cs typeface="Cascadia Code" panose="020B0609020000020004" pitchFamily="49" charset="0"/>
              </a:rPr>
              <a:t>                counter += 1</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heappush</a:t>
            </a:r>
            <a:r>
              <a:rPr lang="en-MY" sz="2400" dirty="0">
                <a:latin typeface="Cascadia Code" panose="020B0609020000020004" pitchFamily="49" charset="0"/>
                <a:cs typeface="Cascadia Code" panose="020B0609020000020004" pitchFamily="49" charset="0"/>
              </a:rPr>
              <a:t>(frontier, (priority(neighbour, </a:t>
            </a:r>
            <a:r>
              <a:rPr lang="en-MY" sz="2400" dirty="0" err="1">
                <a:latin typeface="Cascadia Code" panose="020B0609020000020004" pitchFamily="49" charset="0"/>
                <a:cs typeface="Cascadia Code" panose="020B0609020000020004" pitchFamily="49" charset="0"/>
              </a:rPr>
              <a:t>new_g</a:t>
            </a:r>
            <a:r>
              <a:rPr lang="en-MY" sz="2400" dirty="0">
                <a:latin typeface="Cascadia Code" panose="020B0609020000020004" pitchFamily="49" charset="0"/>
                <a:cs typeface="Cascadia Code" panose="020B0609020000020004" pitchFamily="49" charset="0"/>
              </a:rPr>
              <a:t>), counter, neighbour, </a:t>
            </a:r>
            <a:r>
              <a:rPr lang="en-MY" sz="2400" dirty="0" err="1">
                <a:latin typeface="Cascadia Code" panose="020B0609020000020004" pitchFamily="49" charset="0"/>
                <a:cs typeface="Cascadia Code" panose="020B0609020000020004" pitchFamily="49" charset="0"/>
              </a:rPr>
              <a:t>new_g</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 max(</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(frontier))</a:t>
            </a:r>
          </a:p>
          <a:p>
            <a:r>
              <a:rPr lang="en-MY" sz="2400" dirty="0">
                <a:latin typeface="Cascadia Code" panose="020B0609020000020004" pitchFamily="49" charset="0"/>
                <a:cs typeface="Cascadia Code" panose="020B0609020000020004" pitchFamily="49" charset="0"/>
              </a:rPr>
              <a:t>    return _result(False, parent, goal, graph,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expanded_states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max_frontier</a:t>
            </a:r>
            <a:r>
              <a:rPr lang="en-MY" sz="2400" dirty="0">
                <a:latin typeface="Cascadia Code" panose="020B0609020000020004" pitchFamily="49" charset="0"/>
                <a:cs typeface="Cascadia Code" panose="020B0609020000020004" pitchFamily="49" charset="0"/>
              </a:rPr>
              <a:t>, started)</a:t>
            </a:r>
          </a:p>
          <a:p>
            <a:r>
              <a:rPr lang="en-MY" sz="2400" dirty="0"/>
              <a:t>For each neighbour, calculate the total distance to reach it via </a:t>
            </a:r>
            <a:r>
              <a:rPr lang="en-MY" sz="2400" i="1" dirty="0"/>
              <a:t>this</a:t>
            </a:r>
            <a:r>
              <a:rPr lang="en-MY" sz="2400" dirty="0"/>
              <a:t> path. If we haven't finished with it yet, and this path is cheaper than any previously known way to reach it, update our records and push it onto the priority queue with its new priority.</a:t>
            </a:r>
          </a:p>
          <a:p>
            <a:endParaRPr lang="en-MY" sz="2400" dirty="0"/>
          </a:p>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(graph: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 start, goal) -&gt; </a:t>
            </a:r>
            <a:r>
              <a:rPr lang="en-MY" sz="2400" dirty="0" err="1">
                <a:latin typeface="Cascadia Code" panose="020B0609020000020004" pitchFamily="49" charset="0"/>
                <a:cs typeface="Cascadia Code" panose="020B0609020000020004" pitchFamily="49" charset="0"/>
              </a:rPr>
              <a:t>SearchResult</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a:t>
            </a:r>
            <a:r>
              <a:rPr lang="en-MY" sz="2400" dirty="0" err="1">
                <a:latin typeface="Cascadia Code" panose="020B0609020000020004" pitchFamily="49" charset="0"/>
                <a:cs typeface="Cascadia Code" panose="020B0609020000020004" pitchFamily="49" charset="0"/>
              </a:rPr>
              <a:t>best_first</a:t>
            </a:r>
            <a:r>
              <a:rPr lang="en-MY" sz="2400" dirty="0">
                <a:latin typeface="Cascadia Code" panose="020B0609020000020004" pitchFamily="49" charset="0"/>
                <a:cs typeface="Cascadia Code" panose="020B0609020000020004" pitchFamily="49" charset="0"/>
              </a:rPr>
              <a:t>(graph, start, goal, mode="</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a:t>
            </a:r>
          </a:p>
          <a:p>
            <a:r>
              <a:rPr lang="en-MY" sz="2400" dirty="0" err="1"/>
              <a:t>ucs</a:t>
            </a:r>
            <a:r>
              <a:rPr lang="en-MY" sz="2400" dirty="0"/>
              <a:t>(), </a:t>
            </a:r>
            <a:r>
              <a:rPr lang="en-MY" sz="2400" dirty="0" err="1"/>
              <a:t>gbfs</a:t>
            </a:r>
            <a:r>
              <a:rPr lang="en-MY" sz="2400" dirty="0"/>
              <a:t>(), and </a:t>
            </a:r>
            <a:r>
              <a:rPr lang="en-MY" sz="2400" dirty="0" err="1"/>
              <a:t>astar</a:t>
            </a:r>
            <a:r>
              <a:rPr lang="en-MY" sz="2400" dirty="0"/>
              <a:t>() are just thin, friendly wrappers — they don't repeat any logic, they just call </a:t>
            </a:r>
            <a:r>
              <a:rPr lang="en-MY" sz="2400" dirty="0" err="1"/>
              <a:t>best_first</a:t>
            </a:r>
            <a:r>
              <a:rPr lang="en-MY" sz="2400" dirty="0"/>
              <a:t>() with the right settings.</a:t>
            </a:r>
          </a:p>
          <a:p>
            <a:endParaRPr lang="en-MY" dirty="0"/>
          </a:p>
        </p:txBody>
      </p:sp>
    </p:spTree>
    <p:extLst>
      <p:ext uri="{BB962C8B-B14F-4D97-AF65-F5344CB8AC3E}">
        <p14:creationId xmlns:p14="http://schemas.microsoft.com/office/powerpoint/2010/main" val="3899486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A0DDB-B013-BE74-3400-849A161AF4B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1E7EEAC-20DB-E1D2-1951-85B405453699}"/>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AAC1DA0C-C9EC-7476-8F5C-7BBA92E006D3}"/>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999D53CC-37AD-C47F-6378-0062351CA68A}"/>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6" name="AutoShape 2">
            <a:extLst>
              <a:ext uri="{FF2B5EF4-FFF2-40B4-BE49-F238E27FC236}">
                <a16:creationId xmlns:a16="http://schemas.microsoft.com/office/drawing/2014/main" id="{6C1EE288-2622-E7B4-51C3-C5D44A965227}"/>
              </a:ext>
            </a:extLst>
          </p:cNvPr>
          <p:cNvSpPr/>
          <p:nvPr/>
        </p:nvSpPr>
        <p:spPr>
          <a:xfrm>
            <a:off x="756447" y="762291"/>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9AD5B8A1-96F1-DFDD-E2A9-5EC3DCA95DEA}"/>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E67AF679-0811-A615-06E3-DC94B16A5881}"/>
              </a:ext>
            </a:extLst>
          </p:cNvPr>
          <p:cNvSpPr txBox="1"/>
          <p:nvPr/>
        </p:nvSpPr>
        <p:spPr>
          <a:xfrm>
            <a:off x="936172" y="139662"/>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a:t>
            </a:r>
            <a:r>
              <a:rPr lang="en-MY" sz="4000" b="1" dirty="0"/>
              <a:t> </a:t>
            </a: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test_search.py</a:t>
            </a:r>
          </a:p>
        </p:txBody>
      </p:sp>
      <p:sp>
        <p:nvSpPr>
          <p:cNvPr id="12" name="TextBox 11">
            <a:extLst>
              <a:ext uri="{FF2B5EF4-FFF2-40B4-BE49-F238E27FC236}">
                <a16:creationId xmlns:a16="http://schemas.microsoft.com/office/drawing/2014/main" id="{F6A8A949-2558-BF1D-52CC-329661C3ED86}"/>
              </a:ext>
            </a:extLst>
          </p:cNvPr>
          <p:cNvSpPr txBox="1"/>
          <p:nvPr/>
        </p:nvSpPr>
        <p:spPr>
          <a:xfrm>
            <a:off x="302079" y="878497"/>
            <a:ext cx="17800863" cy="8586966"/>
          </a:xfrm>
          <a:prstGeom prst="rect">
            <a:avLst/>
          </a:prstGeom>
          <a:noFill/>
        </p:spPr>
        <p:txBody>
          <a:bodyPr wrap="square">
            <a:spAutoFit/>
          </a:bodyPr>
          <a:lstStyle/>
          <a:p>
            <a:r>
              <a:rPr lang="en-MY" sz="2300" b="1" dirty="0"/>
              <a:t>Test 1 - Start equals goal</a:t>
            </a:r>
            <a:br>
              <a:rPr lang="en-MY" sz="2300" dirty="0"/>
            </a:br>
            <a:r>
              <a:rPr lang="en-MY" sz="2300" dirty="0"/>
              <a:t>Runs BFS, DFS and UCS on a one-airport graph where start = goal. Checks each returns immediately: path is just the start airport, 0 hops, 0 cost, and nothing was expanded.</a:t>
            </a:r>
          </a:p>
          <a:p>
            <a:r>
              <a:rPr lang="en-MY" sz="2300" b="1" dirty="0"/>
              <a:t>Test 2  - Unreachable goal</a:t>
            </a:r>
            <a:br>
              <a:rPr lang="en-MY" sz="2300" dirty="0"/>
            </a:br>
            <a:r>
              <a:rPr lang="en-MY" sz="2300" dirty="0"/>
              <a:t>Builds a graph where the goal airport has no connection at all. Confirms BFS fails gracefully instead of crashing: found = False, empty path, hops = -1, and cost = infinity.</a:t>
            </a:r>
          </a:p>
          <a:p>
            <a:r>
              <a:rPr lang="en-MY" sz="2300" b="1" dirty="0"/>
              <a:t>Test 3 - Cycles terminate</a:t>
            </a:r>
            <a:br>
              <a:rPr lang="en-MY" sz="2300" dirty="0"/>
            </a:br>
            <a:r>
              <a:rPr lang="en-MY" sz="2300" dirty="0"/>
              <a:t>Builds a graph with a loop (A → B → A). Confirms DFS still finishes and finds the goal, proving the parent dictionary correctly stops it from revisiting the same airport forever.</a:t>
            </a:r>
          </a:p>
          <a:p>
            <a:r>
              <a:rPr lang="en-MY" sz="2300" b="1" dirty="0"/>
              <a:t>Test 4 - BFS vs UCS optimize different things</a:t>
            </a:r>
            <a:br>
              <a:rPr lang="en-MY" sz="2300" dirty="0"/>
            </a:br>
            <a:r>
              <a:rPr lang="en-MY" sz="2300" dirty="0"/>
              <a:t>Gives a graph with two routes: a short 1-hop but expensive path, and a longer 3-hop but cheaper path. Confirms BFS picks the fewest-hops route while UCS picks the cheapest-cost route — proving they solve different objectives.</a:t>
            </a:r>
          </a:p>
          <a:p>
            <a:r>
              <a:rPr lang="en-MY" sz="2300" b="1" dirty="0"/>
              <a:t>Test 5 - UCS updates to a cheaper path</a:t>
            </a:r>
            <a:br>
              <a:rPr lang="en-MY" sz="2300" dirty="0"/>
            </a:br>
            <a:r>
              <a:rPr lang="en-MY" sz="2300" dirty="0"/>
              <a:t>Gives a graph where an airport is first reached by an expensive route, then a cheaper route to the same airport is found later. Confirms UCS correctly replaces the expensive record with the cheaper one and returns the correct minimum-cost path.</a:t>
            </a:r>
          </a:p>
          <a:p>
            <a:r>
              <a:rPr lang="en-MY" sz="2300" b="1" dirty="0"/>
              <a:t>Test 6 - A* matches UCS with a good heuristic</a:t>
            </a:r>
            <a:br>
              <a:rPr lang="en-MY" sz="2300" dirty="0"/>
            </a:br>
            <a:r>
              <a:rPr lang="en-MY" sz="2300" dirty="0"/>
              <a:t>Runs A* and UCS on the same graph using a "consistent" heuristic (one that never overestimates). Confirms both return the exact same path cost, proving A* stays optimal when given a trustworthy heuristic.</a:t>
            </a:r>
          </a:p>
          <a:p>
            <a:r>
              <a:rPr lang="en-MY" sz="2300" b="1" dirty="0"/>
              <a:t>Test 7 - GBFS is not guaranteed optimal</a:t>
            </a:r>
            <a:br>
              <a:rPr lang="en-MY" sz="2300" dirty="0"/>
            </a:br>
            <a:r>
              <a:rPr lang="en-MY" sz="2300" dirty="0"/>
              <a:t>Uses a heuristic that looks promising but leads to an expensive actual path. Confirms GBFS's cost ends up higher than UCS's, proving GBFS can be misled since it ignores real path cost.</a:t>
            </a:r>
          </a:p>
          <a:p>
            <a:r>
              <a:rPr lang="en-MY" sz="2300" b="1" dirty="0"/>
              <a:t>Test 8 - Negative cost is rejected</a:t>
            </a:r>
            <a:br>
              <a:rPr lang="en-MY" sz="2300" dirty="0"/>
            </a:br>
            <a:r>
              <a:rPr lang="en-MY" sz="2300" dirty="0"/>
              <a:t>Passes a graph with a negative edge cost into UCS. Confirms it raises a clear </a:t>
            </a:r>
            <a:r>
              <a:rPr lang="en-MY" sz="2300" dirty="0" err="1"/>
              <a:t>ValueError</a:t>
            </a:r>
            <a:r>
              <a:rPr lang="en-MY" sz="2300" dirty="0"/>
              <a:t> instead of producing a wrong or broken result, since negative distances aren't physically valid.</a:t>
            </a:r>
          </a:p>
        </p:txBody>
      </p:sp>
    </p:spTree>
    <p:extLst>
      <p:ext uri="{BB962C8B-B14F-4D97-AF65-F5344CB8AC3E}">
        <p14:creationId xmlns:p14="http://schemas.microsoft.com/office/powerpoint/2010/main" val="4115905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19F1-021A-8CC7-EFB9-09548350D3A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8D93073-540C-7721-B458-273F40DD1CB9}"/>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3802BA7E-CA9D-34A6-067D-0A5ED0E432E5}"/>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E816993D-AFA7-90C6-8DFD-74181F772064}"/>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6" name="AutoShape 2">
            <a:extLst>
              <a:ext uri="{FF2B5EF4-FFF2-40B4-BE49-F238E27FC236}">
                <a16:creationId xmlns:a16="http://schemas.microsoft.com/office/drawing/2014/main" id="{844CE15D-3AE6-049C-AA71-A0E75AB2DAA9}"/>
              </a:ext>
            </a:extLst>
          </p:cNvPr>
          <p:cNvSpPr/>
          <p:nvPr/>
        </p:nvSpPr>
        <p:spPr>
          <a:xfrm>
            <a:off x="756447" y="8343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D2C50B86-44A1-2B5E-A8EB-174430B7897E}"/>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79B07B2F-2247-5F14-A17C-0FE207107FCD}"/>
              </a:ext>
            </a:extLst>
          </p:cNvPr>
          <p:cNvSpPr txBox="1"/>
          <p:nvPr/>
        </p:nvSpPr>
        <p:spPr>
          <a:xfrm>
            <a:off x="936172" y="95953"/>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a:t>
            </a:r>
            <a:r>
              <a:rPr lang="en-MY" sz="4000" b="1" dirty="0"/>
              <a:t> </a:t>
            </a: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openflights.py</a:t>
            </a:r>
          </a:p>
        </p:txBody>
      </p:sp>
      <p:sp>
        <p:nvSpPr>
          <p:cNvPr id="12" name="TextBox 11">
            <a:extLst>
              <a:ext uri="{FF2B5EF4-FFF2-40B4-BE49-F238E27FC236}">
                <a16:creationId xmlns:a16="http://schemas.microsoft.com/office/drawing/2014/main" id="{E24295AA-32C3-222D-96D3-2C895F232BB5}"/>
              </a:ext>
            </a:extLst>
          </p:cNvPr>
          <p:cNvSpPr txBox="1"/>
          <p:nvPr/>
        </p:nvSpPr>
        <p:spPr>
          <a:xfrm>
            <a:off x="979825" y="1447133"/>
            <a:ext cx="16050875" cy="4524315"/>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AIRPORT_COLUMNS = [...]</a:t>
            </a:r>
          </a:p>
          <a:p>
            <a:r>
              <a:rPr lang="en-MY" sz="2400" dirty="0"/>
              <a:t>The raw airport CSV has no header row — this list tells pandas what to name each column, in order.</a:t>
            </a:r>
          </a:p>
          <a:p>
            <a:endParaRPr lang="en-MY" sz="2400" dirty="0"/>
          </a:p>
          <a:p>
            <a:r>
              <a:rPr lang="en-MY" sz="2400" dirty="0">
                <a:latin typeface="Cascadia Code" panose="020B0609020000020004" pitchFamily="49" charset="0"/>
                <a:cs typeface="Cascadia Code" panose="020B0609020000020004" pitchFamily="49" charset="0"/>
              </a:rPr>
              <a:t>ROUTE_ALIASES = {</a:t>
            </a:r>
          </a:p>
          <a:p>
            <a:r>
              <a:rPr lang="en-MY" sz="2400" dirty="0">
                <a:latin typeface="Cascadia Code" panose="020B0609020000020004" pitchFamily="49" charset="0"/>
                <a:cs typeface="Cascadia Code" panose="020B0609020000020004" pitchFamily="49" charset="0"/>
              </a:rPr>
              <a:t>    "source airport": "source",</a:t>
            </a:r>
          </a:p>
          <a:p>
            <a:r>
              <a:rPr lang="en-MY" sz="2400" dirty="0">
                <a:latin typeface="Cascadia Code" panose="020B0609020000020004" pitchFamily="49" charset="0"/>
                <a:cs typeface="Cascadia Code" panose="020B0609020000020004" pitchFamily="49" charset="0"/>
              </a:rPr>
              <a:t>    "source airport id": "</a:t>
            </a:r>
            <a:r>
              <a:rPr lang="en-MY" sz="2400" dirty="0" err="1">
                <a:latin typeface="Cascadia Code" panose="020B0609020000020004" pitchFamily="49" charset="0"/>
                <a:cs typeface="Cascadia Code" panose="020B0609020000020004" pitchFamily="49" charset="0"/>
              </a:rPr>
              <a:t>source_id</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"destination </a:t>
            </a:r>
            <a:r>
              <a:rPr lang="en-MY" sz="2400" dirty="0" err="1">
                <a:latin typeface="Cascadia Code" panose="020B0609020000020004" pitchFamily="49" charset="0"/>
                <a:cs typeface="Cascadia Code" panose="020B0609020000020004" pitchFamily="49" charset="0"/>
              </a:rPr>
              <a:t>apirport</a:t>
            </a:r>
            <a:r>
              <a:rPr lang="en-MY" sz="2400" dirty="0">
                <a:latin typeface="Cascadia Code" panose="020B0609020000020004" pitchFamily="49" charset="0"/>
                <a:cs typeface="Cascadia Code" panose="020B0609020000020004" pitchFamily="49" charset="0"/>
              </a:rPr>
              <a:t>": "destination",   # &lt;- note the typo!</a:t>
            </a:r>
          </a:p>
          <a:p>
            <a:r>
              <a:rPr lang="en-MY" sz="2400" dirty="0">
                <a:latin typeface="Cascadia Code" panose="020B0609020000020004" pitchFamily="49" charset="0"/>
                <a:cs typeface="Cascadia Code" panose="020B0609020000020004" pitchFamily="49" charset="0"/>
              </a:rPr>
              <a:t>    "destination airport": "destination",</a:t>
            </a:r>
          </a:p>
          <a:p>
            <a:r>
              <a:rPr lang="en-MY" sz="2400" dirty="0">
                <a:latin typeface="Cascadia Code" panose="020B0609020000020004" pitchFamily="49" charset="0"/>
                <a:cs typeface="Cascadia Code" panose="020B0609020000020004" pitchFamily="49" charset="0"/>
              </a:rPr>
              <a:t>    "destination airport id": "</a:t>
            </a:r>
            <a:r>
              <a:rPr lang="en-MY" sz="2400" dirty="0" err="1">
                <a:latin typeface="Cascadia Code" panose="020B0609020000020004" pitchFamily="49" charset="0"/>
                <a:cs typeface="Cascadia Code" panose="020B0609020000020004" pitchFamily="49" charset="0"/>
              </a:rPr>
              <a:t>destination_id</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a:t>
            </a:r>
          </a:p>
          <a:p>
            <a:r>
              <a:rPr lang="en-MY" sz="2400" dirty="0"/>
              <a:t>The real-world route file has inconsistent/misspelled column names (notice "</a:t>
            </a:r>
            <a:r>
              <a:rPr lang="en-MY" sz="2400" dirty="0" err="1"/>
              <a:t>apirport</a:t>
            </a:r>
            <a:r>
              <a:rPr lang="en-MY" sz="2400" dirty="0"/>
              <a:t>" — a genuine typo in the source data). This dictionary renames whatever shows up into consistent, clean names.</a:t>
            </a:r>
          </a:p>
        </p:txBody>
      </p:sp>
    </p:spTree>
    <p:extLst>
      <p:ext uri="{BB962C8B-B14F-4D97-AF65-F5344CB8AC3E}">
        <p14:creationId xmlns:p14="http://schemas.microsoft.com/office/powerpoint/2010/main" val="3195015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612F1-B45F-0C8E-85EB-01833ACE3FC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918B8E2-EC9F-8694-BA5B-883C2E5F84D0}"/>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941F3249-11E6-E336-568D-A45A0811AAD5}"/>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45A72CD2-0D31-132D-D1A7-C8E64E1E2892}"/>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6" name="AutoShape 2">
            <a:extLst>
              <a:ext uri="{FF2B5EF4-FFF2-40B4-BE49-F238E27FC236}">
                <a16:creationId xmlns:a16="http://schemas.microsoft.com/office/drawing/2014/main" id="{AEAD9C7B-E067-9C35-9AC4-D15066E78124}"/>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0B545BC1-45DE-BAE9-986E-07DF995791EA}"/>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58AAC021-5E51-FDC5-DB54-E7A562C1D8D5}"/>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a:t>
            </a:r>
            <a:r>
              <a:rPr lang="en-MY" sz="4000" b="1" dirty="0"/>
              <a:t> </a:t>
            </a: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openflights.py</a:t>
            </a:r>
          </a:p>
        </p:txBody>
      </p:sp>
      <p:sp>
        <p:nvSpPr>
          <p:cNvPr id="12" name="TextBox 11">
            <a:extLst>
              <a:ext uri="{FF2B5EF4-FFF2-40B4-BE49-F238E27FC236}">
                <a16:creationId xmlns:a16="http://schemas.microsoft.com/office/drawing/2014/main" id="{AFED1B89-D83F-CB33-6345-65B1F4D2283E}"/>
              </a:ext>
            </a:extLst>
          </p:cNvPr>
          <p:cNvSpPr txBox="1"/>
          <p:nvPr/>
        </p:nvSpPr>
        <p:spPr>
          <a:xfrm>
            <a:off x="756447" y="1179196"/>
            <a:ext cx="16595382" cy="8586966"/>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(lat1, lon1, lat2, lon2) -&gt; float: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radius_km</a:t>
            </a:r>
            <a:r>
              <a:rPr lang="en-MY" sz="2400" dirty="0">
                <a:latin typeface="Cascadia Code" panose="020B0609020000020004" pitchFamily="49" charset="0"/>
                <a:cs typeface="Cascadia Code" panose="020B0609020000020004" pitchFamily="49" charset="0"/>
              </a:rPr>
              <a:t> = 6371.0088</a:t>
            </a:r>
          </a:p>
          <a:p>
            <a:r>
              <a:rPr lang="en-MY" sz="2400" dirty="0">
                <a:latin typeface="Cascadia Code" panose="020B0609020000020004" pitchFamily="49" charset="0"/>
                <a:cs typeface="Cascadia Code" panose="020B0609020000020004" pitchFamily="49" charset="0"/>
              </a:rPr>
              <a:t>    phi1, phi2 = radians(lat1), radians(lat2)</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delta_phi</a:t>
            </a:r>
            <a:r>
              <a:rPr lang="en-MY" sz="2400" dirty="0">
                <a:latin typeface="Cascadia Code" panose="020B0609020000020004" pitchFamily="49" charset="0"/>
                <a:cs typeface="Cascadia Code" panose="020B0609020000020004" pitchFamily="49" charset="0"/>
              </a:rPr>
              <a:t> = radians(lat2 - lat1)</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delta_lambda</a:t>
            </a:r>
            <a:r>
              <a:rPr lang="en-MY" sz="2400" dirty="0">
                <a:latin typeface="Cascadia Code" panose="020B0609020000020004" pitchFamily="49" charset="0"/>
                <a:cs typeface="Cascadia Code" panose="020B0609020000020004" pitchFamily="49" charset="0"/>
              </a:rPr>
              <a:t> = radians(lon2 - lon1)</a:t>
            </a:r>
          </a:p>
          <a:p>
            <a:r>
              <a:rPr lang="en-MY" sz="2400" dirty="0">
                <a:latin typeface="Cascadia Code" panose="020B0609020000020004" pitchFamily="49" charset="0"/>
                <a:cs typeface="Cascadia Code" panose="020B0609020000020004" pitchFamily="49" charset="0"/>
              </a:rPr>
              <a:t>    value = sin(</a:t>
            </a:r>
            <a:r>
              <a:rPr lang="en-MY" sz="2400" dirty="0" err="1">
                <a:latin typeface="Cascadia Code" panose="020B0609020000020004" pitchFamily="49" charset="0"/>
                <a:cs typeface="Cascadia Code" panose="020B0609020000020004" pitchFamily="49" charset="0"/>
              </a:rPr>
              <a:t>delta_phi</a:t>
            </a:r>
            <a:r>
              <a:rPr lang="en-MY" sz="2400" dirty="0">
                <a:latin typeface="Cascadia Code" panose="020B0609020000020004" pitchFamily="49" charset="0"/>
                <a:cs typeface="Cascadia Code" panose="020B0609020000020004" pitchFamily="49" charset="0"/>
              </a:rPr>
              <a:t> / 2) ** 2 + cos(phi1) * cos(phi2) * sin(</a:t>
            </a:r>
            <a:r>
              <a:rPr lang="en-MY" sz="2400" dirty="0" err="1">
                <a:latin typeface="Cascadia Code" panose="020B0609020000020004" pitchFamily="49" charset="0"/>
                <a:cs typeface="Cascadia Code" panose="020B0609020000020004" pitchFamily="49" charset="0"/>
              </a:rPr>
              <a:t>delta_lambda</a:t>
            </a:r>
            <a:r>
              <a:rPr lang="en-MY" sz="2400" dirty="0">
                <a:latin typeface="Cascadia Code" panose="020B0609020000020004" pitchFamily="49" charset="0"/>
                <a:cs typeface="Cascadia Code" panose="020B0609020000020004" pitchFamily="49" charset="0"/>
              </a:rPr>
              <a:t> / 2) ** 2</a:t>
            </a:r>
          </a:p>
          <a:p>
            <a:r>
              <a:rPr lang="en-MY" sz="2400" dirty="0">
                <a:latin typeface="Cascadia Code" panose="020B0609020000020004" pitchFamily="49" charset="0"/>
                <a:cs typeface="Cascadia Code" panose="020B0609020000020004" pitchFamily="49" charset="0"/>
              </a:rPr>
              <a:t>    value = min(1.0, max(0.0, value))</a:t>
            </a:r>
          </a:p>
          <a:p>
            <a:r>
              <a:rPr lang="en-MY" sz="2400" dirty="0">
                <a:latin typeface="Cascadia Code" panose="020B0609020000020004" pitchFamily="49" charset="0"/>
                <a:cs typeface="Cascadia Code" panose="020B0609020000020004" pitchFamily="49" charset="0"/>
              </a:rPr>
              <a:t>    return 2 * </a:t>
            </a:r>
            <a:r>
              <a:rPr lang="en-MY" sz="2400" dirty="0" err="1">
                <a:latin typeface="Cascadia Code" panose="020B0609020000020004" pitchFamily="49" charset="0"/>
                <a:cs typeface="Cascadia Code" panose="020B0609020000020004" pitchFamily="49" charset="0"/>
              </a:rPr>
              <a:t>radius_km</a:t>
            </a:r>
            <a:r>
              <a:rPr lang="en-MY" sz="2400" dirty="0">
                <a:latin typeface="Cascadia Code" panose="020B0609020000020004" pitchFamily="49" charset="0"/>
                <a:cs typeface="Cascadia Code" panose="020B0609020000020004" pitchFamily="49" charset="0"/>
              </a:rPr>
              <a:t> * atan2(sqrt(value), sqrt(1 - value))</a:t>
            </a:r>
          </a:p>
          <a:p>
            <a:r>
              <a:rPr lang="en-MY" sz="2400" dirty="0"/>
              <a:t>This is the </a:t>
            </a:r>
            <a:r>
              <a:rPr lang="en-MY" sz="2400" b="1" dirty="0"/>
              <a:t>Haversine formula</a:t>
            </a:r>
            <a:r>
              <a:rPr lang="en-MY" sz="2400" dirty="0"/>
              <a:t> - the standard math formula for "straight-line distance between two GPS coordinates on a sphere," accounting for the Earth's curvature (you can't just subtract coordinates like flat X/Y points). radians(...) converts degrees to the unit trigonometry functions expect. The min(1.0, max(0.0, value)) line is a safety net: due to how computers store decimal numbers, tiny rounding errors could occasionally push value just barely above 1 or below 0, which would break the square root below — this clamps it back into a valid range.</a:t>
            </a:r>
          </a:p>
          <a:p>
            <a:endParaRPr lang="en-MY" sz="2400" dirty="0"/>
          </a:p>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load_openflights</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airports_path</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routes_path</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airports_path</a:t>
            </a:r>
            <a:r>
              <a:rPr lang="en-MY" sz="2400" dirty="0">
                <a:latin typeface="Cascadia Code" panose="020B0609020000020004" pitchFamily="49" charset="0"/>
                <a:cs typeface="Cascadia Code" panose="020B0609020000020004" pitchFamily="49" charset="0"/>
              </a:rPr>
              <a:t> = Path(</a:t>
            </a:r>
            <a:r>
              <a:rPr lang="en-MY" sz="2400" dirty="0" err="1">
                <a:latin typeface="Cascadia Code" panose="020B0609020000020004" pitchFamily="49" charset="0"/>
                <a:cs typeface="Cascadia Code" panose="020B0609020000020004" pitchFamily="49" charset="0"/>
              </a:rPr>
              <a:t>airports_path</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routes_path</a:t>
            </a:r>
            <a:r>
              <a:rPr lang="en-MY" sz="2400" dirty="0">
                <a:latin typeface="Cascadia Code" panose="020B0609020000020004" pitchFamily="49" charset="0"/>
                <a:cs typeface="Cascadia Code" panose="020B0609020000020004" pitchFamily="49" charset="0"/>
              </a:rPr>
              <a:t> = Path(</a:t>
            </a:r>
            <a:r>
              <a:rPr lang="en-MY" sz="2400" dirty="0" err="1">
                <a:latin typeface="Cascadia Code" panose="020B0609020000020004" pitchFamily="49" charset="0"/>
                <a:cs typeface="Cascadia Code" panose="020B0609020000020004" pitchFamily="49" charset="0"/>
              </a:rPr>
              <a:t>routes_path</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if not </a:t>
            </a:r>
            <a:r>
              <a:rPr lang="en-MY" sz="2400" dirty="0" err="1">
                <a:latin typeface="Cascadia Code" panose="020B0609020000020004" pitchFamily="49" charset="0"/>
                <a:cs typeface="Cascadia Code" panose="020B0609020000020004" pitchFamily="49" charset="0"/>
              </a:rPr>
              <a:t>airports_path.is_file</a:t>
            </a:r>
            <a:r>
              <a:rPr lang="en-MY" sz="2400" dirty="0">
                <a:latin typeface="Cascadia Code" panose="020B0609020000020004" pitchFamily="49" charset="0"/>
                <a:cs typeface="Cascadia Code" panose="020B0609020000020004" pitchFamily="49" charset="0"/>
              </a:rPr>
              <a:t>() or not </a:t>
            </a:r>
            <a:r>
              <a:rPr lang="en-MY" sz="2400" dirty="0" err="1">
                <a:latin typeface="Cascadia Code" panose="020B0609020000020004" pitchFamily="49" charset="0"/>
                <a:cs typeface="Cascadia Code" panose="020B0609020000020004" pitchFamily="49" charset="0"/>
              </a:rPr>
              <a:t>routes_path.is_file</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raise </a:t>
            </a:r>
            <a:r>
              <a:rPr lang="en-MY" sz="2400" dirty="0" err="1">
                <a:latin typeface="Cascadia Code" panose="020B0609020000020004" pitchFamily="49" charset="0"/>
                <a:cs typeface="Cascadia Code" panose="020B0609020000020004" pitchFamily="49" charset="0"/>
              </a:rPr>
              <a:t>FileNotFoundError</a:t>
            </a:r>
            <a:r>
              <a:rPr lang="en-MY" sz="2400" dirty="0">
                <a:latin typeface="Cascadia Code" panose="020B0609020000020004" pitchFamily="49" charset="0"/>
                <a:cs typeface="Cascadia Code" panose="020B0609020000020004" pitchFamily="49" charset="0"/>
              </a:rPr>
              <a:t>("The </a:t>
            </a:r>
            <a:r>
              <a:rPr lang="en-MY" sz="2400" dirty="0" err="1">
                <a:latin typeface="Cascadia Code" panose="020B0609020000020004" pitchFamily="49" charset="0"/>
                <a:cs typeface="Cascadia Code" panose="020B0609020000020004" pitchFamily="49" charset="0"/>
              </a:rPr>
              <a:t>OpenFlights</a:t>
            </a:r>
            <a:r>
              <a:rPr lang="en-MY" sz="2400" dirty="0">
                <a:latin typeface="Cascadia Code" panose="020B0609020000020004" pitchFamily="49" charset="0"/>
                <a:cs typeface="Cascadia Code" panose="020B0609020000020004" pitchFamily="49" charset="0"/>
              </a:rPr>
              <a:t> airport and route CSV files are required.")</a:t>
            </a:r>
          </a:p>
          <a:p>
            <a:r>
              <a:rPr lang="en-MY" sz="2400" dirty="0"/>
              <a:t>Converts whatever was passed in into a proper Path object, then fails immediately with a clear error if either file is genuinely missing — rather than a confusing crash much later.</a:t>
            </a:r>
          </a:p>
          <a:p>
            <a:endParaRPr lang="en-MY" sz="2400" dirty="0"/>
          </a:p>
        </p:txBody>
      </p:sp>
    </p:spTree>
    <p:extLst>
      <p:ext uri="{BB962C8B-B14F-4D97-AF65-F5344CB8AC3E}">
        <p14:creationId xmlns:p14="http://schemas.microsoft.com/office/powerpoint/2010/main" val="1716436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6DAF-005C-E3A8-9A88-114A394205D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F61ED61-C6F3-D2F2-C67C-3D1854FDBA29}"/>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A1EC336C-190A-A6A8-92CA-BBFEA84232D4}"/>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B87E8235-1765-3CCA-05E5-068C2558592E}"/>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6" name="AutoShape 2">
            <a:extLst>
              <a:ext uri="{FF2B5EF4-FFF2-40B4-BE49-F238E27FC236}">
                <a16:creationId xmlns:a16="http://schemas.microsoft.com/office/drawing/2014/main" id="{0503ECE2-B976-20BF-FD9C-073C676FF209}"/>
              </a:ext>
            </a:extLst>
          </p:cNvPr>
          <p:cNvSpPr/>
          <p:nvPr/>
        </p:nvSpPr>
        <p:spPr>
          <a:xfrm>
            <a:off x="756447" y="832584"/>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932876EA-3002-F9DD-A053-6CF941169ED7}"/>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201694D4-B8AD-6030-9E4E-F7471BD311EA}"/>
              </a:ext>
            </a:extLst>
          </p:cNvPr>
          <p:cNvSpPr txBox="1"/>
          <p:nvPr/>
        </p:nvSpPr>
        <p:spPr>
          <a:xfrm>
            <a:off x="990601" y="209955"/>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7BBBC5BC-456A-DBA4-F56D-A5157F9DD453}"/>
              </a:ext>
            </a:extLst>
          </p:cNvPr>
          <p:cNvSpPr txBox="1"/>
          <p:nvPr/>
        </p:nvSpPr>
        <p:spPr>
          <a:xfrm>
            <a:off x="1319348" y="1572387"/>
            <a:ext cx="15649303" cy="4154984"/>
          </a:xfrm>
          <a:prstGeom prst="rect">
            <a:avLst/>
          </a:prstGeom>
          <a:noFill/>
        </p:spPr>
        <p:txBody>
          <a:bodyPr wrap="square">
            <a:spAutoFit/>
          </a:bodyPr>
          <a:lstStyle/>
          <a:p>
            <a:r>
              <a:rPr lang="en-MY" sz="2400" dirty="0"/>
              <a:t>    </a:t>
            </a:r>
            <a:r>
              <a:rPr lang="en-MY" sz="2400" dirty="0">
                <a:latin typeface="Cascadia Code" panose="020B0609020000020004" pitchFamily="49" charset="0"/>
                <a:cs typeface="Cascadia Code" panose="020B0609020000020004" pitchFamily="49" charset="0"/>
              </a:rPr>
              <a:t>airports = </a:t>
            </a:r>
            <a:r>
              <a:rPr lang="en-MY" sz="2400" dirty="0" err="1">
                <a:latin typeface="Cascadia Code" panose="020B0609020000020004" pitchFamily="49" charset="0"/>
                <a:cs typeface="Cascadia Code" panose="020B0609020000020004" pitchFamily="49" charset="0"/>
              </a:rPr>
              <a:t>pd.read_csv</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airports_path</a:t>
            </a:r>
            <a:r>
              <a:rPr lang="en-MY" sz="2400" dirty="0">
                <a:latin typeface="Cascadia Code" panose="020B0609020000020004" pitchFamily="49" charset="0"/>
                <a:cs typeface="Cascadia Code" panose="020B0609020000020004" pitchFamily="49" charset="0"/>
              </a:rPr>
              <a:t>, header=None, names=AIRPORT_COLUMNS, </a:t>
            </a:r>
            <a:r>
              <a:rPr lang="en-MY" sz="2400" dirty="0" err="1">
                <a:latin typeface="Cascadia Code" panose="020B0609020000020004" pitchFamily="49" charset="0"/>
                <a:cs typeface="Cascadia Code" panose="020B0609020000020004" pitchFamily="49" charset="0"/>
              </a:rPr>
              <a:t>na_values</a:t>
            </a:r>
            <a:r>
              <a:rPr lang="en-MY" sz="2400" dirty="0">
                <a:latin typeface="Cascadia Code" panose="020B0609020000020004" pitchFamily="49" charset="0"/>
                <a:cs typeface="Cascadia Code" panose="020B0609020000020004" pitchFamily="49" charset="0"/>
              </a:rPr>
              <a:t>="\\N")</a:t>
            </a:r>
          </a:p>
          <a:p>
            <a:r>
              <a:rPr lang="en-MY" sz="2400" dirty="0"/>
              <a:t>Reads the CSV. header=None because there's no header row in the raw file; names=AIRPORT_COLUMNS supplies one. </a:t>
            </a:r>
            <a:r>
              <a:rPr lang="en-MY" sz="2400" dirty="0" err="1"/>
              <a:t>na_values</a:t>
            </a:r>
            <a:r>
              <a:rPr lang="en-MY" sz="2400" dirty="0"/>
              <a:t>="\\N" tells pandas that the literal text \N in the file means "missing," not an actual value.</a:t>
            </a:r>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airports["</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 = airports["</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astype</a:t>
            </a:r>
            <a:r>
              <a:rPr lang="en-MY" sz="2400" dirty="0">
                <a:latin typeface="Cascadia Code" panose="020B0609020000020004" pitchFamily="49" charset="0"/>
                <a:cs typeface="Cascadia Code" panose="020B0609020000020004" pitchFamily="49" charset="0"/>
              </a:rPr>
              <a:t>("string").</a:t>
            </a:r>
            <a:r>
              <a:rPr lang="en-MY" sz="2400" dirty="0" err="1">
                <a:latin typeface="Cascadia Code" panose="020B0609020000020004" pitchFamily="49" charset="0"/>
                <a:cs typeface="Cascadia Code" panose="020B0609020000020004" pitchFamily="49" charset="0"/>
              </a:rPr>
              <a:t>str.strip</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str.upper</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airports["latitude"] = </a:t>
            </a:r>
            <a:r>
              <a:rPr lang="en-MY" sz="2400" dirty="0" err="1">
                <a:latin typeface="Cascadia Code" panose="020B0609020000020004" pitchFamily="49" charset="0"/>
                <a:cs typeface="Cascadia Code" panose="020B0609020000020004" pitchFamily="49" charset="0"/>
              </a:rPr>
              <a:t>pd.to_numeric</a:t>
            </a:r>
            <a:r>
              <a:rPr lang="en-MY" sz="2400" dirty="0">
                <a:latin typeface="Cascadia Code" panose="020B0609020000020004" pitchFamily="49" charset="0"/>
                <a:cs typeface="Cascadia Code" panose="020B0609020000020004" pitchFamily="49" charset="0"/>
              </a:rPr>
              <a:t>(airports["latitude"], errors="coerce")</a:t>
            </a:r>
          </a:p>
          <a:p>
            <a:r>
              <a:rPr lang="en-MY" sz="2400" dirty="0">
                <a:latin typeface="Cascadia Code" panose="020B0609020000020004" pitchFamily="49" charset="0"/>
                <a:cs typeface="Cascadia Code" panose="020B0609020000020004" pitchFamily="49" charset="0"/>
              </a:rPr>
              <a:t>    airports["longitude"] = </a:t>
            </a:r>
            <a:r>
              <a:rPr lang="en-MY" sz="2400" dirty="0" err="1">
                <a:latin typeface="Cascadia Code" panose="020B0609020000020004" pitchFamily="49" charset="0"/>
                <a:cs typeface="Cascadia Code" panose="020B0609020000020004" pitchFamily="49" charset="0"/>
              </a:rPr>
              <a:t>pd.to_numeric</a:t>
            </a:r>
            <a:r>
              <a:rPr lang="en-MY" sz="2400" dirty="0">
                <a:latin typeface="Cascadia Code" panose="020B0609020000020004" pitchFamily="49" charset="0"/>
                <a:cs typeface="Cascadia Code" panose="020B0609020000020004" pitchFamily="49" charset="0"/>
              </a:rPr>
              <a:t>(airports["longitude"], errors="coerce")</a:t>
            </a:r>
          </a:p>
          <a:p>
            <a:r>
              <a:rPr lang="en-MY" sz="2400" dirty="0"/>
              <a:t>Cleans the airport codes: forces them to text, trims stray spaces, and uppercases them (so "</a:t>
            </a:r>
            <a:r>
              <a:rPr lang="en-MY" sz="2400" dirty="0" err="1"/>
              <a:t>kul</a:t>
            </a:r>
            <a:r>
              <a:rPr lang="en-MY" sz="2400" dirty="0"/>
              <a:t> " and "KUL" are treated as the same). Forces coordinates to be numbers; errors="coerce" turns anything that </a:t>
            </a:r>
            <a:r>
              <a:rPr lang="en-MY" sz="2400" i="1" dirty="0"/>
              <a:t>can't</a:t>
            </a:r>
            <a:r>
              <a:rPr lang="en-MY" sz="2400" dirty="0"/>
              <a:t> be converted (garbage text) into a missing value instead of crashing.</a:t>
            </a:r>
          </a:p>
        </p:txBody>
      </p:sp>
    </p:spTree>
    <p:extLst>
      <p:ext uri="{BB962C8B-B14F-4D97-AF65-F5344CB8AC3E}">
        <p14:creationId xmlns:p14="http://schemas.microsoft.com/office/powerpoint/2010/main" val="499900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0C651-689F-4001-931D-0DA1E2433DE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632A4BD-2579-7B2C-8F26-8EAF19DE19AE}"/>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4CE90580-ED50-7D1D-4987-72D2EBEFFF21}"/>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C55A134B-1352-FF6E-054D-940672693328}"/>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6" name="AutoShape 2">
            <a:extLst>
              <a:ext uri="{FF2B5EF4-FFF2-40B4-BE49-F238E27FC236}">
                <a16:creationId xmlns:a16="http://schemas.microsoft.com/office/drawing/2014/main" id="{544BCAEE-9AFE-AA36-7B48-15E3A68BBA19}"/>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17ADB03F-4E16-8103-4133-C496F3C6A6AB}"/>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3EC72DAA-8BBB-01AA-1BBD-FD6A89F2D0B1}"/>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789D6AEB-9BB0-DFED-D947-4D5CAE07C3C4}"/>
              </a:ext>
            </a:extLst>
          </p:cNvPr>
          <p:cNvSpPr txBox="1"/>
          <p:nvPr/>
        </p:nvSpPr>
        <p:spPr>
          <a:xfrm>
            <a:off x="1409428" y="1545104"/>
            <a:ext cx="15469144" cy="5632311"/>
          </a:xfrm>
          <a:prstGeom prst="rect">
            <a:avLst/>
          </a:prstGeom>
          <a:noFill/>
        </p:spPr>
        <p:txBody>
          <a:bodyPr wrap="square">
            <a:spAutoFit/>
          </a:bodyPr>
          <a:lstStyle/>
          <a:p>
            <a:r>
              <a:rPr lang="en-MY" sz="2400" dirty="0" err="1">
                <a:latin typeface="Cascadia Code" panose="020B0609020000020004" pitchFamily="49" charset="0"/>
                <a:cs typeface="Cascadia Code" panose="020B0609020000020004" pitchFamily="49" charset="0"/>
              </a:rPr>
              <a:t>valid_airports</a:t>
            </a:r>
            <a:r>
              <a:rPr lang="en-MY" sz="2400" dirty="0">
                <a:latin typeface="Cascadia Code" panose="020B0609020000020004" pitchFamily="49" charset="0"/>
                <a:cs typeface="Cascadia Code" panose="020B0609020000020004" pitchFamily="49" charset="0"/>
              </a:rPr>
              <a:t> = airports[</a:t>
            </a:r>
          </a:p>
          <a:p>
            <a:r>
              <a:rPr lang="en-MY" sz="2400" dirty="0">
                <a:latin typeface="Cascadia Code" panose="020B0609020000020004" pitchFamily="49" charset="0"/>
                <a:cs typeface="Cascadia Code" panose="020B0609020000020004" pitchFamily="49" charset="0"/>
              </a:rPr>
              <a:t>        airports["</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notna</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&amp; airports["</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str.fullmatch</a:t>
            </a:r>
            <a:r>
              <a:rPr lang="en-MY" sz="2400" dirty="0">
                <a:latin typeface="Cascadia Code" panose="020B0609020000020004" pitchFamily="49" charset="0"/>
                <a:cs typeface="Cascadia Code" panose="020B0609020000020004" pitchFamily="49" charset="0"/>
              </a:rPr>
              <a:t>(r"[A-Z0-9]{3}", </a:t>
            </a:r>
            <a:r>
              <a:rPr lang="en-MY" sz="2400" dirty="0" err="1">
                <a:latin typeface="Cascadia Code" panose="020B0609020000020004" pitchFamily="49" charset="0"/>
                <a:cs typeface="Cascadia Code" panose="020B0609020000020004" pitchFamily="49" charset="0"/>
              </a:rPr>
              <a:t>na</a:t>
            </a:r>
            <a:r>
              <a:rPr lang="en-MY" sz="2400" dirty="0">
                <a:latin typeface="Cascadia Code" panose="020B0609020000020004" pitchFamily="49" charset="0"/>
                <a:cs typeface="Cascadia Code" panose="020B0609020000020004" pitchFamily="49" charset="0"/>
              </a:rPr>
              <a:t>=False)</a:t>
            </a:r>
          </a:p>
          <a:p>
            <a:r>
              <a:rPr lang="en-MY" sz="2400" dirty="0">
                <a:latin typeface="Cascadia Code" panose="020B0609020000020004" pitchFamily="49" charset="0"/>
                <a:cs typeface="Cascadia Code" panose="020B0609020000020004" pitchFamily="49" charset="0"/>
              </a:rPr>
              <a:t>        &amp; airports["latitude"].between(-90, 90, inclusive="both")</a:t>
            </a:r>
          </a:p>
          <a:p>
            <a:r>
              <a:rPr lang="en-MY" sz="2400" dirty="0">
                <a:latin typeface="Cascadia Code" panose="020B0609020000020004" pitchFamily="49" charset="0"/>
                <a:cs typeface="Cascadia Code" panose="020B0609020000020004" pitchFamily="49" charset="0"/>
              </a:rPr>
              <a:t>        &amp; airports["longitude"].between(-180, 180, inclusive="both")</a:t>
            </a:r>
          </a:p>
          <a:p>
            <a:r>
              <a:rPr lang="en-MY" sz="2400" dirty="0">
                <a:latin typeface="Cascadia Code" panose="020B0609020000020004" pitchFamily="49" charset="0"/>
                <a:cs typeface="Cascadia Code" panose="020B0609020000020004" pitchFamily="49" charset="0"/>
              </a:rPr>
              <a:t>    ].copy()</a:t>
            </a:r>
          </a:p>
          <a:p>
            <a:r>
              <a:rPr lang="en-MY" sz="2400" dirty="0">
                <a:cs typeface="Cascadia Code" panose="020B0609020000020004" pitchFamily="49" charset="0"/>
              </a:rPr>
              <a:t>This is the actual filtering step. Keeps only rows where: the IATA code exists, it's exactly 3 letters/digits (r"[A-Z0-9]{3}" is a regex pattern — "3 characters, each A-Z or 0-9"), and both coordinates fall within physically valid ranges (latitude can't exceed ±90°, longitude can't exceed ±180°). Everything else gets dropped as unusable.</a:t>
            </a:r>
          </a:p>
          <a:p>
            <a:endParaRPr lang="en-MY" sz="2400" dirty="0">
              <a:cs typeface="Cascadia Code" panose="020B0609020000020004" pitchFamily="49" charset="0"/>
            </a:endParaRPr>
          </a:p>
          <a:p>
            <a:r>
              <a:rPr lang="en-MY" sz="2400" dirty="0" err="1">
                <a:latin typeface="Cascadia Code" panose="020B0609020000020004" pitchFamily="49" charset="0"/>
                <a:cs typeface="Cascadia Code" panose="020B0609020000020004" pitchFamily="49" charset="0"/>
              </a:rPr>
              <a:t>valid_airports</a:t>
            </a:r>
            <a:r>
              <a:rPr lang="en-MY" sz="2400" dirty="0">
                <a:latin typeface="Cascadia Code" panose="020B0609020000020004" pitchFamily="49" charset="0"/>
                <a:cs typeface="Cascadia Code" panose="020B0609020000020004" pitchFamily="49" charset="0"/>
              </a:rPr>
              <a:t> = </a:t>
            </a:r>
            <a:r>
              <a:rPr lang="en-MY" sz="2400" dirty="0" err="1">
                <a:latin typeface="Cascadia Code" panose="020B0609020000020004" pitchFamily="49" charset="0"/>
                <a:cs typeface="Cascadia Code" panose="020B0609020000020004" pitchFamily="49" charset="0"/>
              </a:rPr>
              <a:t>valid_airports.drop_duplicates</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 keep="first")</a:t>
            </a:r>
          </a:p>
          <a:p>
            <a:r>
              <a:rPr lang="en-MY" sz="2400" dirty="0">
                <a:latin typeface="Cascadia Code" panose="020B0609020000020004" pitchFamily="49" charset="0"/>
                <a:cs typeface="Cascadia Code" panose="020B0609020000020004" pitchFamily="49" charset="0"/>
              </a:rPr>
              <a:t>    coords = </a:t>
            </a:r>
            <a:r>
              <a:rPr lang="en-MY" sz="2400" dirty="0" err="1">
                <a:latin typeface="Cascadia Code" panose="020B0609020000020004" pitchFamily="49" charset="0"/>
                <a:cs typeface="Cascadia Code" panose="020B0609020000020004" pitchFamily="49" charset="0"/>
              </a:rPr>
              <a:t>valid_airports.set_index</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iata</a:t>
            </a:r>
            <a:r>
              <a:rPr lang="en-MY" sz="2400" dirty="0">
                <a:latin typeface="Cascadia Code" panose="020B0609020000020004" pitchFamily="49" charset="0"/>
                <a:cs typeface="Cascadia Code" panose="020B0609020000020004" pitchFamily="49" charset="0"/>
              </a:rPr>
              <a:t>")[["latitude", "longitude"]].</a:t>
            </a:r>
            <a:r>
              <a:rPr lang="en-MY" sz="2400" dirty="0" err="1">
                <a:latin typeface="Cascadia Code" panose="020B0609020000020004" pitchFamily="49" charset="0"/>
                <a:cs typeface="Cascadia Code" panose="020B0609020000020004" pitchFamily="49" charset="0"/>
              </a:rPr>
              <a:t>to_dict</a:t>
            </a:r>
            <a:r>
              <a:rPr lang="en-MY" sz="2400" dirty="0">
                <a:latin typeface="Cascadia Code" panose="020B0609020000020004" pitchFamily="49" charset="0"/>
                <a:cs typeface="Cascadia Code" panose="020B0609020000020004" pitchFamily="49" charset="0"/>
              </a:rPr>
              <a:t>("index")</a:t>
            </a:r>
          </a:p>
          <a:p>
            <a:r>
              <a:rPr lang="en-MY" sz="2400" dirty="0">
                <a:cs typeface="Cascadia Code" panose="020B0609020000020004" pitchFamily="49" charset="0"/>
              </a:rPr>
              <a:t>If the same airport code appears twice, keeps only the first occurrence. Then builds a fast lookup dictionary: </a:t>
            </a:r>
            <a:r>
              <a:rPr lang="en-MY" sz="2400" dirty="0">
                <a:solidFill>
                  <a:schemeClr val="accent2">
                    <a:lumMod val="75000"/>
                  </a:schemeClr>
                </a:solidFill>
                <a:cs typeface="Cascadia Code" panose="020B0609020000020004" pitchFamily="49" charset="0"/>
              </a:rPr>
              <a:t>coords["KUL"] → {"latitude": ..., "longitude": ...}.</a:t>
            </a:r>
          </a:p>
        </p:txBody>
      </p:sp>
    </p:spTree>
    <p:extLst>
      <p:ext uri="{BB962C8B-B14F-4D97-AF65-F5344CB8AC3E}">
        <p14:creationId xmlns:p14="http://schemas.microsoft.com/office/powerpoint/2010/main" val="3757655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ED32-F9E9-A0C9-95BC-ABA7887199F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531C69E-910D-F8DD-851E-5D3E7FEE5C12}"/>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E96CD5A4-D227-F70A-8295-6EC027123195}"/>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5AE43B97-366D-91FB-2892-2D3A7572B0C3}"/>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AutoShape 2">
            <a:extLst>
              <a:ext uri="{FF2B5EF4-FFF2-40B4-BE49-F238E27FC236}">
                <a16:creationId xmlns:a16="http://schemas.microsoft.com/office/drawing/2014/main" id="{42BEB24C-0246-49C3-CC89-5E41629060DA}"/>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97269330-CA98-C034-EBA9-28F0F9DE7D6C}"/>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E622B853-14CF-D12C-BA56-04E49379B025}"/>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F69A4FE1-488F-B317-AAAE-53C19CBD6AF7}"/>
              </a:ext>
            </a:extLst>
          </p:cNvPr>
          <p:cNvSpPr txBox="1"/>
          <p:nvPr/>
        </p:nvSpPr>
        <p:spPr>
          <a:xfrm>
            <a:off x="1257300" y="1817247"/>
            <a:ext cx="15773400" cy="4893647"/>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routes = </a:t>
            </a:r>
            <a:r>
              <a:rPr lang="en-MY" sz="2400" dirty="0" err="1">
                <a:latin typeface="Cascadia Code" panose="020B0609020000020004" pitchFamily="49" charset="0"/>
                <a:cs typeface="Cascadia Code" panose="020B0609020000020004" pitchFamily="49" charset="0"/>
              </a:rPr>
              <a:t>pd.read_csv</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routes_path</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na_values</a:t>
            </a:r>
            <a:r>
              <a:rPr lang="en-MY" sz="2400" dirty="0">
                <a:latin typeface="Cascadia Code" panose="020B0609020000020004" pitchFamily="49" charset="0"/>
                <a:cs typeface="Cascadia Code" panose="020B0609020000020004" pitchFamily="49" charset="0"/>
              </a:rPr>
              <a:t>="\\N")</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routes.columns</a:t>
            </a:r>
            <a:r>
              <a:rPr lang="en-MY" sz="2400" dirty="0">
                <a:latin typeface="Cascadia Code" panose="020B0609020000020004" pitchFamily="49" charset="0"/>
                <a:cs typeface="Cascadia Code" panose="020B0609020000020004" pitchFamily="49" charset="0"/>
              </a:rPr>
              <a:t> = [str(column).strip().lower() for column in </a:t>
            </a:r>
            <a:r>
              <a:rPr lang="en-MY" sz="2400" dirty="0" err="1">
                <a:latin typeface="Cascadia Code" panose="020B0609020000020004" pitchFamily="49" charset="0"/>
                <a:cs typeface="Cascadia Code" panose="020B0609020000020004" pitchFamily="49" charset="0"/>
              </a:rPr>
              <a:t>routes.columns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routes = </a:t>
            </a:r>
            <a:r>
              <a:rPr lang="en-MY" sz="2400" dirty="0" err="1">
                <a:latin typeface="Cascadia Code" panose="020B0609020000020004" pitchFamily="49" charset="0"/>
                <a:cs typeface="Cascadia Code" panose="020B0609020000020004" pitchFamily="49" charset="0"/>
              </a:rPr>
              <a:t>routes.rename</a:t>
            </a:r>
            <a:r>
              <a:rPr lang="en-MY" sz="2400" dirty="0">
                <a:latin typeface="Cascadia Code" panose="020B0609020000020004" pitchFamily="49" charset="0"/>
                <a:cs typeface="Cascadia Code" panose="020B0609020000020004" pitchFamily="49" charset="0"/>
              </a:rPr>
              <a:t>(columns=ROUTE_ALIASES)</a:t>
            </a:r>
          </a:p>
          <a:p>
            <a:r>
              <a:rPr lang="en-MY" sz="2400" dirty="0">
                <a:latin typeface="Cascadia Code" panose="020B0609020000020004" pitchFamily="49" charset="0"/>
                <a:cs typeface="Cascadia Code" panose="020B0609020000020004" pitchFamily="49" charset="0"/>
              </a:rPr>
              <a:t>    if not {"source", "destination"}.</a:t>
            </a:r>
            <a:r>
              <a:rPr lang="en-MY" sz="2400" dirty="0" err="1">
                <a:latin typeface="Cascadia Code" panose="020B0609020000020004" pitchFamily="49" charset="0"/>
                <a:cs typeface="Cascadia Code" panose="020B0609020000020004" pitchFamily="49" charset="0"/>
              </a:rPr>
              <a:t>issubset</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routes.columns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raise </a:t>
            </a:r>
            <a:r>
              <a:rPr lang="en-MY" sz="2400" dirty="0" err="1">
                <a:latin typeface="Cascadia Code" panose="020B0609020000020004" pitchFamily="49" charset="0"/>
                <a:cs typeface="Cascadia Code" panose="020B0609020000020004" pitchFamily="49" charset="0"/>
              </a:rPr>
              <a:t>ValueError</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f"Unexpected</a:t>
            </a:r>
            <a:r>
              <a:rPr lang="en-MY" sz="2400" dirty="0">
                <a:latin typeface="Cascadia Code" panose="020B0609020000020004" pitchFamily="49" charset="0"/>
                <a:cs typeface="Cascadia Code" panose="020B0609020000020004" pitchFamily="49" charset="0"/>
              </a:rPr>
              <a:t> route columns: {</a:t>
            </a:r>
            <a:r>
              <a:rPr lang="en-MY" sz="2400" dirty="0" err="1">
                <a:latin typeface="Cascadia Code" panose="020B0609020000020004" pitchFamily="49" charset="0"/>
                <a:cs typeface="Cascadia Code" panose="020B0609020000020004" pitchFamily="49" charset="0"/>
              </a:rPr>
              <a:t>routes.columns.tolist</a:t>
            </a:r>
            <a:r>
              <a:rPr lang="en-MY" sz="2400" dirty="0">
                <a:latin typeface="Cascadia Code" panose="020B0609020000020004" pitchFamily="49" charset="0"/>
                <a:cs typeface="Cascadia Code" panose="020B0609020000020004" pitchFamily="49" charset="0"/>
              </a:rPr>
              <a:t>()}")</a:t>
            </a:r>
          </a:p>
          <a:p>
            <a:r>
              <a:rPr lang="en-MY" sz="2400" dirty="0"/>
              <a:t>Loads the routes file, normalizes all column names to lowercase with no stray spaces, then applies the typo-fixing dictionary from earlier. If, after all that, the essential source/destination columns still aren't present, fail loudly with a helpful message rather than silently producing garbage results later.</a:t>
            </a:r>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routes["source"] = routes["source"].</a:t>
            </a:r>
            <a:r>
              <a:rPr lang="en-MY" sz="2400" dirty="0" err="1">
                <a:latin typeface="Cascadia Code" panose="020B0609020000020004" pitchFamily="49" charset="0"/>
                <a:cs typeface="Cascadia Code" panose="020B0609020000020004" pitchFamily="49" charset="0"/>
              </a:rPr>
              <a:t>astype</a:t>
            </a:r>
            <a:r>
              <a:rPr lang="en-MY" sz="2400" dirty="0">
                <a:latin typeface="Cascadia Code" panose="020B0609020000020004" pitchFamily="49" charset="0"/>
                <a:cs typeface="Cascadia Code" panose="020B0609020000020004" pitchFamily="49" charset="0"/>
              </a:rPr>
              <a:t>("string").</a:t>
            </a:r>
            <a:r>
              <a:rPr lang="en-MY" sz="2400" dirty="0" err="1">
                <a:latin typeface="Cascadia Code" panose="020B0609020000020004" pitchFamily="49" charset="0"/>
                <a:cs typeface="Cascadia Code" panose="020B0609020000020004" pitchFamily="49" charset="0"/>
              </a:rPr>
              <a:t>str.strip</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str.upper</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routes["destination"] = routes["destination"].</a:t>
            </a:r>
            <a:r>
              <a:rPr lang="en-MY" sz="2400" dirty="0" err="1">
                <a:latin typeface="Cascadia Code" panose="020B0609020000020004" pitchFamily="49" charset="0"/>
                <a:cs typeface="Cascadia Code" panose="020B0609020000020004" pitchFamily="49" charset="0"/>
              </a:rPr>
              <a:t>astype</a:t>
            </a:r>
            <a:r>
              <a:rPr lang="en-MY" sz="2400" dirty="0">
                <a:latin typeface="Cascadia Code" panose="020B0609020000020004" pitchFamily="49" charset="0"/>
                <a:cs typeface="Cascadia Code" panose="020B0609020000020004" pitchFamily="49" charset="0"/>
              </a:rPr>
              <a:t>("string").</a:t>
            </a:r>
            <a:r>
              <a:rPr lang="en-MY" sz="2400" dirty="0" err="1">
                <a:latin typeface="Cascadia Code" panose="020B0609020000020004" pitchFamily="49" charset="0"/>
                <a:cs typeface="Cascadia Code" panose="020B0609020000020004" pitchFamily="49" charset="0"/>
              </a:rPr>
              <a:t>str.strip</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str.upper</a:t>
            </a:r>
            <a:r>
              <a:rPr lang="en-MY" sz="2400" dirty="0">
                <a:latin typeface="Cascadia Code" panose="020B0609020000020004" pitchFamily="49" charset="0"/>
                <a:cs typeface="Cascadia Code" panose="020B0609020000020004" pitchFamily="49" charset="0"/>
              </a:rPr>
              <a:t>()</a:t>
            </a:r>
          </a:p>
          <a:p>
            <a:r>
              <a:rPr lang="en-MY" sz="2400" dirty="0"/>
              <a:t>Same cleanup treatment as the airport codes.</a:t>
            </a:r>
          </a:p>
        </p:txBody>
      </p:sp>
    </p:spTree>
    <p:extLst>
      <p:ext uri="{BB962C8B-B14F-4D97-AF65-F5344CB8AC3E}">
        <p14:creationId xmlns:p14="http://schemas.microsoft.com/office/powerpoint/2010/main" val="795544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5ACC-C0A6-BBC9-6668-96B0659E5F0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E335280-8FAD-6DCF-D18C-63DB5AB2EACA}"/>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98992AA0-32F3-13DD-7E34-95D2BF159B9A}"/>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97007FBE-0B9A-3F0E-405F-020DFDC0E44D}"/>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AutoShape 2">
            <a:extLst>
              <a:ext uri="{FF2B5EF4-FFF2-40B4-BE49-F238E27FC236}">
                <a16:creationId xmlns:a16="http://schemas.microsoft.com/office/drawing/2014/main" id="{7E5A83B1-7761-05A9-E021-B29B03A512F6}"/>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BC8D5675-06D0-91C3-8FAB-8C2D2FA78A73}"/>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17DC4F61-275F-9903-ED59-2CE5C619EA4D}"/>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8820A171-255B-9051-C198-E787C2980C3C}"/>
              </a:ext>
            </a:extLst>
          </p:cNvPr>
          <p:cNvSpPr txBox="1"/>
          <p:nvPr/>
        </p:nvSpPr>
        <p:spPr>
          <a:xfrm>
            <a:off x="1080135" y="1501561"/>
            <a:ext cx="16127730" cy="5539978"/>
          </a:xfrm>
          <a:prstGeom prst="rect">
            <a:avLst/>
          </a:prstGeom>
          <a:noFill/>
        </p:spPr>
        <p:txBody>
          <a:bodyPr wrap="square">
            <a:spAutoFit/>
          </a:bodyPr>
          <a:lstStyle/>
          <a:p>
            <a:r>
              <a:rPr lang="en-MY" sz="2400" dirty="0"/>
              <a:t>    </a:t>
            </a:r>
            <a:r>
              <a:rPr lang="en-MY" sz="2400" dirty="0" err="1">
                <a:latin typeface="Cascadia Code" panose="020B0609020000020004" pitchFamily="49" charset="0"/>
                <a:cs typeface="Cascadia Code" panose="020B0609020000020004" pitchFamily="49" charset="0"/>
              </a:rPr>
              <a:t>raw_route_count</a:t>
            </a:r>
            <a:r>
              <a:rPr lang="en-MY" sz="2400" dirty="0">
                <a:latin typeface="Cascadia Code" panose="020B0609020000020004" pitchFamily="49" charset="0"/>
                <a:cs typeface="Cascadia Code" panose="020B0609020000020004" pitchFamily="49" charset="0"/>
              </a:rPr>
              <a:t> =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(routes)</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cleaned_routes</a:t>
            </a:r>
            <a:r>
              <a:rPr lang="en-MY" sz="2400" dirty="0">
                <a:latin typeface="Cascadia Code" panose="020B0609020000020004" pitchFamily="49" charset="0"/>
                <a:cs typeface="Cascadia Code" panose="020B0609020000020004" pitchFamily="49" charset="0"/>
              </a:rPr>
              <a:t> = (</a:t>
            </a:r>
          </a:p>
          <a:p>
            <a:r>
              <a:rPr lang="en-MY" sz="2400" dirty="0">
                <a:latin typeface="Cascadia Code" panose="020B0609020000020004" pitchFamily="49" charset="0"/>
                <a:cs typeface="Cascadia Code" panose="020B0609020000020004" pitchFamily="49" charset="0"/>
              </a:rPr>
              <a:t>        routes[</a:t>
            </a:r>
          </a:p>
          <a:p>
            <a:r>
              <a:rPr lang="en-MY" sz="2400" dirty="0">
                <a:latin typeface="Cascadia Code" panose="020B0609020000020004" pitchFamily="49" charset="0"/>
                <a:cs typeface="Cascadia Code" panose="020B0609020000020004" pitchFamily="49" charset="0"/>
              </a:rPr>
              <a:t>            routes["source"].</a:t>
            </a:r>
            <a:r>
              <a:rPr lang="en-MY" sz="2400" dirty="0" err="1">
                <a:latin typeface="Cascadia Code" panose="020B0609020000020004" pitchFamily="49" charset="0"/>
                <a:cs typeface="Cascadia Code" panose="020B0609020000020004" pitchFamily="49" charset="0"/>
              </a:rPr>
              <a:t>isin</a:t>
            </a:r>
            <a:r>
              <a:rPr lang="en-MY" sz="2400" dirty="0">
                <a:latin typeface="Cascadia Code" panose="020B0609020000020004" pitchFamily="49" charset="0"/>
                <a:cs typeface="Cascadia Code" panose="020B0609020000020004" pitchFamily="49" charset="0"/>
              </a:rPr>
              <a:t>(coords)</a:t>
            </a:r>
          </a:p>
          <a:p>
            <a:r>
              <a:rPr lang="en-MY" sz="2400" dirty="0">
                <a:latin typeface="Cascadia Code" panose="020B0609020000020004" pitchFamily="49" charset="0"/>
                <a:cs typeface="Cascadia Code" panose="020B0609020000020004" pitchFamily="49" charset="0"/>
              </a:rPr>
              <a:t>            &amp; routes["destination"].</a:t>
            </a:r>
            <a:r>
              <a:rPr lang="en-MY" sz="2400" dirty="0" err="1">
                <a:latin typeface="Cascadia Code" panose="020B0609020000020004" pitchFamily="49" charset="0"/>
                <a:cs typeface="Cascadia Code" panose="020B0609020000020004" pitchFamily="49" charset="0"/>
              </a:rPr>
              <a:t>isin</a:t>
            </a:r>
            <a:r>
              <a:rPr lang="en-MY" sz="2400" dirty="0">
                <a:latin typeface="Cascadia Code" panose="020B0609020000020004" pitchFamily="49" charset="0"/>
                <a:cs typeface="Cascadia Code" panose="020B0609020000020004" pitchFamily="49" charset="0"/>
              </a:rPr>
              <a:t>(coords)</a:t>
            </a:r>
          </a:p>
          <a:p>
            <a:r>
              <a:rPr lang="en-MY" sz="2400" dirty="0">
                <a:latin typeface="Cascadia Code" panose="020B0609020000020004" pitchFamily="49" charset="0"/>
                <a:cs typeface="Cascadia Code" panose="020B0609020000020004" pitchFamily="49" charset="0"/>
              </a:rPr>
              <a:t>            &amp; routes["source"].ne(routes["destination"])</a:t>
            </a:r>
          </a:p>
          <a:p>
            <a:r>
              <a:rPr lang="en-MY" sz="2400" dirty="0">
                <a:latin typeface="Cascadia Code" panose="020B0609020000020004" pitchFamily="49" charset="0"/>
                <a:cs typeface="Cascadia Code" panose="020B0609020000020004" pitchFamily="49" charset="0"/>
              </a:rPr>
              <a:t>        ][["source", "destination"]]</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dropna</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drop_duplicates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.copy()</a:t>
            </a:r>
          </a:p>
          <a:p>
            <a:r>
              <a:rPr lang="en-MY" sz="2400" dirty="0">
                <a:latin typeface="Cascadia Code" panose="020B0609020000020004" pitchFamily="49" charset="0"/>
                <a:cs typeface="Cascadia Code" panose="020B0609020000020004" pitchFamily="49" charset="0"/>
              </a:rPr>
              <a:t>    )</a:t>
            </a:r>
          </a:p>
          <a:p>
            <a:r>
              <a:rPr lang="en-MY" sz="2400" dirty="0"/>
              <a:t>Records how many raw route rows there were, then filters down to routes where: both airports are ones we kept as valid, and the route doesn't go from an airport to itself (.ne() = "not equal"). Keeps only the two relevant columns, drops any remaining blanks, and removes exact duplicate rows.</a:t>
            </a:r>
          </a:p>
          <a:p>
            <a:endParaRPr lang="en-MY" dirty="0"/>
          </a:p>
        </p:txBody>
      </p:sp>
    </p:spTree>
    <p:extLst>
      <p:ext uri="{BB962C8B-B14F-4D97-AF65-F5344CB8AC3E}">
        <p14:creationId xmlns:p14="http://schemas.microsoft.com/office/powerpoint/2010/main" val="3609542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4649D-F53A-D5FA-5F6D-E6F8EB46100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016D598-D89D-CA44-0034-DF481AACEE52}"/>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B01E9372-EEC6-83AF-9B8C-63018646CD71}"/>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BC28BE65-E4C9-790D-8A25-63206E51E8AF}"/>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6" name="AutoShape 2">
            <a:extLst>
              <a:ext uri="{FF2B5EF4-FFF2-40B4-BE49-F238E27FC236}">
                <a16:creationId xmlns:a16="http://schemas.microsoft.com/office/drawing/2014/main" id="{92D685B1-0F0D-8289-1F42-A8541AF544AC}"/>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384704AC-5AC4-F2E9-A6B0-253BFF7B61C6}"/>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8BB04D8B-5FA3-BFC2-D036-6ED9646CCDB8}"/>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D2B79F36-040F-8771-93D5-C89F98DB9670}"/>
              </a:ext>
            </a:extLst>
          </p:cNvPr>
          <p:cNvSpPr txBox="1"/>
          <p:nvPr/>
        </p:nvSpPr>
        <p:spPr>
          <a:xfrm>
            <a:off x="1080135" y="1581955"/>
            <a:ext cx="16127730" cy="5262979"/>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	 adjacency: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[str, list[tuple[str, float]]] = {code: [] for code in coords}</a:t>
            </a:r>
          </a:p>
          <a:p>
            <a:r>
              <a:rPr lang="en-MY" sz="2400" dirty="0">
                <a:latin typeface="Cascadia Code" panose="020B0609020000020004" pitchFamily="49" charset="0"/>
                <a:cs typeface="Cascadia Code" panose="020B0609020000020004" pitchFamily="49" charset="0"/>
              </a:rPr>
              <a:t>    for source, destination in </a:t>
            </a:r>
            <a:r>
              <a:rPr lang="en-MY" sz="2400" dirty="0" err="1">
                <a:latin typeface="Cascadia Code" panose="020B0609020000020004" pitchFamily="49" charset="0"/>
                <a:cs typeface="Cascadia Code" panose="020B0609020000020004" pitchFamily="49" charset="0"/>
              </a:rPr>
              <a:t>cleaned_routes.itertuples</a:t>
            </a:r>
            <a:r>
              <a:rPr lang="en-MY" sz="2400" dirty="0">
                <a:latin typeface="Cascadia Code" panose="020B0609020000020004" pitchFamily="49" charset="0"/>
                <a:cs typeface="Cascadia Code" panose="020B0609020000020004" pitchFamily="49" charset="0"/>
              </a:rPr>
              <a:t>(index=False):</a:t>
            </a:r>
          </a:p>
          <a:p>
            <a:r>
              <a:rPr lang="en-MY" sz="2400" dirty="0">
                <a:latin typeface="Cascadia Code" panose="020B0609020000020004" pitchFamily="49" charset="0"/>
                <a:cs typeface="Cascadia Code" panose="020B0609020000020004" pitchFamily="49" charset="0"/>
              </a:rPr>
              <a:t>        start, end = coords[source], coords[destination]</a:t>
            </a:r>
          </a:p>
          <a:p>
            <a:r>
              <a:rPr lang="en-MY" sz="2400" dirty="0">
                <a:latin typeface="Cascadia Code" panose="020B0609020000020004" pitchFamily="49" charset="0"/>
                <a:cs typeface="Cascadia Code" panose="020B0609020000020004" pitchFamily="49" charset="0"/>
              </a:rPr>
              <a:t>        distance =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start["latitude"], start["longitude"], end["latitude"], end["longitude"]</a:t>
            </a:r>
          </a:p>
          <a:p>
            <a:r>
              <a:rPr lang="en-MY" sz="2400" dirty="0">
                <a:latin typeface="Cascadia Code" panose="020B0609020000020004" pitchFamily="49" charset="0"/>
                <a:cs typeface="Cascadia Code" panose="020B0609020000020004" pitchFamily="49" charset="0"/>
              </a:rPr>
              <a:t>        )</a:t>
            </a:r>
          </a:p>
          <a:p>
            <a:r>
              <a:rPr lang="en-MY" sz="2400" dirty="0">
                <a:latin typeface="Cascadia Code" panose="020B0609020000020004" pitchFamily="49" charset="0"/>
                <a:cs typeface="Cascadia Code" panose="020B0609020000020004" pitchFamily="49" charset="0"/>
              </a:rPr>
              <a:t>        adjacency[source].append((destination, distance))</a:t>
            </a:r>
          </a:p>
          <a:p>
            <a:r>
              <a:rPr lang="en-MY" sz="2400" dirty="0"/>
              <a:t>Builds the actual graph. Starts with every valid airport having an empty flight list, then for each cleaned route, calculates its real-world distance and adds (destination, distance) to the source airport's list.</a:t>
            </a:r>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for source in adjacency:</a:t>
            </a:r>
          </a:p>
          <a:p>
            <a:r>
              <a:rPr lang="en-MY" sz="2400" dirty="0">
                <a:latin typeface="Cascadia Code" panose="020B0609020000020004" pitchFamily="49" charset="0"/>
                <a:cs typeface="Cascadia Code" panose="020B0609020000020004" pitchFamily="49" charset="0"/>
              </a:rPr>
              <a:t>        adjacency[source].sort(key=lambda item: item[0])</a:t>
            </a:r>
          </a:p>
          <a:p>
            <a:r>
              <a:rPr lang="en-MY" sz="2400" dirty="0"/>
              <a:t>Sorts each airport's outgoing flights alphabetically by destination code. This isn't required for the algorithms to work,  it's there so results are </a:t>
            </a:r>
            <a:r>
              <a:rPr lang="en-MY" sz="2400" b="1" dirty="0"/>
              <a:t>deterministic</a:t>
            </a:r>
            <a:r>
              <a:rPr lang="en-MY" sz="2400" dirty="0"/>
              <a:t> (running the lab twice gives identical output, useful for grading/comparison).</a:t>
            </a:r>
          </a:p>
        </p:txBody>
      </p:sp>
    </p:spTree>
    <p:extLst>
      <p:ext uri="{BB962C8B-B14F-4D97-AF65-F5344CB8AC3E}">
        <p14:creationId xmlns:p14="http://schemas.microsoft.com/office/powerpoint/2010/main" val="3771551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E7F31-C221-6433-19B1-F866844A74C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A284017-617C-D542-5547-2DDA1435289F}"/>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610D6BCE-2FD5-6659-2B48-F33C029B7C75}"/>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5B6DE858-DD68-72DB-B77B-7791EEB8C976}"/>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AutoShape 2">
            <a:extLst>
              <a:ext uri="{FF2B5EF4-FFF2-40B4-BE49-F238E27FC236}">
                <a16:creationId xmlns:a16="http://schemas.microsoft.com/office/drawing/2014/main" id="{3719747C-492C-905E-B1DD-0AF8D37B9D66}"/>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07E7701E-1184-7019-D19F-EAAA8C24DA87}"/>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602C4521-57AF-EFD6-D07A-02DB28AED1F6}"/>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 openflights.py</a:t>
            </a:r>
          </a:p>
        </p:txBody>
      </p:sp>
      <p:sp>
        <p:nvSpPr>
          <p:cNvPr id="12" name="TextBox 11">
            <a:extLst>
              <a:ext uri="{FF2B5EF4-FFF2-40B4-BE49-F238E27FC236}">
                <a16:creationId xmlns:a16="http://schemas.microsoft.com/office/drawing/2014/main" id="{7ABC78E3-6F4A-10EC-9E03-CD24B0E543B6}"/>
              </a:ext>
            </a:extLst>
          </p:cNvPr>
          <p:cNvSpPr txBox="1"/>
          <p:nvPr/>
        </p:nvSpPr>
        <p:spPr>
          <a:xfrm>
            <a:off x="1080135" y="1316504"/>
            <a:ext cx="16127730" cy="7109639"/>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 stats = {</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airport_rows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(airports),</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valid_airports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valid_airports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route_rows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raw_route_count</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unique_valid_routes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cleaned_routes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removed_route_rows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raw_route_count</a:t>
            </a:r>
            <a:r>
              <a:rPr lang="en-MY" sz="2400" dirty="0">
                <a:latin typeface="Cascadia Code" panose="020B0609020000020004" pitchFamily="49" charset="0"/>
                <a:cs typeface="Cascadia Code" panose="020B0609020000020004" pitchFamily="49" charset="0"/>
              </a:rPr>
              <a:t> - </a:t>
            </a:r>
            <a:r>
              <a:rPr lang="en-MY" sz="2400" dirty="0" err="1">
                <a:latin typeface="Cascadia Code" panose="020B0609020000020004" pitchFamily="49" charset="0"/>
                <a:cs typeface="Cascadia Code" panose="020B0609020000020004" pitchFamily="49" charset="0"/>
              </a:rPr>
              <a:t>len</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cleaned_routes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p>
          <a:p>
            <a:r>
              <a:rPr lang="en-MY" sz="2400" dirty="0">
                <a:latin typeface="Cascadia Code" panose="020B0609020000020004" pitchFamily="49" charset="0"/>
                <a:cs typeface="Cascadia Code" panose="020B0609020000020004" pitchFamily="49" charset="0"/>
              </a:rPr>
              <a:t>    return </a:t>
            </a:r>
            <a:r>
              <a:rPr lang="en-MY" sz="2400" dirty="0" err="1">
                <a:latin typeface="Cascadia Code" panose="020B0609020000020004" pitchFamily="49" charset="0"/>
                <a:cs typeface="Cascadia Code" panose="020B0609020000020004" pitchFamily="49" charset="0"/>
              </a:rPr>
              <a:t>valid_airports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cleaned_routes</a:t>
            </a:r>
            <a:r>
              <a:rPr lang="en-MY" sz="2400" dirty="0">
                <a:latin typeface="Cascadia Code" panose="020B0609020000020004" pitchFamily="49" charset="0"/>
                <a:cs typeface="Cascadia Code" panose="020B0609020000020004" pitchFamily="49" charset="0"/>
              </a:rPr>
              <a:t>, coords, adjacency, stats</a:t>
            </a:r>
          </a:p>
          <a:p>
            <a:r>
              <a:rPr lang="en-MY" sz="2400" dirty="0"/>
              <a:t>Packages up the before/after counts for Question 1's report, then returns everything the lab needs.</a:t>
            </a:r>
          </a:p>
          <a:p>
            <a:endParaRPr lang="en-MY" sz="2400" dirty="0"/>
          </a:p>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route_is_valid</a:t>
            </a:r>
            <a:r>
              <a:rPr lang="en-MY" sz="2400" dirty="0">
                <a:latin typeface="Cascadia Code" panose="020B0609020000020004" pitchFamily="49" charset="0"/>
                <a:cs typeface="Cascadia Code" panose="020B0609020000020004" pitchFamily="49" charset="0"/>
              </a:rPr>
              <a:t>(path: list[str], adjacency) -&gt; bool:</a:t>
            </a:r>
          </a:p>
          <a:p>
            <a:r>
              <a:rPr lang="en-MY" sz="2400" dirty="0">
                <a:latin typeface="Cascadia Code" panose="020B0609020000020004" pitchFamily="49" charset="0"/>
                <a:cs typeface="Cascadia Code" panose="020B0609020000020004" pitchFamily="49" charset="0"/>
              </a:rPr>
              <a:t>    if not path:</a:t>
            </a:r>
          </a:p>
          <a:p>
            <a:r>
              <a:rPr lang="en-MY" sz="2400" dirty="0">
                <a:latin typeface="Cascadia Code" panose="020B0609020000020004" pitchFamily="49" charset="0"/>
                <a:cs typeface="Cascadia Code" panose="020B0609020000020004" pitchFamily="49" charset="0"/>
              </a:rPr>
              <a:t>        return False</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edge_sets</a:t>
            </a:r>
            <a:r>
              <a:rPr lang="en-MY" sz="2400" dirty="0">
                <a:latin typeface="Cascadia Code" panose="020B0609020000020004" pitchFamily="49" charset="0"/>
                <a:cs typeface="Cascadia Code" panose="020B0609020000020004" pitchFamily="49" charset="0"/>
              </a:rPr>
              <a:t> = {state: {neighbour for neighbour, _ in edges} for state, edges in </a:t>
            </a:r>
            <a:r>
              <a:rPr lang="en-MY" sz="2400" dirty="0" err="1">
                <a:latin typeface="Cascadia Code" panose="020B0609020000020004" pitchFamily="49" charset="0"/>
                <a:cs typeface="Cascadia Code" panose="020B0609020000020004" pitchFamily="49" charset="0"/>
              </a:rPr>
              <a:t>adjacency.items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all(v in </a:t>
            </a:r>
            <a:r>
              <a:rPr lang="en-MY" sz="2400" dirty="0" err="1">
                <a:latin typeface="Cascadia Code" panose="020B0609020000020004" pitchFamily="49" charset="0"/>
                <a:cs typeface="Cascadia Code" panose="020B0609020000020004" pitchFamily="49" charset="0"/>
              </a:rPr>
              <a:t>edge_sets.get</a:t>
            </a:r>
            <a:r>
              <a:rPr lang="en-MY" sz="2400" dirty="0">
                <a:latin typeface="Cascadia Code" panose="020B0609020000020004" pitchFamily="49" charset="0"/>
                <a:cs typeface="Cascadia Code" panose="020B0609020000020004" pitchFamily="49" charset="0"/>
              </a:rPr>
              <a:t>(u, set()) for u, v in zip(path, path[1:]))</a:t>
            </a:r>
          </a:p>
          <a:p>
            <a:r>
              <a:rPr lang="en-MY" sz="2400" dirty="0"/>
              <a:t>An empty path is automatically invalid. Otherwise, builds a quick lookup of "which destinations exist from each airport" (ignoring distances, just checking connectivity), then checks that </a:t>
            </a:r>
            <a:r>
              <a:rPr lang="en-MY" sz="2400" b="1" dirty="0"/>
              <a:t>every</a:t>
            </a:r>
            <a:r>
              <a:rPr lang="en-MY" sz="2400" dirty="0"/>
              <a:t> consecutive pair in the path is a genuine route. all(...) only returns True if every single pair passes.</a:t>
            </a:r>
          </a:p>
        </p:txBody>
      </p:sp>
    </p:spTree>
    <p:extLst>
      <p:ext uri="{BB962C8B-B14F-4D97-AF65-F5344CB8AC3E}">
        <p14:creationId xmlns:p14="http://schemas.microsoft.com/office/powerpoint/2010/main" val="2045456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0230E-6918-C5E3-70AB-25E506CC99E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995B5A7-41CE-34C3-3B95-EA256BBDE70F}"/>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D6FA6C99-F061-236D-B2A1-8F0E90C87100}"/>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9CB088F6-E0BA-42C5-F057-DF8368B67EF4}"/>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6" name="AutoShape 2">
            <a:extLst>
              <a:ext uri="{FF2B5EF4-FFF2-40B4-BE49-F238E27FC236}">
                <a16:creationId xmlns:a16="http://schemas.microsoft.com/office/drawing/2014/main" id="{38AC0BA7-A5A7-1429-3FE5-F3E3B82C5A20}"/>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EF1CE5C3-4CAE-5E09-B37C-D73D539180EF}"/>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893D518A-23A1-33B3-74DD-A12B6A0D50C9}"/>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a:t>
            </a:r>
            <a:r>
              <a:rPr lang="en-MY" sz="4000" b="1" dirty="0"/>
              <a:t> </a:t>
            </a: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plotting.py</a:t>
            </a:r>
          </a:p>
        </p:txBody>
      </p:sp>
      <p:sp>
        <p:nvSpPr>
          <p:cNvPr id="12" name="TextBox 11">
            <a:extLst>
              <a:ext uri="{FF2B5EF4-FFF2-40B4-BE49-F238E27FC236}">
                <a16:creationId xmlns:a16="http://schemas.microsoft.com/office/drawing/2014/main" id="{A1CF6B16-515F-5E9E-C77E-2AE95FA120A5}"/>
              </a:ext>
            </a:extLst>
          </p:cNvPr>
          <p:cNvSpPr txBox="1"/>
          <p:nvPr/>
        </p:nvSpPr>
        <p:spPr>
          <a:xfrm>
            <a:off x="756447" y="1316504"/>
            <a:ext cx="17051493" cy="7848302"/>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import </a:t>
            </a:r>
            <a:r>
              <a:rPr lang="en-MY" sz="2400" dirty="0" err="1">
                <a:latin typeface="Cascadia Code" panose="020B0609020000020004" pitchFamily="49" charset="0"/>
                <a:cs typeface="Cascadia Code" panose="020B0609020000020004" pitchFamily="49" charset="0"/>
              </a:rPr>
              <a:t>matplotlib.pyplot</a:t>
            </a:r>
            <a:r>
              <a:rPr lang="en-MY" sz="2400" dirty="0">
                <a:latin typeface="Cascadia Code" panose="020B0609020000020004" pitchFamily="49" charset="0"/>
                <a:cs typeface="Cascadia Code" panose="020B0609020000020004" pitchFamily="49" charset="0"/>
              </a:rPr>
              <a:t> as </a:t>
            </a:r>
            <a:r>
              <a:rPr lang="en-MY" sz="2400" dirty="0" err="1">
                <a:latin typeface="Cascadia Code" panose="020B0609020000020004" pitchFamily="49" charset="0"/>
                <a:cs typeface="Cascadia Code" panose="020B0609020000020004" pitchFamily="49" charset="0"/>
              </a:rPr>
              <a:t>plt</a:t>
            </a:r>
            <a:endParaRPr lang="en-MY" sz="2400" dirty="0">
              <a:latin typeface="Cascadia Code" panose="020B0609020000020004" pitchFamily="49" charset="0"/>
              <a:cs typeface="Cascadia Code" panose="020B0609020000020004" pitchFamily="49" charset="0"/>
            </a:endParaRPr>
          </a:p>
          <a:p>
            <a:endParaRPr lang="en-MY" sz="2400" dirty="0">
              <a:latin typeface="Cascadia Code" panose="020B0609020000020004" pitchFamily="49" charset="0"/>
              <a:cs typeface="Cascadia Code" panose="020B0609020000020004" pitchFamily="49" charset="0"/>
            </a:endParaRPr>
          </a:p>
          <a:p>
            <a:r>
              <a:rPr lang="en-MY" sz="2400" dirty="0">
                <a:latin typeface="Cascadia Code" panose="020B0609020000020004" pitchFamily="49" charset="0"/>
                <a:cs typeface="Cascadia Code" panose="020B0609020000020004" pitchFamily="49" charset="0"/>
              </a:rPr>
              <a:t>def </a:t>
            </a:r>
            <a:r>
              <a:rPr lang="en-MY" sz="2400" dirty="0" err="1">
                <a:latin typeface="Cascadia Code" panose="020B0609020000020004" pitchFamily="49" charset="0"/>
                <a:cs typeface="Cascadia Code" panose="020B0609020000020004" pitchFamily="49" charset="0"/>
              </a:rPr>
              <a:t>plot_route_paths</a:t>
            </a:r>
            <a:r>
              <a:rPr lang="en-MY" sz="2400" dirty="0">
                <a:latin typeface="Cascadia Code" panose="020B0609020000020004" pitchFamily="49" charset="0"/>
                <a:cs typeface="Cascadia Code" panose="020B0609020000020004" pitchFamily="49" charset="0"/>
              </a:rPr>
              <a:t>(paths, coords, title: str, </a:t>
            </a:r>
            <a:r>
              <a:rPr lang="en-MY" sz="2400" dirty="0" err="1">
                <a:latin typeface="Cascadia Code" panose="020B0609020000020004" pitchFamily="49" charset="0"/>
                <a:cs typeface="Cascadia Code" panose="020B0609020000020004" pitchFamily="49" charset="0"/>
              </a:rPr>
              <a:t>figsize</a:t>
            </a:r>
            <a:r>
              <a:rPr lang="en-MY" sz="2400" dirty="0">
                <a:latin typeface="Cascadia Code" panose="020B0609020000020004" pitchFamily="49" charset="0"/>
                <a:cs typeface="Cascadia Code" panose="020B0609020000020004" pitchFamily="49" charset="0"/>
              </a:rPr>
              <a:t>=(10, 5)):</a:t>
            </a:r>
          </a:p>
          <a:p>
            <a:r>
              <a:rPr lang="en-MY" sz="2400" dirty="0">
                <a:latin typeface="Cascadia Code" panose="020B0609020000020004" pitchFamily="49" charset="0"/>
                <a:cs typeface="Cascadia Code" panose="020B0609020000020004" pitchFamily="49" charset="0"/>
              </a:rPr>
              <a:t>    figure, axis = </a:t>
            </a:r>
            <a:r>
              <a:rPr lang="en-MY" sz="2400" dirty="0" err="1">
                <a:latin typeface="Cascadia Code" panose="020B0609020000020004" pitchFamily="49" charset="0"/>
                <a:cs typeface="Cascadia Code" panose="020B0609020000020004" pitchFamily="49" charset="0"/>
              </a:rPr>
              <a:t>plt.subplots</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figsize</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figsize</a:t>
            </a:r>
            <a:r>
              <a:rPr lang="en-MY" sz="2400" dirty="0">
                <a:latin typeface="Cascadia Code" panose="020B0609020000020004" pitchFamily="49" charset="0"/>
                <a:cs typeface="Cascadia Code" panose="020B0609020000020004" pitchFamily="49" charset="0"/>
              </a:rPr>
              <a:t>)</a:t>
            </a:r>
          </a:p>
          <a:p>
            <a:r>
              <a:rPr lang="en-MY" sz="2400" dirty="0"/>
              <a:t>Creates a blank chart canvas (figure) and drawing area (axis), sized 10×5 inches by default.</a:t>
            </a:r>
          </a:p>
          <a:p>
            <a:endParaRPr lang="en-MY" sz="2400" dirty="0"/>
          </a:p>
          <a:p>
            <a:r>
              <a:rPr lang="en-MY" sz="2400" dirty="0"/>
              <a:t>          </a:t>
            </a:r>
            <a:r>
              <a:rPr lang="en-MY" sz="2400" dirty="0">
                <a:latin typeface="Cascadia Code" panose="020B0609020000020004" pitchFamily="49" charset="0"/>
                <a:cs typeface="Cascadia Code" panose="020B0609020000020004" pitchFamily="49" charset="0"/>
              </a:rPr>
              <a:t>for label, path in </a:t>
            </a:r>
            <a:r>
              <a:rPr lang="en-MY" sz="2400" dirty="0" err="1">
                <a:latin typeface="Cascadia Code" panose="020B0609020000020004" pitchFamily="49" charset="0"/>
                <a:cs typeface="Cascadia Code" panose="020B0609020000020004" pitchFamily="49" charset="0"/>
              </a:rPr>
              <a:t>paths.items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longitudes = [coords[airport]["longitude"] for airport in path]</a:t>
            </a:r>
          </a:p>
          <a:p>
            <a:r>
              <a:rPr lang="en-MY" sz="2400" dirty="0">
                <a:latin typeface="Cascadia Code" panose="020B0609020000020004" pitchFamily="49" charset="0"/>
                <a:cs typeface="Cascadia Code" panose="020B0609020000020004" pitchFamily="49" charset="0"/>
              </a:rPr>
              <a:t>        latitudes = [coords[airport]["latitude"] for airport in path]</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axis.plot</a:t>
            </a:r>
            <a:r>
              <a:rPr lang="en-MY" sz="2400" dirty="0">
                <a:latin typeface="Cascadia Code" panose="020B0609020000020004" pitchFamily="49" charset="0"/>
                <a:cs typeface="Cascadia Code" panose="020B0609020000020004" pitchFamily="49" charset="0"/>
              </a:rPr>
              <a:t>(longitudes, latitudes, marker="o", linewidth=1.5, </a:t>
            </a:r>
            <a:r>
              <a:rPr lang="en-MY" sz="2400" dirty="0" err="1">
                <a:latin typeface="Cascadia Code" panose="020B0609020000020004" pitchFamily="49" charset="0"/>
                <a:cs typeface="Cascadia Code" panose="020B0609020000020004" pitchFamily="49" charset="0"/>
              </a:rPr>
              <a:t>markersize</a:t>
            </a:r>
            <a:r>
              <a:rPr lang="en-MY" sz="2400" dirty="0">
                <a:latin typeface="Cascadia Code" panose="020B0609020000020004" pitchFamily="49" charset="0"/>
                <a:cs typeface="Cascadia Code" panose="020B0609020000020004" pitchFamily="49" charset="0"/>
              </a:rPr>
              <a:t>=3, label=label)</a:t>
            </a:r>
          </a:p>
          <a:p>
            <a:r>
              <a:rPr lang="en-MY" sz="2400" dirty="0"/>
              <a:t>For each algorithm's route (e.g. "BFS": ["KUL", "AMS", "KEF"]), pulls out the longitude and latitude of every airport in order, then draws a connected line through them, with small dots (marker="o") at each airport, </a:t>
            </a:r>
            <a:r>
              <a:rPr lang="en-MY" sz="2400" dirty="0" err="1"/>
              <a:t>labeled</a:t>
            </a:r>
            <a:r>
              <a:rPr lang="en-MY" sz="2400" dirty="0"/>
              <a:t> by algorithm name for the legend.</a:t>
            </a:r>
          </a:p>
          <a:p>
            <a:endParaRPr lang="en-MY" sz="2400" dirty="0"/>
          </a:p>
          <a:p>
            <a:r>
              <a:rPr lang="en-MY" sz="2400" dirty="0"/>
              <a:t>    	    </a:t>
            </a:r>
            <a:r>
              <a:rPr lang="en-MY" sz="2400" dirty="0" err="1">
                <a:latin typeface="Cascadia Code" panose="020B0609020000020004" pitchFamily="49" charset="0"/>
                <a:cs typeface="Cascadia Code" panose="020B0609020000020004" pitchFamily="49" charset="0"/>
              </a:rPr>
              <a:t>axis.set</a:t>
            </a:r>
            <a:r>
              <a:rPr lang="en-MY" sz="2400" dirty="0">
                <a:latin typeface="Cascadia Code" panose="020B0609020000020004" pitchFamily="49" charset="0"/>
                <a:cs typeface="Cascadia Code" panose="020B0609020000020004" pitchFamily="49" charset="0"/>
              </a:rPr>
              <a:t>(title=title, </a:t>
            </a:r>
            <a:r>
              <a:rPr lang="en-MY" sz="2400" dirty="0" err="1">
                <a:latin typeface="Cascadia Code" panose="020B0609020000020004" pitchFamily="49" charset="0"/>
                <a:cs typeface="Cascadia Code" panose="020B0609020000020004" pitchFamily="49" charset="0"/>
              </a:rPr>
              <a:t>xlabel</a:t>
            </a:r>
            <a:r>
              <a:rPr lang="en-MY" sz="2400" dirty="0">
                <a:latin typeface="Cascadia Code" panose="020B0609020000020004" pitchFamily="49" charset="0"/>
                <a:cs typeface="Cascadia Code" panose="020B0609020000020004" pitchFamily="49" charset="0"/>
              </a:rPr>
              <a:t>="Longitude", </a:t>
            </a:r>
            <a:r>
              <a:rPr lang="en-MY" sz="2400" dirty="0" err="1">
                <a:latin typeface="Cascadia Code" panose="020B0609020000020004" pitchFamily="49" charset="0"/>
                <a:cs typeface="Cascadia Code" panose="020B0609020000020004" pitchFamily="49" charset="0"/>
              </a:rPr>
              <a:t>ylabel</a:t>
            </a:r>
            <a:r>
              <a:rPr lang="en-MY" sz="2400" dirty="0">
                <a:latin typeface="Cascadia Code" panose="020B0609020000020004" pitchFamily="49" charset="0"/>
                <a:cs typeface="Cascadia Code" panose="020B0609020000020004" pitchFamily="49" charset="0"/>
              </a:rPr>
              <a:t>="Latitude")</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axis.grid</a:t>
            </a:r>
            <a:r>
              <a:rPr lang="en-MY" sz="2400" dirty="0">
                <a:latin typeface="Cascadia Code" panose="020B0609020000020004" pitchFamily="49" charset="0"/>
                <a:cs typeface="Cascadia Code" panose="020B0609020000020004" pitchFamily="49" charset="0"/>
              </a:rPr>
              <a:t>(alpha=0.25)</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axis.legend</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figure.tight_layout</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return figure, axis</a:t>
            </a:r>
          </a:p>
          <a:p>
            <a:r>
              <a:rPr lang="en-MY" sz="2400" dirty="0"/>
              <a:t>Adds the title and axis labels, a faint grid (alpha=0.25 = 25% opacity), and a legend box identifying which line is which algorithm. </a:t>
            </a:r>
            <a:r>
              <a:rPr lang="en-MY" sz="2400" dirty="0" err="1"/>
              <a:t>tight_layout</a:t>
            </a:r>
            <a:r>
              <a:rPr lang="en-MY" sz="2400" dirty="0"/>
              <a:t>() trims awkward extra whitespace. Returns both the figure and axis in case the caller wants to customize further before saving.</a:t>
            </a:r>
          </a:p>
        </p:txBody>
      </p:sp>
    </p:spTree>
    <p:extLst>
      <p:ext uri="{BB962C8B-B14F-4D97-AF65-F5344CB8AC3E}">
        <p14:creationId xmlns:p14="http://schemas.microsoft.com/office/powerpoint/2010/main" val="479308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5FF1-972F-0D82-6D73-01DB5CA4455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1A281B3-5C51-9368-888F-12BE48BC8CC0}"/>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FD43787A-61AB-0BFD-D560-AD895318D76C}"/>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35AE03DE-01F9-50AC-CE43-7FE59067C2B0}"/>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AutoShape 2">
            <a:extLst>
              <a:ext uri="{FF2B5EF4-FFF2-40B4-BE49-F238E27FC236}">
                <a16:creationId xmlns:a16="http://schemas.microsoft.com/office/drawing/2014/main" id="{18EDD6AE-5758-ED5A-885A-06C1C071EA90}"/>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DFFA1141-77E6-DFE8-89E5-41CDC47D6156}"/>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11B8C3B8-C54C-D3AF-B4E5-551C96CFCE2E}"/>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utils/</a:t>
            </a:r>
            <a:r>
              <a:rPr lang="en-MY" sz="4000" b="1" dirty="0"/>
              <a:t> </a:t>
            </a: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__init__.py</a:t>
            </a:r>
          </a:p>
        </p:txBody>
      </p:sp>
      <p:sp>
        <p:nvSpPr>
          <p:cNvPr id="12" name="TextBox 11">
            <a:extLst>
              <a:ext uri="{FF2B5EF4-FFF2-40B4-BE49-F238E27FC236}">
                <a16:creationId xmlns:a16="http://schemas.microsoft.com/office/drawing/2014/main" id="{09F96FD3-8E38-2EDA-4A0F-054FD07DE364}"/>
              </a:ext>
            </a:extLst>
          </p:cNvPr>
          <p:cNvSpPr txBox="1"/>
          <p:nvPr/>
        </p:nvSpPr>
        <p:spPr>
          <a:xfrm>
            <a:off x="756447" y="1316504"/>
            <a:ext cx="17051493" cy="3416320"/>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from .core import </a:t>
            </a:r>
            <a:r>
              <a:rPr lang="en-MY" sz="2400" dirty="0" err="1">
                <a:latin typeface="Cascadia Code" panose="020B0609020000020004" pitchFamily="49" charset="0"/>
                <a:cs typeface="Cascadia Code" panose="020B0609020000020004" pitchFamily="49" charset="0"/>
              </a:rPr>
              <a:t>SearchResult</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astar</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best_first</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bfs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gbfs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ucs</a:t>
            </a:r>
            <a:endParaRPr lang="en-MY" sz="2400" dirty="0">
              <a:latin typeface="Cascadia Code" panose="020B0609020000020004" pitchFamily="49" charset="0"/>
              <a:cs typeface="Cascadia Code" panose="020B0609020000020004" pitchFamily="49" charset="0"/>
            </a:endParaRPr>
          </a:p>
          <a:p>
            <a:r>
              <a:rPr lang="en-MY" sz="2400" dirty="0">
                <a:latin typeface="Cascadia Code" panose="020B0609020000020004" pitchFamily="49" charset="0"/>
                <a:cs typeface="Cascadia Code" panose="020B0609020000020004" pitchFamily="49" charset="0"/>
              </a:rPr>
              <a:t>from .</a:t>
            </a:r>
            <a:r>
              <a:rPr lang="en-MY" sz="2400" dirty="0" err="1">
                <a:latin typeface="Cascadia Code" panose="020B0609020000020004" pitchFamily="49" charset="0"/>
                <a:cs typeface="Cascadia Code" panose="020B0609020000020004" pitchFamily="49" charset="0"/>
              </a:rPr>
              <a:t>openflights</a:t>
            </a:r>
            <a:r>
              <a:rPr lang="en-MY" sz="2400" dirty="0">
                <a:latin typeface="Cascadia Code" panose="020B0609020000020004" pitchFamily="49" charset="0"/>
                <a:cs typeface="Cascadia Code" panose="020B0609020000020004" pitchFamily="49" charset="0"/>
              </a:rPr>
              <a:t> import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load_openflights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route_is_valid</a:t>
            </a:r>
            <a:endParaRPr lang="en-MY" sz="2400" dirty="0">
              <a:latin typeface="Cascadia Code" panose="020B0609020000020004" pitchFamily="49" charset="0"/>
              <a:cs typeface="Cascadia Code" panose="020B0609020000020004" pitchFamily="49" charset="0"/>
            </a:endParaRPr>
          </a:p>
          <a:p>
            <a:r>
              <a:rPr lang="en-MY" sz="2400" dirty="0">
                <a:latin typeface="Cascadia Code" panose="020B0609020000020004" pitchFamily="49" charset="0"/>
                <a:cs typeface="Cascadia Code" panose="020B0609020000020004" pitchFamily="49" charset="0"/>
              </a:rPr>
              <a:t>from .plotting import </a:t>
            </a:r>
            <a:r>
              <a:rPr lang="en-MY" sz="2400" dirty="0" err="1">
                <a:latin typeface="Cascadia Code" panose="020B0609020000020004" pitchFamily="49" charset="0"/>
                <a:cs typeface="Cascadia Code" panose="020B0609020000020004" pitchFamily="49" charset="0"/>
              </a:rPr>
              <a:t>plot_route_paths</a:t>
            </a:r>
            <a:endParaRPr lang="en-MY" sz="2400" dirty="0">
              <a:latin typeface="Cascadia Code" panose="020B0609020000020004" pitchFamily="49" charset="0"/>
              <a:cs typeface="Cascadia Code" panose="020B0609020000020004" pitchFamily="49" charset="0"/>
            </a:endParaRPr>
          </a:p>
          <a:p>
            <a:r>
              <a:rPr lang="en-MY" sz="2400" dirty="0"/>
              <a:t>It is as "the table of contents" - it's what lets the final lab script write the short, clean:</a:t>
            </a:r>
          </a:p>
          <a:p>
            <a:endParaRPr lang="en-MY" sz="2400" dirty="0"/>
          </a:p>
          <a:p>
            <a:endParaRPr lang="en-MY" sz="2400" dirty="0"/>
          </a:p>
          <a:p>
            <a:r>
              <a:rPr lang="en-MY" sz="2400" dirty="0">
                <a:latin typeface="Cascadia Code" panose="020B0609020000020004" pitchFamily="49" charset="0"/>
                <a:cs typeface="Cascadia Code" panose="020B0609020000020004" pitchFamily="49" charset="0"/>
              </a:rPr>
              <a:t>from utils import </a:t>
            </a:r>
            <a:r>
              <a:rPr lang="en-MY" sz="2400" dirty="0" err="1">
                <a:latin typeface="Cascadia Code" panose="020B0609020000020004" pitchFamily="49" charset="0"/>
                <a:cs typeface="Cascadia Code" panose="020B0609020000020004" pitchFamily="49" charset="0"/>
              </a:rPr>
              <a:t>bfs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load_openflights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plot_route_paths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route_is_valid</a:t>
            </a:r>
            <a:endParaRPr lang="en-MY" sz="2400" dirty="0">
              <a:latin typeface="Cascadia Code" panose="020B0609020000020004" pitchFamily="49" charset="0"/>
              <a:cs typeface="Cascadia Code" panose="020B0609020000020004" pitchFamily="49" charset="0"/>
            </a:endParaRPr>
          </a:p>
          <a:p>
            <a:r>
              <a:rPr lang="en-MY" sz="2400" dirty="0"/>
              <a:t>instead of digging into individual files.</a:t>
            </a:r>
          </a:p>
        </p:txBody>
      </p:sp>
    </p:spTree>
    <p:extLst>
      <p:ext uri="{BB962C8B-B14F-4D97-AF65-F5344CB8AC3E}">
        <p14:creationId xmlns:p14="http://schemas.microsoft.com/office/powerpoint/2010/main" val="1715478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8F6F-A947-CFB3-AB2C-9A782D60068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1C975F6-6BE2-3B57-0ABA-B57E452530C5}"/>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6995F707-DA78-D2C7-7A2A-9A8EB7493B8E}"/>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8E8CCE74-DC72-9277-B3B6-0680BAE671FF}"/>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6" name="AutoShape 2">
            <a:extLst>
              <a:ext uri="{FF2B5EF4-FFF2-40B4-BE49-F238E27FC236}">
                <a16:creationId xmlns:a16="http://schemas.microsoft.com/office/drawing/2014/main" id="{5CA3EB30-0687-0BE6-CB7C-BA5D5B52A88C}"/>
              </a:ext>
            </a:extLst>
          </p:cNvPr>
          <p:cNvSpPr/>
          <p:nvPr/>
        </p:nvSpPr>
        <p:spPr>
          <a:xfrm>
            <a:off x="756446" y="963441"/>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5F5880A6-0149-1294-C8DB-5C56E944E1B7}"/>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C0A81053-31DC-35CB-B231-FEAB858E25EC}"/>
              </a:ext>
            </a:extLst>
          </p:cNvPr>
          <p:cNvSpPr txBox="1"/>
          <p:nvPr/>
        </p:nvSpPr>
        <p:spPr>
          <a:xfrm>
            <a:off x="979715" y="231683"/>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E7E31151-31C2-4D79-FE39-A41348ED7D0E}"/>
              </a:ext>
            </a:extLst>
          </p:cNvPr>
          <p:cNvSpPr txBox="1"/>
          <p:nvPr/>
        </p:nvSpPr>
        <p:spPr>
          <a:xfrm>
            <a:off x="574165" y="1084480"/>
            <a:ext cx="17139667" cy="8217634"/>
          </a:xfrm>
          <a:prstGeom prst="rect">
            <a:avLst/>
          </a:prstGeom>
          <a:noFill/>
        </p:spPr>
        <p:txBody>
          <a:bodyPr wrap="square">
            <a:spAutoFit/>
          </a:bodyPr>
          <a:lstStyle/>
          <a:p>
            <a:r>
              <a:rPr lang="en-MY" sz="2400" dirty="0">
                <a:latin typeface="Cascadia Code" panose="020B0609020000020004" pitchFamily="49" charset="0"/>
                <a:cs typeface="Cascadia Code" panose="020B0609020000020004" pitchFamily="49" charset="0"/>
              </a:rPr>
              <a:t>from </a:t>
            </a:r>
            <a:r>
              <a:rPr lang="en-MY" sz="2400" dirty="0" err="1">
                <a:latin typeface="Cascadia Code" panose="020B0609020000020004" pitchFamily="49" charset="0"/>
                <a:cs typeface="Cascadia Code" panose="020B0609020000020004" pitchFamily="49" charset="0"/>
              </a:rPr>
              <a:t>pathlib</a:t>
            </a:r>
            <a:r>
              <a:rPr lang="en-MY" sz="2400" dirty="0">
                <a:latin typeface="Cascadia Code" panose="020B0609020000020004" pitchFamily="49" charset="0"/>
                <a:cs typeface="Cascadia Code" panose="020B0609020000020004" pitchFamily="49" charset="0"/>
              </a:rPr>
              <a:t> import Path</a:t>
            </a:r>
          </a:p>
          <a:p>
            <a:r>
              <a:rPr lang="en-MY" sz="2400" dirty="0">
                <a:latin typeface="Cascadia Code" panose="020B0609020000020004" pitchFamily="49" charset="0"/>
                <a:cs typeface="Cascadia Code" panose="020B0609020000020004" pitchFamily="49" charset="0"/>
              </a:rPr>
              <a:t>Path is Python's modern way to handle file/folder locations that works the same on Windows, Mac, and Linux (instead of manually typing \ or /).</a:t>
            </a:r>
          </a:p>
          <a:p>
            <a:r>
              <a:rPr lang="en-MY" sz="2400" dirty="0">
                <a:latin typeface="Cascadia Code" panose="020B0609020000020004" pitchFamily="49" charset="0"/>
                <a:cs typeface="Cascadia Code" panose="020B0609020000020004" pitchFamily="49" charset="0"/>
              </a:rPr>
              <a:t>python</a:t>
            </a:r>
          </a:p>
          <a:p>
            <a:r>
              <a:rPr lang="en-MY" sz="2400" dirty="0">
                <a:latin typeface="Cascadia Code" panose="020B0609020000020004" pitchFamily="49" charset="0"/>
                <a:cs typeface="Cascadia Code" panose="020B0609020000020004" pitchFamily="49" charset="0"/>
              </a:rPr>
              <a:t>import </a:t>
            </a:r>
            <a:r>
              <a:rPr lang="en-MY" sz="2400" dirty="0" err="1">
                <a:latin typeface="Cascadia Code" panose="020B0609020000020004" pitchFamily="49" charset="0"/>
                <a:cs typeface="Cascadia Code" panose="020B0609020000020004" pitchFamily="49" charset="0"/>
              </a:rPr>
              <a:t>numpy</a:t>
            </a:r>
            <a:r>
              <a:rPr lang="en-MY" sz="2400" dirty="0">
                <a:latin typeface="Cascadia Code" panose="020B0609020000020004" pitchFamily="49" charset="0"/>
                <a:cs typeface="Cascadia Code" panose="020B0609020000020004" pitchFamily="49" charset="0"/>
              </a:rPr>
              <a:t> as np</a:t>
            </a:r>
          </a:p>
          <a:p>
            <a:r>
              <a:rPr lang="en-MY" sz="2400" dirty="0">
                <a:latin typeface="Cascadia Code" panose="020B0609020000020004" pitchFamily="49" charset="0"/>
                <a:cs typeface="Cascadia Code" panose="020B0609020000020004" pitchFamily="49" charset="0"/>
              </a:rPr>
              <a:t>import pandas as pd</a:t>
            </a:r>
          </a:p>
          <a:p>
            <a:r>
              <a:rPr lang="en-MY" sz="2400" dirty="0"/>
              <a:t>pandas gives you tables (like Excel, but in code) — used to hold and display the results. </a:t>
            </a:r>
            <a:r>
              <a:rPr lang="en-MY" sz="2400" dirty="0" err="1"/>
              <a:t>numpy</a:t>
            </a:r>
            <a:r>
              <a:rPr lang="en-MY" sz="2400" dirty="0"/>
              <a:t> gives fast math tools — here it's just used for one comparison (</a:t>
            </a:r>
            <a:r>
              <a:rPr lang="en-MY" sz="2400" dirty="0" err="1"/>
              <a:t>np.isclose</a:t>
            </a:r>
            <a:r>
              <a:rPr lang="en-MY" sz="2400" dirty="0"/>
              <a:t>) later.</a:t>
            </a:r>
          </a:p>
          <a:p>
            <a:endParaRPr lang="en-MY" sz="2400" dirty="0"/>
          </a:p>
          <a:p>
            <a:r>
              <a:rPr lang="en-MY" sz="2400" dirty="0">
                <a:latin typeface="Cascadia Code" panose="020B0609020000020004" pitchFamily="49" charset="0"/>
                <a:cs typeface="Cascadia Code" panose="020B0609020000020004" pitchFamily="49" charset="0"/>
              </a:rPr>
              <a:t>from utils import </a:t>
            </a:r>
            <a:r>
              <a:rPr lang="en-MY" sz="2400" dirty="0" err="1">
                <a:latin typeface="Cascadia Code" panose="020B0609020000020004" pitchFamily="49" charset="0"/>
                <a:cs typeface="Cascadia Code" panose="020B0609020000020004" pitchFamily="49" charset="0"/>
              </a:rPr>
              <a:t>bfs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load_openflights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plot_route_paths</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route_is_valid</a:t>
            </a:r>
            <a:endParaRPr lang="en-MY" sz="2400" dirty="0">
              <a:latin typeface="Cascadia Code" panose="020B0609020000020004" pitchFamily="49" charset="0"/>
              <a:cs typeface="Cascadia Code" panose="020B0609020000020004" pitchFamily="49" charset="0"/>
            </a:endParaRPr>
          </a:p>
          <a:p>
            <a:r>
              <a:rPr lang="en-MY" sz="2400" dirty="0"/>
              <a:t>Pulls in all the toolbox functions from utils/ — this only works because of __init__.py re-exporting them.</a:t>
            </a:r>
          </a:p>
          <a:p>
            <a:endParaRPr lang="en-MY" sz="2400" dirty="0"/>
          </a:p>
          <a:p>
            <a:r>
              <a:rPr lang="en-MY" sz="2400" dirty="0">
                <a:latin typeface="Cascadia Code" panose="020B0609020000020004" pitchFamily="49" charset="0"/>
                <a:cs typeface="Cascadia Code" panose="020B0609020000020004" pitchFamily="49" charset="0"/>
              </a:rPr>
              <a:t>ROOT = Path(__file__).resolve().</a:t>
            </a:r>
            <a:r>
              <a:rPr lang="en-MY" sz="2400" dirty="0" err="1">
                <a:latin typeface="Cascadia Code" panose="020B0609020000020004" pitchFamily="49" charset="0"/>
                <a:cs typeface="Cascadia Code" panose="020B0609020000020004" pitchFamily="49" charset="0"/>
              </a:rPr>
              <a:t>parent.parent</a:t>
            </a:r>
            <a:endParaRPr lang="en-MY" sz="2400" dirty="0">
              <a:latin typeface="Cascadia Code" panose="020B0609020000020004" pitchFamily="49" charset="0"/>
              <a:cs typeface="Cascadia Code" panose="020B0609020000020004" pitchFamily="49" charset="0"/>
            </a:endParaRPr>
          </a:p>
          <a:p>
            <a:r>
              <a:rPr lang="en-MY" sz="2400" dirty="0"/>
              <a:t>__file__ is "the path to this script itself." .resolve() turns it into a full, unambiguous path. .parent once = the folder this script sits in (</a:t>
            </a:r>
            <a:r>
              <a:rPr lang="en-MY" sz="2400" dirty="0" err="1"/>
              <a:t>all_experiments</a:t>
            </a:r>
            <a:r>
              <a:rPr lang="en-MY" sz="2400" dirty="0"/>
              <a:t>). .parent twice = one level up (AI, the course root) — regardless of which folder you launched VS Code from.</a:t>
            </a:r>
          </a:p>
          <a:p>
            <a:endParaRPr lang="en-MY" sz="2400" dirty="0"/>
          </a:p>
          <a:p>
            <a:r>
              <a:rPr lang="en-MY" sz="2400" dirty="0">
                <a:latin typeface="Cascadia Code" panose="020B0609020000020004" pitchFamily="49" charset="0"/>
                <a:cs typeface="Cascadia Code" panose="020B0609020000020004" pitchFamily="49" charset="0"/>
              </a:rPr>
              <a:t>DATA = ROOT / "</a:t>
            </a:r>
            <a:r>
              <a:rPr lang="en-MY" sz="2400" dirty="0" err="1">
                <a:latin typeface="Cascadia Code" panose="020B0609020000020004" pitchFamily="49" charset="0"/>
                <a:cs typeface="Cascadia Code" panose="020B0609020000020004" pitchFamily="49" charset="0"/>
              </a:rPr>
              <a:t>all_datasets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RESULTS = ROOT / "results" / "lab01"</a:t>
            </a:r>
          </a:p>
          <a:p>
            <a:r>
              <a:rPr lang="en-MY" sz="2400" dirty="0" err="1">
                <a:latin typeface="Cascadia Code" panose="020B0609020000020004" pitchFamily="49" charset="0"/>
                <a:cs typeface="Cascadia Code" panose="020B0609020000020004" pitchFamily="49" charset="0"/>
              </a:rPr>
              <a:t>RESULTS.mkdir</a:t>
            </a:r>
            <a:r>
              <a:rPr lang="en-MY" sz="2400" dirty="0">
                <a:latin typeface="Cascadia Code" panose="020B0609020000020004" pitchFamily="49" charset="0"/>
                <a:cs typeface="Cascadia Code" panose="020B0609020000020004" pitchFamily="49" charset="0"/>
              </a:rPr>
              <a:t>(parents=True, </a:t>
            </a:r>
            <a:r>
              <a:rPr lang="en-MY" sz="2400" dirty="0" err="1">
                <a:latin typeface="Cascadia Code" panose="020B0609020000020004" pitchFamily="49" charset="0"/>
                <a:cs typeface="Cascadia Code" panose="020B0609020000020004" pitchFamily="49" charset="0"/>
              </a:rPr>
              <a:t>exist_ok</a:t>
            </a:r>
            <a:r>
              <a:rPr lang="en-MY" sz="2400" dirty="0">
                <a:latin typeface="Cascadia Code" panose="020B0609020000020004" pitchFamily="49" charset="0"/>
                <a:cs typeface="Cascadia Code" panose="020B0609020000020004" pitchFamily="49" charset="0"/>
              </a:rPr>
              <a:t>=True)</a:t>
            </a:r>
          </a:p>
          <a:p>
            <a:r>
              <a:rPr lang="en-MY" sz="2400" dirty="0"/>
              <a:t>Builds the paths to the data folder and this lab's results folder. </a:t>
            </a:r>
            <a:r>
              <a:rPr lang="en-MY" sz="2400" dirty="0" err="1"/>
              <a:t>mkdir</a:t>
            </a:r>
            <a:r>
              <a:rPr lang="en-MY" sz="2400" dirty="0"/>
              <a:t>(parents=True, </a:t>
            </a:r>
            <a:r>
              <a:rPr lang="en-MY" sz="2400" dirty="0" err="1"/>
              <a:t>exist_ok</a:t>
            </a:r>
            <a:r>
              <a:rPr lang="en-MY" sz="2400" dirty="0"/>
              <a:t>=True) creates results/lab01/ if it doesn't exist yet, and doesn't complain if it already does.</a:t>
            </a:r>
          </a:p>
        </p:txBody>
      </p:sp>
    </p:spTree>
    <p:extLst>
      <p:ext uri="{BB962C8B-B14F-4D97-AF65-F5344CB8AC3E}">
        <p14:creationId xmlns:p14="http://schemas.microsoft.com/office/powerpoint/2010/main" val="1353415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EC71F-63C5-99B5-3CC8-4EB97C00E7E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D91F045-2FCF-B06B-4658-0A4DC26B11AA}"/>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8EB0DC76-3C6F-D767-4FF5-53A6456BF29C}"/>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FA557C8A-4D19-3D8D-736A-5E78073349A8}"/>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AutoShape 2">
            <a:extLst>
              <a:ext uri="{FF2B5EF4-FFF2-40B4-BE49-F238E27FC236}">
                <a16:creationId xmlns:a16="http://schemas.microsoft.com/office/drawing/2014/main" id="{4864ABCF-A7A8-FABA-442E-9067C8216EFE}"/>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56DB12A9-1B34-DA2F-90A9-89049B007F26}"/>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1F9BB813-28C5-D0A7-BA84-FA255921FFBE}"/>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9C1AC7C2-5238-7F44-C7C6-BBC42F6724B8}"/>
              </a:ext>
            </a:extLst>
          </p:cNvPr>
          <p:cNvSpPr txBox="1"/>
          <p:nvPr/>
        </p:nvSpPr>
        <p:spPr>
          <a:xfrm>
            <a:off x="1257300" y="1666352"/>
            <a:ext cx="14550390" cy="5632311"/>
          </a:xfrm>
          <a:prstGeom prst="rect">
            <a:avLst/>
          </a:prstGeom>
          <a:noFill/>
        </p:spPr>
        <p:txBody>
          <a:bodyPr wrap="square">
            <a:spAutoFit/>
          </a:bodyPr>
          <a:lstStyle/>
          <a:p>
            <a:r>
              <a:rPr lang="en-MY" sz="2400" b="1" dirty="0"/>
              <a:t>Question 1</a:t>
            </a:r>
          </a:p>
          <a:p>
            <a:endParaRPr lang="en-MY" sz="2400" dirty="0"/>
          </a:p>
          <a:p>
            <a:r>
              <a:rPr lang="en-MY" sz="2400" dirty="0">
                <a:latin typeface="Cascadia Code" panose="020B0609020000020004" pitchFamily="49" charset="0"/>
                <a:cs typeface="Cascadia Code" panose="020B0609020000020004" pitchFamily="49" charset="0"/>
              </a:rPr>
              <a:t>airports, routes, coords, graph, stats = </a:t>
            </a:r>
            <a:r>
              <a:rPr lang="en-MY" sz="2400" dirty="0" err="1">
                <a:latin typeface="Cascadia Code" panose="020B0609020000020004" pitchFamily="49" charset="0"/>
                <a:cs typeface="Cascadia Code" panose="020B0609020000020004" pitchFamily="49" charset="0"/>
              </a:rPr>
              <a:t>load_openflights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DATA / "lab01-03_airports.csv", DATA / "lab01-03_routes.csv"</a:t>
            </a:r>
          </a:p>
          <a:p>
            <a:r>
              <a:rPr lang="en-MY" sz="2400" dirty="0">
                <a:latin typeface="Cascadia Code" panose="020B0609020000020004" pitchFamily="49" charset="0"/>
                <a:cs typeface="Cascadia Code" panose="020B0609020000020004" pitchFamily="49" charset="0"/>
              </a:rPr>
              <a:t>)</a:t>
            </a:r>
          </a:p>
          <a:p>
            <a:r>
              <a:rPr lang="en-MY" sz="2400" dirty="0"/>
              <a:t>Calls the cleaning function from openflights.py. It hands back five things at once: the cleaned airport table, the cleaned route table, a dictionary of coordinates, the actual flight-connection graph, and some cleanup statistics.</a:t>
            </a:r>
          </a:p>
          <a:p>
            <a:endParaRPr lang="en-MY" sz="2400" dirty="0"/>
          </a:p>
          <a:p>
            <a:r>
              <a:rPr lang="en-MY" sz="2400" dirty="0">
                <a:latin typeface="Cascadia Code" panose="020B0609020000020004" pitchFamily="49" charset="0"/>
                <a:cs typeface="Cascadia Code" panose="020B0609020000020004" pitchFamily="49" charset="0"/>
              </a:rPr>
              <a:t>queries = </a:t>
            </a:r>
            <a:r>
              <a:rPr lang="en-MY" sz="2400" dirty="0" err="1">
                <a:latin typeface="Cascadia Code" panose="020B0609020000020004" pitchFamily="49" charset="0"/>
                <a:cs typeface="Cascadia Code" panose="020B0609020000020004" pitchFamily="49" charset="0"/>
              </a:rPr>
              <a:t>pd.read_csv</a:t>
            </a:r>
            <a:r>
              <a:rPr lang="en-MY" sz="2400" dirty="0">
                <a:latin typeface="Cascadia Code" panose="020B0609020000020004" pitchFamily="49" charset="0"/>
                <a:cs typeface="Cascadia Code" panose="020B0609020000020004" pitchFamily="49" charset="0"/>
              </a:rPr>
              <a:t>("utils/search_queries.csv").head(3)</a:t>
            </a:r>
          </a:p>
          <a:p>
            <a:r>
              <a:rPr lang="en-MY" sz="2400" dirty="0"/>
              <a:t>Loads the three test routes (KUL→KEF, SIN→EZE, NRT→CPT) from a small CSV, and keeps just the first three rows.</a:t>
            </a:r>
          </a:p>
          <a:p>
            <a:endParaRPr lang="en-MY" sz="2400" dirty="0"/>
          </a:p>
          <a:p>
            <a:r>
              <a:rPr lang="en-MY" sz="2400" dirty="0">
                <a:latin typeface="Cascadia Code" panose="020B0609020000020004" pitchFamily="49" charset="0"/>
                <a:cs typeface="Cascadia Code" panose="020B0609020000020004" pitchFamily="49" charset="0"/>
              </a:rPr>
              <a:t>print(</a:t>
            </a:r>
            <a:r>
              <a:rPr lang="en-MY" sz="2400" dirty="0" err="1">
                <a:latin typeface="Cascadia Code" panose="020B0609020000020004" pitchFamily="49" charset="0"/>
                <a:cs typeface="Cascadia Code" panose="020B0609020000020004" pitchFamily="49" charset="0"/>
              </a:rPr>
              <a:t>pd.Series</a:t>
            </a:r>
            <a:r>
              <a:rPr lang="en-MY" sz="2400" dirty="0">
                <a:latin typeface="Cascadia Code" panose="020B0609020000020004" pitchFamily="49" charset="0"/>
                <a:cs typeface="Cascadia Code" panose="020B0609020000020004" pitchFamily="49" charset="0"/>
              </a:rPr>
              <a:t>(stats, name="count").</a:t>
            </a:r>
            <a:r>
              <a:rPr lang="en-MY" sz="2400" dirty="0" err="1">
                <a:latin typeface="Cascadia Code" panose="020B0609020000020004" pitchFamily="49" charset="0"/>
                <a:cs typeface="Cascadia Code" panose="020B0609020000020004" pitchFamily="49" charset="0"/>
              </a:rPr>
              <a:t>to_frame</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print(queries)</a:t>
            </a:r>
          </a:p>
          <a:p>
            <a:r>
              <a:rPr lang="en-MY" sz="2400" dirty="0"/>
              <a:t>stats is a plain dictionary; wrapping it in a </a:t>
            </a:r>
            <a:r>
              <a:rPr lang="en-MY" sz="2400" dirty="0" err="1"/>
              <a:t>pandas.Series</a:t>
            </a:r>
            <a:r>
              <a:rPr lang="en-MY" sz="2400" dirty="0"/>
              <a:t> and then .</a:t>
            </a:r>
            <a:r>
              <a:rPr lang="en-MY" sz="2400" dirty="0" err="1"/>
              <a:t>to_frame</a:t>
            </a:r>
            <a:r>
              <a:rPr lang="en-MY" sz="2400" dirty="0"/>
              <a:t>() just makes it print as a tidy little table instead of a cramped {...} dictionary.</a:t>
            </a:r>
          </a:p>
        </p:txBody>
      </p:sp>
    </p:spTree>
    <p:extLst>
      <p:ext uri="{BB962C8B-B14F-4D97-AF65-F5344CB8AC3E}">
        <p14:creationId xmlns:p14="http://schemas.microsoft.com/office/powerpoint/2010/main" val="25132229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57BE2-0230-0754-B821-CE939394CC4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12148C6-091F-A67A-9104-90D937806717}"/>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BB55B25B-65A6-026A-0EA3-CB8EC68CC803}"/>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010F43C0-74AA-19BD-D6C3-923F412B2A59}"/>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AutoShape 2">
            <a:extLst>
              <a:ext uri="{FF2B5EF4-FFF2-40B4-BE49-F238E27FC236}">
                <a16:creationId xmlns:a16="http://schemas.microsoft.com/office/drawing/2014/main" id="{21306E11-A167-BD85-829F-39184129CA6F}"/>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62EDC009-E629-9442-AF89-D3A2C9699AB6}"/>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0D9A33AC-5BAB-D96D-6556-00A5516CFB2C}"/>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E86832AB-66E9-F62C-9467-6F6CF99832A0}"/>
              </a:ext>
            </a:extLst>
          </p:cNvPr>
          <p:cNvSpPr txBox="1"/>
          <p:nvPr/>
        </p:nvSpPr>
        <p:spPr>
          <a:xfrm>
            <a:off x="1257300" y="1666352"/>
            <a:ext cx="14550390" cy="4524315"/>
          </a:xfrm>
          <a:prstGeom prst="rect">
            <a:avLst/>
          </a:prstGeom>
          <a:noFill/>
        </p:spPr>
        <p:txBody>
          <a:bodyPr wrap="square">
            <a:spAutoFit/>
          </a:bodyPr>
          <a:lstStyle/>
          <a:p>
            <a:r>
              <a:rPr lang="en-MY" sz="2400" b="1" dirty="0"/>
              <a:t>Question 2</a:t>
            </a:r>
          </a:p>
          <a:p>
            <a:endParaRPr lang="en-MY" sz="2400" dirty="0"/>
          </a:p>
          <a:p>
            <a:r>
              <a:rPr lang="en-MY" sz="2400" dirty="0">
                <a:latin typeface="Cascadia Code" panose="020B0609020000020004" pitchFamily="49" charset="0"/>
                <a:cs typeface="Cascadia Code" panose="020B0609020000020004" pitchFamily="49" charset="0"/>
              </a:rPr>
              <a:t>sample = </a:t>
            </a:r>
            <a:r>
              <a:rPr lang="en-MY" sz="2400" dirty="0" err="1">
                <a:latin typeface="Cascadia Code" panose="020B0609020000020004" pitchFamily="49" charset="0"/>
                <a:cs typeface="Cascadia Code" panose="020B0609020000020004" pitchFamily="49" charset="0"/>
              </a:rPr>
              <a:t>pd.DataFrame</a:t>
            </a:r>
            <a:r>
              <a:rPr lang="en-MY" sz="2400" dirty="0">
                <a:latin typeface="Cascadia Code" panose="020B0609020000020004" pitchFamily="49" charset="0"/>
                <a:cs typeface="Cascadia Code" panose="020B0609020000020004" pitchFamily="49" charset="0"/>
              </a:rPr>
              <a:t>(graph["KUL"][:5], columns=["destination", "</a:t>
            </a:r>
            <a:r>
              <a:rPr lang="en-MY" sz="2400" dirty="0" err="1">
                <a:latin typeface="Cascadia Code" panose="020B0609020000020004" pitchFamily="49" charset="0"/>
                <a:cs typeface="Cascadia Code" panose="020B0609020000020004" pitchFamily="49" charset="0"/>
              </a:rPr>
              <a:t>distance_km</a:t>
            </a:r>
            <a:r>
              <a:rPr lang="en-MY" sz="2400" dirty="0">
                <a:latin typeface="Cascadia Code" panose="020B0609020000020004" pitchFamily="49" charset="0"/>
                <a:cs typeface="Cascadia Code" panose="020B0609020000020004" pitchFamily="49" charset="0"/>
              </a:rPr>
              <a:t>"])</a:t>
            </a:r>
          </a:p>
          <a:p>
            <a:r>
              <a:rPr lang="en-MY" sz="2400" dirty="0"/>
              <a:t>graph["KUL"] is a list of (destination, distance) pairs for every flight out of KUL. [:5] takes the first five. Wrapping it in a </a:t>
            </a:r>
            <a:r>
              <a:rPr lang="en-MY" sz="2400" dirty="0" err="1"/>
              <a:t>DataFrame</a:t>
            </a:r>
            <a:r>
              <a:rPr lang="en-MY" sz="2400" dirty="0"/>
              <a:t> turns that list into a readable table with named columns.</a:t>
            </a:r>
          </a:p>
          <a:p>
            <a:endParaRPr lang="en-MY" sz="2400" dirty="0"/>
          </a:p>
          <a:p>
            <a:r>
              <a:rPr lang="en-MY" sz="2400" dirty="0" err="1">
                <a:latin typeface="Cascadia Code" panose="020B0609020000020004" pitchFamily="49" charset="0"/>
                <a:cs typeface="Cascadia Code" panose="020B0609020000020004" pitchFamily="49" charset="0"/>
              </a:rPr>
              <a:t>direct_km</a:t>
            </a:r>
            <a:r>
              <a:rPr lang="en-MY" sz="2400" dirty="0">
                <a:latin typeface="Cascadia Code" panose="020B0609020000020004" pitchFamily="49" charset="0"/>
                <a:cs typeface="Cascadia Code" panose="020B0609020000020004" pitchFamily="49" charset="0"/>
              </a:rPr>
              <a:t> = </a:t>
            </a:r>
            <a:r>
              <a:rPr lang="en-MY" sz="2400" dirty="0" err="1">
                <a:latin typeface="Cascadia Code" panose="020B0609020000020004" pitchFamily="49" charset="0"/>
                <a:cs typeface="Cascadia Code" panose="020B0609020000020004" pitchFamily="49" charset="0"/>
              </a:rPr>
              <a:t>haversine_km</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coords["KUL"]["latitude"], coords["KUL"]["longitude"],</a:t>
            </a:r>
          </a:p>
          <a:p>
            <a:r>
              <a:rPr lang="en-MY" sz="2400" dirty="0">
                <a:latin typeface="Cascadia Code" panose="020B0609020000020004" pitchFamily="49" charset="0"/>
                <a:cs typeface="Cascadia Code" panose="020B0609020000020004" pitchFamily="49" charset="0"/>
              </a:rPr>
              <a:t>    coords["KEF"]["latitude"], coords["KEF"]["longitude"],</a:t>
            </a:r>
          </a:p>
          <a:p>
            <a:r>
              <a:rPr lang="en-MY" sz="2400" dirty="0">
                <a:latin typeface="Cascadia Code" panose="020B0609020000020004" pitchFamily="49" charset="0"/>
                <a:cs typeface="Cascadia Code" panose="020B0609020000020004" pitchFamily="49" charset="0"/>
              </a:rPr>
              <a:t>)</a:t>
            </a:r>
          </a:p>
          <a:p>
            <a:r>
              <a:rPr lang="en-MY" sz="2400" dirty="0"/>
              <a:t>Calculates the straight-line ("as the crow flies") distance between KUL and KEF, even though no direct flight connects them — just to show what the "ideal" distance would be.</a:t>
            </a:r>
          </a:p>
        </p:txBody>
      </p:sp>
    </p:spTree>
    <p:extLst>
      <p:ext uri="{BB962C8B-B14F-4D97-AF65-F5344CB8AC3E}">
        <p14:creationId xmlns:p14="http://schemas.microsoft.com/office/powerpoint/2010/main" val="118754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2599F-459D-C602-D908-E507AB75794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5670350-0684-30A0-EF66-C2DE0DB7E94C}"/>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33B2B54A-FDA6-B2C5-D166-665F05CD00FE}"/>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85B29C55-4016-ADEA-002C-BE7F7F580E8E}"/>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6" name="AutoShape 2">
            <a:extLst>
              <a:ext uri="{FF2B5EF4-FFF2-40B4-BE49-F238E27FC236}">
                <a16:creationId xmlns:a16="http://schemas.microsoft.com/office/drawing/2014/main" id="{878473D9-6670-8E32-A53C-5E25EEB7022F}"/>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A24193DD-B1EB-7984-2845-8F5BE99E5C15}"/>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94AEA1E0-C9C1-8203-65B3-BA95F7C5C797}"/>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A0E4D8F5-D648-A2F2-FFDB-DDD71B0B4273}"/>
              </a:ext>
            </a:extLst>
          </p:cNvPr>
          <p:cNvSpPr txBox="1"/>
          <p:nvPr/>
        </p:nvSpPr>
        <p:spPr>
          <a:xfrm>
            <a:off x="1055914" y="1316504"/>
            <a:ext cx="16176171" cy="7848302"/>
          </a:xfrm>
          <a:prstGeom prst="rect">
            <a:avLst/>
          </a:prstGeom>
          <a:noFill/>
        </p:spPr>
        <p:txBody>
          <a:bodyPr wrap="square">
            <a:spAutoFit/>
          </a:bodyPr>
          <a:lstStyle/>
          <a:p>
            <a:r>
              <a:rPr lang="en-MY" sz="2400" b="1" dirty="0"/>
              <a:t>Question 3</a:t>
            </a:r>
          </a:p>
          <a:p>
            <a:endParaRPr lang="en-MY" sz="2400" dirty="0"/>
          </a:p>
          <a:p>
            <a:r>
              <a:rPr lang="en-MY" sz="2400" dirty="0">
                <a:latin typeface="Cascadia Code" panose="020B0609020000020004" pitchFamily="49" charset="0"/>
                <a:cs typeface="Cascadia Code" panose="020B0609020000020004" pitchFamily="49" charset="0"/>
              </a:rPr>
              <a:t>rows = []</a:t>
            </a:r>
          </a:p>
          <a:p>
            <a:r>
              <a:rPr lang="en-MY" sz="2400" dirty="0">
                <a:latin typeface="Cascadia Code" panose="020B0609020000020004" pitchFamily="49" charset="0"/>
                <a:cs typeface="Cascadia Code" panose="020B0609020000020004" pitchFamily="49" charset="0"/>
              </a:rPr>
              <a:t>for query in </a:t>
            </a:r>
            <a:r>
              <a:rPr lang="en-MY" sz="2400" dirty="0" err="1">
                <a:latin typeface="Cascadia Code" panose="020B0609020000020004" pitchFamily="49" charset="0"/>
                <a:cs typeface="Cascadia Code" panose="020B0609020000020004" pitchFamily="49" charset="0"/>
              </a:rPr>
              <a:t>queries.itertuples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for name, algorithm in [("BFS", </a:t>
            </a:r>
            <a:r>
              <a:rPr lang="en-MY" sz="2400" dirty="0" err="1">
                <a:latin typeface="Cascadia Code" panose="020B0609020000020004" pitchFamily="49" charset="0"/>
                <a:cs typeface="Cascadia Code" panose="020B0609020000020004" pitchFamily="49" charset="0"/>
              </a:rPr>
              <a:t>bfs</a:t>
            </a:r>
            <a:r>
              <a:rPr lang="en-MY" sz="2400" dirty="0">
                <a:latin typeface="Cascadia Code" panose="020B0609020000020004" pitchFamily="49" charset="0"/>
                <a:cs typeface="Cascadia Code" panose="020B0609020000020004" pitchFamily="49" charset="0"/>
              </a:rPr>
              <a:t>), ("DFS",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 ("UCS", </a:t>
            </a:r>
            <a:r>
              <a:rPr lang="en-MY" sz="2400" dirty="0" err="1">
                <a:latin typeface="Cascadia Code" panose="020B0609020000020004" pitchFamily="49" charset="0"/>
                <a:cs typeface="Cascadia Code" panose="020B0609020000020004" pitchFamily="49" charset="0"/>
              </a:rPr>
              <a:t>ucs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result = algorithm(graph, </a:t>
            </a:r>
            <a:r>
              <a:rPr lang="en-MY" sz="2400" dirty="0" err="1">
                <a:latin typeface="Cascadia Code" panose="020B0609020000020004" pitchFamily="49" charset="0"/>
                <a:cs typeface="Cascadia Code" panose="020B0609020000020004" pitchFamily="49" charset="0"/>
              </a:rPr>
              <a:t>query.start</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query.goal</a:t>
            </a:r>
            <a:r>
              <a:rPr lang="en-MY" sz="2400" dirty="0">
                <a:latin typeface="Cascadia Code" panose="020B0609020000020004" pitchFamily="49" charset="0"/>
                <a:cs typeface="Cascadia Code" panose="020B0609020000020004" pitchFamily="49" charset="0"/>
              </a:rPr>
              <a:t>)</a:t>
            </a:r>
          </a:p>
          <a:p>
            <a:r>
              <a:rPr lang="en-MY" sz="2400" dirty="0"/>
              <a:t>Two nested loops: for each of the 3 queries, run each of the 3 algorithms — 9 runs total. </a:t>
            </a:r>
            <a:r>
              <a:rPr lang="en-MY" sz="2400" dirty="0" err="1"/>
              <a:t>query.itertuples</a:t>
            </a:r>
            <a:r>
              <a:rPr lang="en-MY" sz="2400" dirty="0"/>
              <a:t>() lets you loop through table rows and access </a:t>
            </a:r>
            <a:r>
              <a:rPr lang="en-MY" sz="2400" dirty="0" err="1"/>
              <a:t>query.start</a:t>
            </a:r>
            <a:r>
              <a:rPr lang="en-MY" sz="2400" dirty="0"/>
              <a:t> / </a:t>
            </a:r>
            <a:r>
              <a:rPr lang="en-MY" sz="2400" dirty="0" err="1"/>
              <a:t>query.goal</a:t>
            </a:r>
            <a:r>
              <a:rPr lang="en-MY" sz="2400" dirty="0"/>
              <a:t> like fields, not clunky index lookups.</a:t>
            </a:r>
          </a:p>
          <a:p>
            <a:endParaRPr lang="en-MY" sz="2400" dirty="0"/>
          </a:p>
          <a:p>
            <a:r>
              <a:rPr lang="en-MY" sz="2400" dirty="0"/>
              <a:t>        </a:t>
            </a:r>
            <a:r>
              <a:rPr lang="en-MY" sz="2400" dirty="0" err="1">
                <a:latin typeface="Cascadia Code" panose="020B0609020000020004" pitchFamily="49" charset="0"/>
                <a:cs typeface="Cascadia Code" panose="020B0609020000020004" pitchFamily="49" charset="0"/>
              </a:rPr>
              <a:t>rows.append</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query_id</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query.query_id</a:t>
            </a:r>
            <a:r>
              <a:rPr lang="en-MY" sz="2400" dirty="0">
                <a:latin typeface="Cascadia Code" panose="020B0609020000020004" pitchFamily="49" charset="0"/>
                <a:cs typeface="Cascadia Code" panose="020B0609020000020004" pitchFamily="49" charset="0"/>
              </a:rPr>
              <a:t>, "start": </a:t>
            </a:r>
            <a:r>
              <a:rPr lang="en-MY" sz="2400" dirty="0" err="1">
                <a:latin typeface="Cascadia Code" panose="020B0609020000020004" pitchFamily="49" charset="0"/>
                <a:cs typeface="Cascadia Code" panose="020B0609020000020004" pitchFamily="49" charset="0"/>
              </a:rPr>
              <a:t>query.start</a:t>
            </a:r>
            <a:r>
              <a:rPr lang="en-MY" sz="2400" dirty="0">
                <a:latin typeface="Cascadia Code" panose="020B0609020000020004" pitchFamily="49" charset="0"/>
                <a:cs typeface="Cascadia Code" panose="020B0609020000020004" pitchFamily="49" charset="0"/>
              </a:rPr>
              <a:t>, "goal": </a:t>
            </a:r>
            <a:r>
              <a:rPr lang="en-MY" sz="2400" dirty="0" err="1">
                <a:latin typeface="Cascadia Code" panose="020B0609020000020004" pitchFamily="49" charset="0"/>
                <a:cs typeface="Cascadia Code" panose="020B0609020000020004" pitchFamily="49" charset="0"/>
              </a:rPr>
              <a:t>query.goal</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"algorithm": name, **</a:t>
            </a:r>
            <a:r>
              <a:rPr lang="en-MY" sz="2400" dirty="0" err="1">
                <a:latin typeface="Cascadia Code" panose="020B0609020000020004" pitchFamily="49" charset="0"/>
                <a:cs typeface="Cascadia Code" panose="020B0609020000020004" pitchFamily="49" charset="0"/>
              </a:rPr>
              <a:t>result.as_dict</a:t>
            </a:r>
            <a:r>
              <a:rPr lang="en-MY" sz="2400" dirty="0">
                <a:latin typeface="Cascadia Code" panose="020B0609020000020004" pitchFamily="49" charset="0"/>
                <a:cs typeface="Cascadia Code" panose="020B0609020000020004" pitchFamily="49" charset="0"/>
              </a:rPr>
              <a:t>(), "path": " -&gt; ".join(</a:t>
            </a:r>
            <a:r>
              <a:rPr lang="en-MY" sz="2400" dirty="0" err="1">
                <a:latin typeface="Cascadia Code" panose="020B0609020000020004" pitchFamily="49" charset="0"/>
                <a:cs typeface="Cascadia Code" panose="020B0609020000020004" pitchFamily="49" charset="0"/>
              </a:rPr>
              <a:t>result.path</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a:t>
            </a:r>
          </a:p>
          <a:p>
            <a:r>
              <a:rPr lang="en-MY" sz="2400" dirty="0"/>
              <a:t>Builds one dictionary per run: which query, which algorithm, and then **</a:t>
            </a:r>
            <a:r>
              <a:rPr lang="en-MY" sz="2400" dirty="0" err="1"/>
              <a:t>result.as_dict</a:t>
            </a:r>
            <a:r>
              <a:rPr lang="en-MY" sz="2400" dirty="0"/>
              <a:t>() unpacks all the fields from </a:t>
            </a:r>
            <a:r>
              <a:rPr lang="en-MY" sz="2400" dirty="0" err="1"/>
              <a:t>SearchResult</a:t>
            </a:r>
            <a:r>
              <a:rPr lang="en-MY" sz="2400" dirty="0"/>
              <a:t> (hops, cost, expanded, etc.) directly into that same dictionary. " -&gt; ".join(</a:t>
            </a:r>
            <a:r>
              <a:rPr lang="en-MY" sz="2400" dirty="0" err="1"/>
              <a:t>result.path</a:t>
            </a:r>
            <a:r>
              <a:rPr lang="en-MY" sz="2400" dirty="0"/>
              <a:t>) turns the list of airports into a readable string like "KUL -&gt; AMS -&gt; KEF".</a:t>
            </a:r>
          </a:p>
          <a:p>
            <a:endParaRPr lang="en-MY" sz="2400" dirty="0"/>
          </a:p>
          <a:p>
            <a:r>
              <a:rPr lang="en-MY" sz="2400" dirty="0">
                <a:latin typeface="Cascadia Code" panose="020B0609020000020004" pitchFamily="49" charset="0"/>
                <a:cs typeface="Cascadia Code" panose="020B0609020000020004" pitchFamily="49" charset="0"/>
              </a:rPr>
              <a:t>metrics = </a:t>
            </a:r>
            <a:r>
              <a:rPr lang="en-MY" sz="2400" dirty="0" err="1">
                <a:latin typeface="Cascadia Code" panose="020B0609020000020004" pitchFamily="49" charset="0"/>
                <a:cs typeface="Cascadia Code" panose="020B0609020000020004" pitchFamily="49" charset="0"/>
              </a:rPr>
              <a:t>pd.DataFrame</a:t>
            </a:r>
            <a:r>
              <a:rPr lang="en-MY" sz="2400" dirty="0">
                <a:latin typeface="Cascadia Code" panose="020B0609020000020004" pitchFamily="49" charset="0"/>
                <a:cs typeface="Cascadia Code" panose="020B0609020000020004" pitchFamily="49" charset="0"/>
              </a:rPr>
              <a:t>(rows).drop(columns="found")</a:t>
            </a:r>
          </a:p>
          <a:p>
            <a:r>
              <a:rPr lang="en-MY" sz="2400" dirty="0" err="1">
                <a:latin typeface="Cascadia Code" panose="020B0609020000020004" pitchFamily="49" charset="0"/>
                <a:cs typeface="Cascadia Code" panose="020B0609020000020004" pitchFamily="49" charset="0"/>
              </a:rPr>
              <a:t>metrics.to_csv</a:t>
            </a:r>
            <a:r>
              <a:rPr lang="en-MY" sz="2400" dirty="0">
                <a:latin typeface="Cascadia Code" panose="020B0609020000020004" pitchFamily="49" charset="0"/>
                <a:cs typeface="Cascadia Code" panose="020B0609020000020004" pitchFamily="49" charset="0"/>
              </a:rPr>
              <a:t>(RESULTS / "metrics.csv", index=False)</a:t>
            </a:r>
          </a:p>
          <a:p>
            <a:r>
              <a:rPr lang="en-MY" sz="2400" dirty="0"/>
              <a:t>Turns the list of 9 dictionaries into one table, drops the found column (not needed for display since every query succeeds), and saves it as a CSV file — this is your submitted evidence.</a:t>
            </a:r>
          </a:p>
        </p:txBody>
      </p:sp>
    </p:spTree>
    <p:extLst>
      <p:ext uri="{BB962C8B-B14F-4D97-AF65-F5344CB8AC3E}">
        <p14:creationId xmlns:p14="http://schemas.microsoft.com/office/powerpoint/2010/main" val="3179258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D1AC-5441-6BBB-1148-EAABD9F4D31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FA1FE5D-054F-74E0-CBFA-662CECD87D07}"/>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86EA65E2-6BF3-2204-F8F2-FF5ED0CD7D5E}"/>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4316E943-99C6-20A1-C206-159989918817}"/>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AutoShape 2">
            <a:extLst>
              <a:ext uri="{FF2B5EF4-FFF2-40B4-BE49-F238E27FC236}">
                <a16:creationId xmlns:a16="http://schemas.microsoft.com/office/drawing/2014/main" id="{BBD025A5-B914-F6C3-3B85-434E8EA8BEA3}"/>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C993127D-2C8B-EF04-D9A2-09C87E31E217}"/>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23C0DDCE-5BAD-C40E-50B2-9983E1D6BCFD}"/>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96962A39-1059-AAA6-6552-2783507D7FB7}"/>
              </a:ext>
            </a:extLst>
          </p:cNvPr>
          <p:cNvSpPr txBox="1"/>
          <p:nvPr/>
        </p:nvSpPr>
        <p:spPr>
          <a:xfrm>
            <a:off x="1123950" y="1557439"/>
            <a:ext cx="16040099" cy="7109639"/>
          </a:xfrm>
          <a:prstGeom prst="rect">
            <a:avLst/>
          </a:prstGeom>
          <a:noFill/>
        </p:spPr>
        <p:txBody>
          <a:bodyPr wrap="square">
            <a:spAutoFit/>
          </a:bodyPr>
          <a:lstStyle/>
          <a:p>
            <a:r>
              <a:rPr lang="en-MY" sz="2400" b="1" dirty="0"/>
              <a:t>Question 4</a:t>
            </a:r>
          </a:p>
          <a:p>
            <a:endParaRPr lang="en-MY" sz="2400" dirty="0"/>
          </a:p>
          <a:p>
            <a:r>
              <a:rPr lang="en-MY" sz="2400" dirty="0" err="1">
                <a:latin typeface="Cascadia Code" panose="020B0609020000020004" pitchFamily="49" charset="0"/>
                <a:cs typeface="Cascadia Code" panose="020B0609020000020004" pitchFamily="49" charset="0"/>
              </a:rPr>
              <a:t>edge_km</a:t>
            </a:r>
            <a:r>
              <a:rPr lang="en-MY" sz="2400" dirty="0">
                <a:latin typeface="Cascadia Code" panose="020B0609020000020004" pitchFamily="49" charset="0"/>
                <a:cs typeface="Cascadia Code" panose="020B0609020000020004" pitchFamily="49" charset="0"/>
              </a:rPr>
              <a:t> = {airport: </a:t>
            </a:r>
            <a:r>
              <a:rPr lang="en-MY" sz="2400" dirty="0" err="1">
                <a:latin typeface="Cascadia Code" panose="020B0609020000020004" pitchFamily="49" charset="0"/>
                <a:cs typeface="Cascadia Code" panose="020B0609020000020004" pitchFamily="49" charset="0"/>
              </a:rPr>
              <a:t>dict</a:t>
            </a:r>
            <a:r>
              <a:rPr lang="en-MY" sz="2400" dirty="0">
                <a:latin typeface="Cascadia Code" panose="020B0609020000020004" pitchFamily="49" charset="0"/>
                <a:cs typeface="Cascadia Code" panose="020B0609020000020004" pitchFamily="49" charset="0"/>
              </a:rPr>
              <a:t>(neighbours) for airport, neighbours in </a:t>
            </a:r>
            <a:r>
              <a:rPr lang="en-MY" sz="2400" dirty="0" err="1">
                <a:latin typeface="Cascadia Code" panose="020B0609020000020004" pitchFamily="49" charset="0"/>
                <a:cs typeface="Cascadia Code" panose="020B0609020000020004" pitchFamily="49" charset="0"/>
              </a:rPr>
              <a:t>graph.items</a:t>
            </a:r>
            <a:r>
              <a:rPr lang="en-MY" sz="2400" dirty="0">
                <a:latin typeface="Cascadia Code" panose="020B0609020000020004" pitchFamily="49" charset="0"/>
                <a:cs typeface="Cascadia Code" panose="020B0609020000020004" pitchFamily="49" charset="0"/>
              </a:rPr>
              <a:t>()}</a:t>
            </a:r>
          </a:p>
          <a:p>
            <a:r>
              <a:rPr lang="en-MY" sz="2400" dirty="0"/>
              <a:t>Rebuilds the graph into a lookup-friendly shape: </a:t>
            </a:r>
            <a:r>
              <a:rPr lang="en-MY" sz="2400" dirty="0" err="1"/>
              <a:t>edge_km</a:t>
            </a:r>
            <a:r>
              <a:rPr lang="en-MY" sz="2400" dirty="0"/>
              <a:t>["KUL"]["AMS"] now directly gives you the distance between those two, instead of scanning a list.</a:t>
            </a:r>
          </a:p>
          <a:p>
            <a:endParaRPr lang="en-MY" sz="2400" dirty="0"/>
          </a:p>
          <a:p>
            <a:r>
              <a:rPr lang="en-MY" sz="2400" dirty="0">
                <a:latin typeface="Cascadia Code" panose="020B0609020000020004" pitchFamily="49" charset="0"/>
                <a:cs typeface="Cascadia Code" panose="020B0609020000020004" pitchFamily="49" charset="0"/>
              </a:rPr>
              <a:t>for row in </a:t>
            </a:r>
            <a:r>
              <a:rPr lang="en-MY" sz="2400" dirty="0" err="1">
                <a:latin typeface="Cascadia Code" panose="020B0609020000020004" pitchFamily="49" charset="0"/>
                <a:cs typeface="Cascadia Code" panose="020B0609020000020004" pitchFamily="49" charset="0"/>
              </a:rPr>
              <a:t>metrics.itertuples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path = </a:t>
            </a:r>
            <a:r>
              <a:rPr lang="en-MY" sz="2400" dirty="0" err="1">
                <a:latin typeface="Cascadia Code" panose="020B0609020000020004" pitchFamily="49" charset="0"/>
                <a:cs typeface="Cascadia Code" panose="020B0609020000020004" pitchFamily="49" charset="0"/>
              </a:rPr>
              <a:t>row.path.split</a:t>
            </a:r>
            <a:r>
              <a:rPr lang="en-MY" sz="2400" dirty="0">
                <a:latin typeface="Cascadia Code" panose="020B0609020000020004" pitchFamily="49" charset="0"/>
                <a:cs typeface="Cascadia Code" panose="020B0609020000020004" pitchFamily="49" charset="0"/>
              </a:rPr>
              <a:t>(" -&gt; ")</a:t>
            </a:r>
          </a:p>
          <a:p>
            <a:r>
              <a:rPr lang="en-MY" sz="2400" dirty="0">
                <a:latin typeface="Cascadia Code" panose="020B0609020000020004" pitchFamily="49" charset="0"/>
                <a:cs typeface="Cascadia Code" panose="020B0609020000020004" pitchFamily="49" charset="0"/>
              </a:rPr>
              <a:t>    assert </a:t>
            </a:r>
            <a:r>
              <a:rPr lang="en-MY" sz="2400" dirty="0" err="1">
                <a:latin typeface="Cascadia Code" panose="020B0609020000020004" pitchFamily="49" charset="0"/>
                <a:cs typeface="Cascadia Code" panose="020B0609020000020004" pitchFamily="49" charset="0"/>
              </a:rPr>
              <a:t>route_is_valid</a:t>
            </a:r>
            <a:r>
              <a:rPr lang="en-MY" sz="2400" dirty="0">
                <a:latin typeface="Cascadia Code" panose="020B0609020000020004" pitchFamily="49" charset="0"/>
                <a:cs typeface="Cascadia Code" panose="020B0609020000020004" pitchFamily="49" charset="0"/>
              </a:rPr>
              <a:t>(path, graph), f"{</a:t>
            </a:r>
            <a:r>
              <a:rPr lang="en-MY" sz="2400" dirty="0" err="1">
                <a:latin typeface="Cascadia Code" panose="020B0609020000020004" pitchFamily="49" charset="0"/>
                <a:cs typeface="Cascadia Code" panose="020B0609020000020004" pitchFamily="49" charset="0"/>
              </a:rPr>
              <a:t>row.algorithm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row.query_id</a:t>
            </a:r>
            <a:r>
              <a:rPr lang="en-MY" sz="2400" dirty="0">
                <a:latin typeface="Cascadia Code" panose="020B0609020000020004" pitchFamily="49" charset="0"/>
                <a:cs typeface="Cascadia Code" panose="020B0609020000020004" pitchFamily="49" charset="0"/>
              </a:rPr>
              <a:t>}: a leg is not a real route"</a:t>
            </a:r>
          </a:p>
          <a:p>
            <a:r>
              <a:rPr lang="en-MY" sz="2400" dirty="0">
                <a:latin typeface="Cascadia Code" panose="020B0609020000020004" pitchFamily="49" charset="0"/>
                <a:cs typeface="Cascadia Code" panose="020B0609020000020004" pitchFamily="49" charset="0"/>
              </a:rPr>
              <a:t>    recomputed = sum(</a:t>
            </a:r>
            <a:r>
              <a:rPr lang="en-MY" sz="2400" dirty="0" err="1">
                <a:latin typeface="Cascadia Code" panose="020B0609020000020004" pitchFamily="49" charset="0"/>
                <a:cs typeface="Cascadia Code" panose="020B0609020000020004" pitchFamily="49" charset="0"/>
              </a:rPr>
              <a:t>edge_km</a:t>
            </a:r>
            <a:r>
              <a:rPr lang="en-MY" sz="2400" dirty="0">
                <a:latin typeface="Cascadia Code" panose="020B0609020000020004" pitchFamily="49" charset="0"/>
                <a:cs typeface="Cascadia Code" panose="020B0609020000020004" pitchFamily="49" charset="0"/>
              </a:rPr>
              <a:t>[a][b] for a, b in zip(path, path[1:]))</a:t>
            </a:r>
          </a:p>
          <a:p>
            <a:r>
              <a:rPr lang="en-MY" sz="2400" dirty="0">
                <a:latin typeface="Cascadia Code" panose="020B0609020000020004" pitchFamily="49" charset="0"/>
                <a:cs typeface="Cascadia Code" panose="020B0609020000020004" pitchFamily="49" charset="0"/>
              </a:rPr>
              <a:t>    assert </a:t>
            </a:r>
            <a:r>
              <a:rPr lang="en-MY" sz="2400" dirty="0" err="1">
                <a:latin typeface="Cascadia Code" panose="020B0609020000020004" pitchFamily="49" charset="0"/>
                <a:cs typeface="Cascadia Code" panose="020B0609020000020004" pitchFamily="49" charset="0"/>
              </a:rPr>
              <a:t>np.isclose</a:t>
            </a:r>
            <a:r>
              <a:rPr lang="en-MY" sz="2400" dirty="0">
                <a:latin typeface="Cascadia Code" panose="020B0609020000020004" pitchFamily="49" charset="0"/>
                <a:cs typeface="Cascadia Code" panose="020B0609020000020004" pitchFamily="49" charset="0"/>
              </a:rPr>
              <a:t>(recomputed, </a:t>
            </a:r>
            <a:r>
              <a:rPr lang="en-MY" sz="2400" dirty="0" err="1">
                <a:latin typeface="Cascadia Code" panose="020B0609020000020004" pitchFamily="49" charset="0"/>
                <a:cs typeface="Cascadia Code" panose="020B0609020000020004" pitchFamily="49" charset="0"/>
              </a:rPr>
              <a:t>row.path_cost_km</a:t>
            </a:r>
            <a:r>
              <a:rPr lang="en-MY" sz="2400" dirty="0">
                <a:latin typeface="Cascadia Code" panose="020B0609020000020004" pitchFamily="49" charset="0"/>
                <a:cs typeface="Cascadia Code" panose="020B0609020000020004" pitchFamily="49" charset="0"/>
              </a:rPr>
              <a:t>), f"{</a:t>
            </a:r>
            <a:r>
              <a:rPr lang="en-MY" sz="2400" dirty="0" err="1">
                <a:latin typeface="Cascadia Code" panose="020B0609020000020004" pitchFamily="49" charset="0"/>
                <a:cs typeface="Cascadia Code" panose="020B0609020000020004" pitchFamily="49" charset="0"/>
              </a:rPr>
              <a:t>row.algorithm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row.query_id</a:t>
            </a:r>
            <a:r>
              <a:rPr lang="en-MY" sz="2400" dirty="0">
                <a:latin typeface="Cascadia Code" panose="020B0609020000020004" pitchFamily="49" charset="0"/>
                <a:cs typeface="Cascadia Code" panose="020B0609020000020004" pitchFamily="49" charset="0"/>
              </a:rPr>
              <a:t>}: cost mismatch"</a:t>
            </a:r>
          </a:p>
          <a:p>
            <a:r>
              <a:rPr lang="en-MY" sz="2400" dirty="0"/>
              <a:t>For every one of the 9 results: split the path string back into a list of airports, then check two things with assert (which crashes the script loudly if false — that's intentional, so mistakes can't hide):</a:t>
            </a:r>
          </a:p>
          <a:p>
            <a:pPr marL="342900" lvl="0" indent="-342900">
              <a:buFont typeface="Arial" panose="020B0604020202020204" pitchFamily="34" charset="0"/>
              <a:buChar char="•"/>
            </a:pPr>
            <a:r>
              <a:rPr lang="en-MY" sz="2400" b="1" dirty="0"/>
              <a:t>Is every leg a real route?</a:t>
            </a:r>
            <a:r>
              <a:rPr lang="en-MY" sz="2400" dirty="0"/>
              <a:t> (</a:t>
            </a:r>
            <a:r>
              <a:rPr lang="en-MY" sz="2400" dirty="0" err="1"/>
              <a:t>route_is_valid</a:t>
            </a:r>
            <a:r>
              <a:rPr lang="en-MY" sz="2400" dirty="0"/>
              <a:t>)</a:t>
            </a:r>
          </a:p>
          <a:p>
            <a:pPr marL="342900" lvl="0" indent="-342900">
              <a:buFont typeface="Arial" panose="020B0604020202020204" pitchFamily="34" charset="0"/>
              <a:buChar char="•"/>
            </a:pPr>
            <a:r>
              <a:rPr lang="en-MY" sz="2400" b="1" dirty="0"/>
              <a:t>Does re-adding up the distances match what the algorithm reported?</a:t>
            </a:r>
            <a:r>
              <a:rPr lang="en-MY" sz="2400" dirty="0"/>
              <a:t> zip(path, path[1:]) pairs up consecutive airports (e.g. (KUL, AMS), (AMS, KEF)) so you can sum each leg's distance. </a:t>
            </a:r>
            <a:r>
              <a:rPr lang="en-MY" sz="2400" dirty="0" err="1"/>
              <a:t>np.isclose</a:t>
            </a:r>
            <a:r>
              <a:rPr lang="en-MY" sz="2400" dirty="0"/>
              <a:t> allows for tiny floating-point rounding differences instead of demanding exact equality.</a:t>
            </a:r>
          </a:p>
        </p:txBody>
      </p:sp>
    </p:spTree>
    <p:extLst>
      <p:ext uri="{BB962C8B-B14F-4D97-AF65-F5344CB8AC3E}">
        <p14:creationId xmlns:p14="http://schemas.microsoft.com/office/powerpoint/2010/main" val="4130990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241D-153C-8142-E217-840AA77F1FF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C1DC58E-1A18-7618-C58D-98CD513D9640}"/>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585793FD-1583-1B9E-DC88-B48CDB8EA14B}"/>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7ABE7201-37BD-E65D-3BC8-1C68F9638CC1}"/>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6" name="AutoShape 2">
            <a:extLst>
              <a:ext uri="{FF2B5EF4-FFF2-40B4-BE49-F238E27FC236}">
                <a16:creationId xmlns:a16="http://schemas.microsoft.com/office/drawing/2014/main" id="{50F32563-0C49-8036-5086-497B54606ED9}"/>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08B441D6-CBC9-A9BC-0821-6C303E5A861B}"/>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C5C4D798-948C-0004-9C7E-FD925BC47263}"/>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5558232E-052D-07B9-4FFC-32F512D27DD9}"/>
              </a:ext>
            </a:extLst>
          </p:cNvPr>
          <p:cNvSpPr txBox="1"/>
          <p:nvPr/>
        </p:nvSpPr>
        <p:spPr>
          <a:xfrm>
            <a:off x="1123950" y="1579210"/>
            <a:ext cx="16040099" cy="6740307"/>
          </a:xfrm>
          <a:prstGeom prst="rect">
            <a:avLst/>
          </a:prstGeom>
          <a:noFill/>
        </p:spPr>
        <p:txBody>
          <a:bodyPr wrap="square">
            <a:spAutoFit/>
          </a:bodyPr>
          <a:lstStyle/>
          <a:p>
            <a:r>
              <a:rPr lang="en-MY" sz="2400" b="1" dirty="0"/>
              <a:t>Question 5</a:t>
            </a:r>
          </a:p>
          <a:p>
            <a:endParaRPr lang="en-MY" sz="2400" dirty="0"/>
          </a:p>
          <a:p>
            <a:r>
              <a:rPr lang="en-MY" sz="2400" dirty="0">
                <a:latin typeface="Cascadia Code" panose="020B0609020000020004" pitchFamily="49" charset="0"/>
                <a:cs typeface="Cascadia Code" panose="020B0609020000020004" pitchFamily="49" charset="0"/>
              </a:rPr>
              <a:t>print(</a:t>
            </a:r>
            <a:r>
              <a:rPr lang="en-MY" sz="2400" dirty="0" err="1">
                <a:latin typeface="Cascadia Code" panose="020B0609020000020004" pitchFamily="49" charset="0"/>
                <a:cs typeface="Cascadia Code" panose="020B0609020000020004" pitchFamily="49" charset="0"/>
              </a:rPr>
              <a:t>metrics.pivot</a:t>
            </a:r>
            <a:r>
              <a:rPr lang="en-MY" sz="2400" dirty="0">
                <a:latin typeface="Cascadia Code" panose="020B0609020000020004" pitchFamily="49" charset="0"/>
                <a:cs typeface="Cascadia Code" panose="020B0609020000020004" pitchFamily="49" charset="0"/>
              </a:rPr>
              <a:t>(index="</a:t>
            </a:r>
            <a:r>
              <a:rPr lang="en-MY" sz="2400" dirty="0" err="1">
                <a:latin typeface="Cascadia Code" panose="020B0609020000020004" pitchFamily="49" charset="0"/>
                <a:cs typeface="Cascadia Code" panose="020B0609020000020004" pitchFamily="49" charset="0"/>
              </a:rPr>
              <a:t>query_id</a:t>
            </a:r>
            <a:r>
              <a:rPr lang="en-MY" sz="2400" dirty="0">
                <a:latin typeface="Cascadia Code" panose="020B0609020000020004" pitchFamily="49" charset="0"/>
                <a:cs typeface="Cascadia Code" panose="020B0609020000020004" pitchFamily="49" charset="0"/>
              </a:rPr>
              <a:t>", columns="algorithm", values=["hops", "</a:t>
            </a:r>
            <a:r>
              <a:rPr lang="en-MY" sz="2400" dirty="0" err="1">
                <a:latin typeface="Cascadia Code" panose="020B0609020000020004" pitchFamily="49" charset="0"/>
                <a:cs typeface="Cascadia Code" panose="020B0609020000020004" pitchFamily="49" charset="0"/>
              </a:rPr>
              <a:t>path_cost_km</a:t>
            </a:r>
            <a:r>
              <a:rPr lang="en-MY" sz="2400" dirty="0">
                <a:latin typeface="Cascadia Code" panose="020B0609020000020004" pitchFamily="49" charset="0"/>
                <a:cs typeface="Cascadia Code" panose="020B0609020000020004" pitchFamily="49" charset="0"/>
              </a:rPr>
              <a:t>"]).round(0))</a:t>
            </a:r>
          </a:p>
          <a:p>
            <a:r>
              <a:rPr lang="en-MY" sz="2400" dirty="0"/>
              <a:t>.pivot(...) reshapes the long table (9 rows) into a wide side-by-side comparison: one row per query, with BFS/DFS/UCS columns next to each other for both hops and </a:t>
            </a:r>
            <a:r>
              <a:rPr lang="en-MY" sz="2400" dirty="0" err="1"/>
              <a:t>path_cost_km</a:t>
            </a:r>
            <a:r>
              <a:rPr lang="en-MY" sz="2400" dirty="0"/>
              <a:t>.</a:t>
            </a:r>
          </a:p>
          <a:p>
            <a:endParaRPr lang="en-MY" sz="2400" dirty="0"/>
          </a:p>
          <a:p>
            <a:r>
              <a:rPr lang="en-MY" sz="2400" dirty="0" err="1">
                <a:latin typeface="Cascadia Code" panose="020B0609020000020004" pitchFamily="49" charset="0"/>
                <a:cs typeface="Cascadia Code" panose="020B0609020000020004" pitchFamily="49" charset="0"/>
              </a:rPr>
              <a:t>reversed_graph</a:t>
            </a:r>
            <a:r>
              <a:rPr lang="en-MY" sz="2400" dirty="0">
                <a:latin typeface="Cascadia Code" panose="020B0609020000020004" pitchFamily="49" charset="0"/>
                <a:cs typeface="Cascadia Code" panose="020B0609020000020004" pitchFamily="49" charset="0"/>
              </a:rPr>
              <a:t> = {airport: neighbours[::-1] for airport, neighbours in </a:t>
            </a:r>
            <a:r>
              <a:rPr lang="en-MY" sz="2400" dirty="0" err="1">
                <a:latin typeface="Cascadia Code" panose="020B0609020000020004" pitchFamily="49" charset="0"/>
                <a:cs typeface="Cascadia Code" panose="020B0609020000020004" pitchFamily="49" charset="0"/>
              </a:rPr>
              <a:t>graph.items</a:t>
            </a:r>
            <a:r>
              <a:rPr lang="en-MY" sz="2400" dirty="0">
                <a:latin typeface="Cascadia Code" panose="020B0609020000020004" pitchFamily="49" charset="0"/>
                <a:cs typeface="Cascadia Code" panose="020B0609020000020004" pitchFamily="49" charset="0"/>
              </a:rPr>
              <a:t>()}</a:t>
            </a:r>
          </a:p>
          <a:p>
            <a:r>
              <a:rPr lang="en-MY" sz="2400" dirty="0"/>
              <a:t>Makes a copy of the graph where every airport's neighbour list is reversed ([::-1] reverses a list). This is purely to test DFS's weakness — it follows whichever neighbour is listed </a:t>
            </a:r>
            <a:r>
              <a:rPr lang="en-MY" sz="2400" i="1" dirty="0"/>
              <a:t>first</a:t>
            </a:r>
            <a:r>
              <a:rPr lang="en-MY" sz="2400" dirty="0"/>
              <a:t>, so reversing the order changes its answer entirely, proving it isn't reliably choosing a "best" path.</a:t>
            </a:r>
          </a:p>
          <a:p>
            <a:endParaRPr lang="en-MY" sz="2400" dirty="0"/>
          </a:p>
          <a:p>
            <a:r>
              <a:rPr lang="en-MY" sz="2400" dirty="0">
                <a:latin typeface="Cascadia Code" panose="020B0609020000020004" pitchFamily="49" charset="0"/>
                <a:cs typeface="Cascadia Code" panose="020B0609020000020004" pitchFamily="49" charset="0"/>
              </a:rPr>
              <a:t>for query in </a:t>
            </a:r>
            <a:r>
              <a:rPr lang="en-MY" sz="2400" dirty="0" err="1">
                <a:latin typeface="Cascadia Code" panose="020B0609020000020004" pitchFamily="49" charset="0"/>
                <a:cs typeface="Cascadia Code" panose="020B0609020000020004" pitchFamily="49" charset="0"/>
              </a:rPr>
              <a:t>queries.itertuples</a:t>
            </a:r>
            <a:r>
              <a:rPr lang="en-MY" sz="2400" dirty="0">
                <a:latin typeface="Cascadia Code" panose="020B0609020000020004" pitchFamily="49" charset="0"/>
                <a:cs typeface="Cascadia Code" panose="020B0609020000020004" pitchFamily="49" charset="0"/>
              </a:rPr>
              <a:t>():</a:t>
            </a:r>
          </a:p>
          <a:p>
            <a:r>
              <a:rPr lang="en-MY" sz="2400" dirty="0">
                <a:latin typeface="Cascadia Code" panose="020B0609020000020004" pitchFamily="49" charset="0"/>
                <a:cs typeface="Cascadia Code" panose="020B0609020000020004" pitchFamily="49" charset="0"/>
              </a:rPr>
              <a:t>    original =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(graph, </a:t>
            </a:r>
            <a:r>
              <a:rPr lang="en-MY" sz="2400" dirty="0" err="1">
                <a:latin typeface="Cascadia Code" panose="020B0609020000020004" pitchFamily="49" charset="0"/>
                <a:cs typeface="Cascadia Code" panose="020B0609020000020004" pitchFamily="49" charset="0"/>
              </a:rPr>
              <a:t>query.start</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query.goal</a:t>
            </a:r>
            <a:r>
              <a:rPr lang="en-MY" sz="2400" dirty="0">
                <a:latin typeface="Cascadia Code" panose="020B0609020000020004" pitchFamily="49" charset="0"/>
                <a:cs typeface="Cascadia Code" panose="020B0609020000020004" pitchFamily="49" charset="0"/>
              </a:rPr>
              <a:t>).hops</a:t>
            </a:r>
          </a:p>
          <a:p>
            <a:r>
              <a:rPr lang="en-MY" sz="2400" dirty="0">
                <a:latin typeface="Cascadia Code" panose="020B0609020000020004" pitchFamily="49" charset="0"/>
                <a:cs typeface="Cascadia Code" panose="020B0609020000020004" pitchFamily="49" charset="0"/>
              </a:rPr>
              <a:t>    reordered = </a:t>
            </a:r>
            <a:r>
              <a:rPr lang="en-MY" sz="2400" dirty="0" err="1">
                <a:latin typeface="Cascadia Code" panose="020B0609020000020004" pitchFamily="49" charset="0"/>
                <a:cs typeface="Cascadia Code" panose="020B0609020000020004" pitchFamily="49" charset="0"/>
              </a:rPr>
              <a:t>dfs</a:t>
            </a:r>
            <a:r>
              <a:rPr lang="en-MY" sz="2400" dirty="0">
                <a:latin typeface="Cascadia Code" panose="020B0609020000020004" pitchFamily="49" charset="0"/>
                <a:cs typeface="Cascadia Code" panose="020B0609020000020004" pitchFamily="49" charset="0"/>
              </a:rPr>
              <a:t>(</a:t>
            </a:r>
            <a:r>
              <a:rPr lang="en-MY" sz="2400" dirty="0" err="1">
                <a:latin typeface="Cascadia Code" panose="020B0609020000020004" pitchFamily="49" charset="0"/>
                <a:cs typeface="Cascadia Code" panose="020B0609020000020004" pitchFamily="49" charset="0"/>
              </a:rPr>
              <a:t>reversed_graph</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query.start</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query.goal</a:t>
            </a:r>
            <a:r>
              <a:rPr lang="en-MY" sz="2400" dirty="0">
                <a:latin typeface="Cascadia Code" panose="020B0609020000020004" pitchFamily="49" charset="0"/>
                <a:cs typeface="Cascadia Code" panose="020B0609020000020004" pitchFamily="49" charset="0"/>
              </a:rPr>
              <a:t>).hops</a:t>
            </a:r>
          </a:p>
          <a:p>
            <a:r>
              <a:rPr lang="en-MY" sz="2400" dirty="0">
                <a:latin typeface="Cascadia Code" panose="020B0609020000020004" pitchFamily="49" charset="0"/>
                <a:cs typeface="Cascadia Code" panose="020B0609020000020004" pitchFamily="49" charset="0"/>
              </a:rPr>
              <a:t>    print(f"{</a:t>
            </a:r>
            <a:r>
              <a:rPr lang="en-MY" sz="2400" dirty="0" err="1">
                <a:latin typeface="Cascadia Code" panose="020B0609020000020004" pitchFamily="49" charset="0"/>
                <a:cs typeface="Cascadia Code" panose="020B0609020000020004" pitchFamily="49" charset="0"/>
              </a:rPr>
              <a:t>query.query_id</a:t>
            </a:r>
            <a:r>
              <a:rPr lang="en-MY" sz="2400" dirty="0">
                <a:latin typeface="Cascadia Code" panose="020B0609020000020004" pitchFamily="49" charset="0"/>
                <a:cs typeface="Cascadia Code" panose="020B0609020000020004" pitchFamily="49" charset="0"/>
              </a:rPr>
              <a:t>} DFS: {original} hops with the original order, "</a:t>
            </a:r>
          </a:p>
          <a:p>
            <a:r>
              <a:rPr lang="en-MY" sz="2400" dirty="0">
                <a:latin typeface="Cascadia Code" panose="020B0609020000020004" pitchFamily="49" charset="0"/>
                <a:cs typeface="Cascadia Code" panose="020B0609020000020004" pitchFamily="49" charset="0"/>
              </a:rPr>
              <a:t>          f"{reordered} with the reversed order")</a:t>
            </a:r>
          </a:p>
          <a:p>
            <a:r>
              <a:rPr lang="en-MY" sz="2400" dirty="0"/>
              <a:t>Runs DFS twice per query — once on the normal graph, once on the reversed one — and prints how differently it behaves.</a:t>
            </a:r>
          </a:p>
        </p:txBody>
      </p:sp>
    </p:spTree>
    <p:extLst>
      <p:ext uri="{BB962C8B-B14F-4D97-AF65-F5344CB8AC3E}">
        <p14:creationId xmlns:p14="http://schemas.microsoft.com/office/powerpoint/2010/main" val="1273656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482B8-2BEF-B0FA-1203-FBD455FCF31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B3F324D-1AE6-94C1-64D8-A9B455F578AA}"/>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D98FD9E3-6331-F041-5F7C-B64CAEB7CFF0}"/>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6059FE41-15ED-EA9C-D81D-57FCDD01EE36}"/>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AutoShape 2">
            <a:extLst>
              <a:ext uri="{FF2B5EF4-FFF2-40B4-BE49-F238E27FC236}">
                <a16:creationId xmlns:a16="http://schemas.microsoft.com/office/drawing/2014/main" id="{72E11B5E-512B-39E4-E2D3-39B794EDDE1E}"/>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D676923B-B416-E762-1156-91F6949753D0}"/>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911715BE-CFDC-8E5C-BEC7-7190C7381A95}"/>
              </a:ext>
            </a:extLst>
          </p:cNvPr>
          <p:cNvSpPr txBox="1"/>
          <p:nvPr/>
        </p:nvSpPr>
        <p:spPr>
          <a:xfrm>
            <a:off x="990601" y="319041"/>
            <a:ext cx="14919959" cy="615553"/>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lab01_search_foundations.py</a:t>
            </a:r>
          </a:p>
        </p:txBody>
      </p:sp>
      <p:sp>
        <p:nvSpPr>
          <p:cNvPr id="12" name="TextBox 11">
            <a:extLst>
              <a:ext uri="{FF2B5EF4-FFF2-40B4-BE49-F238E27FC236}">
                <a16:creationId xmlns:a16="http://schemas.microsoft.com/office/drawing/2014/main" id="{591F886D-872E-40BF-5F1F-FAE05731D7CE}"/>
              </a:ext>
            </a:extLst>
          </p:cNvPr>
          <p:cNvSpPr txBox="1"/>
          <p:nvPr/>
        </p:nvSpPr>
        <p:spPr>
          <a:xfrm>
            <a:off x="1123950" y="1579210"/>
            <a:ext cx="16040099" cy="4893647"/>
          </a:xfrm>
          <a:prstGeom prst="rect">
            <a:avLst/>
          </a:prstGeom>
          <a:noFill/>
        </p:spPr>
        <p:txBody>
          <a:bodyPr wrap="square">
            <a:spAutoFit/>
          </a:bodyPr>
          <a:lstStyle/>
          <a:p>
            <a:r>
              <a:rPr lang="en-MY" sz="2400" b="1" dirty="0"/>
              <a:t>Question 6</a:t>
            </a:r>
          </a:p>
          <a:p>
            <a:endParaRPr lang="en-MY" sz="2400" dirty="0"/>
          </a:p>
          <a:p>
            <a:r>
              <a:rPr lang="en-MY" sz="2400" dirty="0">
                <a:latin typeface="Cascadia Code" panose="020B0609020000020004" pitchFamily="49" charset="0"/>
                <a:cs typeface="Cascadia Code" panose="020B0609020000020004" pitchFamily="49" charset="0"/>
              </a:rPr>
              <a:t>q1 = metrics[</a:t>
            </a:r>
            <a:r>
              <a:rPr lang="en-MY" sz="2400" dirty="0" err="1">
                <a:latin typeface="Cascadia Code" panose="020B0609020000020004" pitchFamily="49" charset="0"/>
                <a:cs typeface="Cascadia Code" panose="020B0609020000020004" pitchFamily="49" charset="0"/>
              </a:rPr>
              <a:t>metrics.query_id</a:t>
            </a:r>
            <a:r>
              <a:rPr lang="en-MY" sz="2400" dirty="0">
                <a:latin typeface="Cascadia Code" panose="020B0609020000020004" pitchFamily="49" charset="0"/>
                <a:cs typeface="Cascadia Code" panose="020B0609020000020004" pitchFamily="49" charset="0"/>
              </a:rPr>
              <a:t> == "Q1"]</a:t>
            </a:r>
          </a:p>
          <a:p>
            <a:r>
              <a:rPr lang="en-MY" sz="2400" dirty="0"/>
              <a:t>Filters the big table down to just the 3 rows (BFS/DFS/UCS) for query Q1.</a:t>
            </a:r>
          </a:p>
          <a:p>
            <a:endParaRPr lang="en-MY" sz="2400" dirty="0"/>
          </a:p>
          <a:p>
            <a:r>
              <a:rPr lang="en-MY" sz="2400" dirty="0">
                <a:latin typeface="Cascadia Code" panose="020B0609020000020004" pitchFamily="49" charset="0"/>
                <a:cs typeface="Cascadia Code" panose="020B0609020000020004" pitchFamily="49" charset="0"/>
              </a:rPr>
              <a:t>paths = {</a:t>
            </a:r>
            <a:r>
              <a:rPr lang="en-MY" sz="2400" dirty="0" err="1">
                <a:latin typeface="Cascadia Code" panose="020B0609020000020004" pitchFamily="49" charset="0"/>
                <a:cs typeface="Cascadia Code" panose="020B0609020000020004" pitchFamily="49" charset="0"/>
              </a:rPr>
              <a:t>row.algorithm</a:t>
            </a:r>
            <a:r>
              <a:rPr lang="en-MY" sz="2400" dirty="0">
                <a:latin typeface="Cascadia Code" panose="020B0609020000020004" pitchFamily="49" charset="0"/>
                <a:cs typeface="Cascadia Code" panose="020B0609020000020004" pitchFamily="49" charset="0"/>
              </a:rPr>
              <a:t>: </a:t>
            </a:r>
            <a:r>
              <a:rPr lang="en-MY" sz="2400" dirty="0" err="1">
                <a:latin typeface="Cascadia Code" panose="020B0609020000020004" pitchFamily="49" charset="0"/>
                <a:cs typeface="Cascadia Code" panose="020B0609020000020004" pitchFamily="49" charset="0"/>
              </a:rPr>
              <a:t>row.path.split</a:t>
            </a:r>
            <a:r>
              <a:rPr lang="en-MY" sz="2400" dirty="0">
                <a:latin typeface="Cascadia Code" panose="020B0609020000020004" pitchFamily="49" charset="0"/>
                <a:cs typeface="Cascadia Code" panose="020B0609020000020004" pitchFamily="49" charset="0"/>
              </a:rPr>
              <a:t>(" -&gt; ") for row in q1.itertuples()}</a:t>
            </a:r>
          </a:p>
          <a:p>
            <a:r>
              <a:rPr lang="en-MY" sz="2400" dirty="0"/>
              <a:t>Builds a dictionary like {"BFS": [...], "DFS": [...], "UCS": [...]}, mapping each algorithm name to its list of airports — exactly what </a:t>
            </a:r>
            <a:r>
              <a:rPr lang="en-MY" sz="2400" dirty="0" err="1"/>
              <a:t>plot_route_paths</a:t>
            </a:r>
            <a:r>
              <a:rPr lang="en-MY" sz="2400" dirty="0"/>
              <a:t> expects.</a:t>
            </a:r>
          </a:p>
          <a:p>
            <a:endParaRPr lang="en-MY" sz="2400" dirty="0"/>
          </a:p>
          <a:p>
            <a:r>
              <a:rPr lang="en-MY" sz="2400" dirty="0">
                <a:latin typeface="Cascadia Code" panose="020B0609020000020004" pitchFamily="49" charset="0"/>
                <a:cs typeface="Cascadia Code" panose="020B0609020000020004" pitchFamily="49" charset="0"/>
              </a:rPr>
              <a:t>figure, _ = </a:t>
            </a:r>
            <a:r>
              <a:rPr lang="en-MY" sz="2400" dirty="0" err="1">
                <a:latin typeface="Cascadia Code" panose="020B0609020000020004" pitchFamily="49" charset="0"/>
                <a:cs typeface="Cascadia Code" panose="020B0609020000020004" pitchFamily="49" charset="0"/>
              </a:rPr>
              <a:t>plot_route_paths</a:t>
            </a:r>
            <a:r>
              <a:rPr lang="en-MY" sz="2400" dirty="0">
                <a:latin typeface="Cascadia Code" panose="020B0609020000020004" pitchFamily="49" charset="0"/>
                <a:cs typeface="Cascadia Code" panose="020B0609020000020004" pitchFamily="49" charset="0"/>
              </a:rPr>
              <a:t>(paths, coords, title="Route comparison: KUL to KEF")</a:t>
            </a:r>
          </a:p>
          <a:p>
            <a:r>
              <a:rPr lang="en-MY" sz="2400" dirty="0" err="1">
                <a:latin typeface="Cascadia Code" panose="020B0609020000020004" pitchFamily="49" charset="0"/>
                <a:cs typeface="Cascadia Code" panose="020B0609020000020004" pitchFamily="49" charset="0"/>
              </a:rPr>
              <a:t>figure.savefig</a:t>
            </a:r>
            <a:r>
              <a:rPr lang="en-MY" sz="2400" dirty="0">
                <a:latin typeface="Cascadia Code" panose="020B0609020000020004" pitchFamily="49" charset="0"/>
                <a:cs typeface="Cascadia Code" panose="020B0609020000020004" pitchFamily="49" charset="0"/>
              </a:rPr>
              <a:t>(RESULTS / "route_comparison.png", dpi=160, </a:t>
            </a:r>
            <a:r>
              <a:rPr lang="en-MY" sz="2400" dirty="0" err="1">
                <a:latin typeface="Cascadia Code" panose="020B0609020000020004" pitchFamily="49" charset="0"/>
                <a:cs typeface="Cascadia Code" panose="020B0609020000020004" pitchFamily="49" charset="0"/>
              </a:rPr>
              <a:t>bbox_inches</a:t>
            </a:r>
            <a:r>
              <a:rPr lang="en-MY" sz="2400" dirty="0">
                <a:latin typeface="Cascadia Code" panose="020B0609020000020004" pitchFamily="49" charset="0"/>
                <a:cs typeface="Cascadia Code" panose="020B0609020000020004" pitchFamily="49" charset="0"/>
              </a:rPr>
              <a:t>="tight")</a:t>
            </a:r>
          </a:p>
          <a:p>
            <a:r>
              <a:rPr lang="en-MY" sz="2400" dirty="0"/>
              <a:t>Draws the comparison chart, then saves it as a PNG file. dpi=160 controls image sharpness; </a:t>
            </a:r>
            <a:r>
              <a:rPr lang="en-MY" sz="2400" dirty="0" err="1"/>
              <a:t>bbox_inches</a:t>
            </a:r>
            <a:r>
              <a:rPr lang="en-MY" sz="2400" dirty="0"/>
              <a:t>="tight" trims empty whitespace around the plot.</a:t>
            </a:r>
          </a:p>
        </p:txBody>
      </p:sp>
    </p:spTree>
    <p:extLst>
      <p:ext uri="{BB962C8B-B14F-4D97-AF65-F5344CB8AC3E}">
        <p14:creationId xmlns:p14="http://schemas.microsoft.com/office/powerpoint/2010/main" val="1083701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1D23-AD88-F3E4-215D-0A92E3736A2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8FDECC8-B884-4FD4-C8DC-C6CED58BA556}"/>
              </a:ext>
            </a:extLst>
          </p:cNvPr>
          <p:cNvSpPr>
            <a:spLocks noGrp="1"/>
          </p:cNvSpPr>
          <p:nvPr>
            <p:ph type="dt" sz="half" idx="10"/>
          </p:nvPr>
        </p:nvSpPr>
        <p:spPr/>
        <p:txBody>
          <a:bodyPr/>
          <a:lstStyle/>
          <a:p>
            <a:r>
              <a:rPr lang="en-US" dirty="0"/>
              <a:t>Week 04</a:t>
            </a:r>
          </a:p>
        </p:txBody>
      </p:sp>
      <p:sp>
        <p:nvSpPr>
          <p:cNvPr id="3" name="Footer Placeholder 2">
            <a:extLst>
              <a:ext uri="{FF2B5EF4-FFF2-40B4-BE49-F238E27FC236}">
                <a16:creationId xmlns:a16="http://schemas.microsoft.com/office/drawing/2014/main" id="{F9353822-F56D-4655-2EA4-7FECB38DD9B4}"/>
              </a:ext>
            </a:extLst>
          </p:cNvPr>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a:extLst>
              <a:ext uri="{FF2B5EF4-FFF2-40B4-BE49-F238E27FC236}">
                <a16:creationId xmlns:a16="http://schemas.microsoft.com/office/drawing/2014/main" id="{AEB96DDF-A23D-DA5D-F447-261DC0A14B4D}"/>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6" name="AutoShape 2">
            <a:extLst>
              <a:ext uri="{FF2B5EF4-FFF2-40B4-BE49-F238E27FC236}">
                <a16:creationId xmlns:a16="http://schemas.microsoft.com/office/drawing/2014/main" id="{E607D306-5F3F-494C-4560-C218004FCD43}"/>
              </a:ext>
            </a:extLst>
          </p:cNvPr>
          <p:cNvSpPr/>
          <p:nvPr/>
        </p:nvSpPr>
        <p:spPr>
          <a:xfrm>
            <a:off x="756447" y="106299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2">
            <a:extLst>
              <a:ext uri="{FF2B5EF4-FFF2-40B4-BE49-F238E27FC236}">
                <a16:creationId xmlns:a16="http://schemas.microsoft.com/office/drawing/2014/main" id="{D4722714-2A0F-F7D3-C715-893DADA3D741}"/>
              </a:ext>
            </a:extLst>
          </p:cNvPr>
          <p:cNvSpPr/>
          <p:nvPr/>
        </p:nvSpPr>
        <p:spPr>
          <a:xfrm>
            <a:off x="756447" y="941832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6">
            <a:extLst>
              <a:ext uri="{FF2B5EF4-FFF2-40B4-BE49-F238E27FC236}">
                <a16:creationId xmlns:a16="http://schemas.microsoft.com/office/drawing/2014/main" id="{B58B50E7-CC82-C294-6BD7-06AAEF1FAEC0}"/>
              </a:ext>
            </a:extLst>
          </p:cNvPr>
          <p:cNvSpPr txBox="1"/>
          <p:nvPr/>
        </p:nvSpPr>
        <p:spPr>
          <a:xfrm>
            <a:off x="990601" y="319041"/>
            <a:ext cx="14919959" cy="1231106"/>
          </a:xfrm>
          <a:prstGeom prst="rect">
            <a:avLst/>
          </a:prstGeom>
        </p:spPr>
        <p:txBody>
          <a:bodyPr wrap="square" lIns="0" tIns="0" rIns="0" bIns="0" rtlCol="0" anchor="t">
            <a:spAutoFit/>
          </a:bodyPr>
          <a:lstStyle/>
          <a:p>
            <a:pPr>
              <a:defRPr/>
            </a:pPr>
            <a:r>
              <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Running Lab 1</a:t>
            </a:r>
          </a:p>
          <a:p>
            <a:pPr>
              <a:defRPr/>
            </a:pPr>
            <a:endParaRPr lang="en-MY" sz="4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D46B3BDC-56FE-E4CF-32FF-EDF61148C2E3}"/>
              </a:ext>
            </a:extLst>
          </p:cNvPr>
          <p:cNvSpPr txBox="1"/>
          <p:nvPr/>
        </p:nvSpPr>
        <p:spPr>
          <a:xfrm>
            <a:off x="990601" y="1418682"/>
            <a:ext cx="16540952" cy="7109639"/>
          </a:xfrm>
          <a:prstGeom prst="rect">
            <a:avLst/>
          </a:prstGeom>
          <a:noFill/>
        </p:spPr>
        <p:txBody>
          <a:bodyPr wrap="square">
            <a:spAutoFit/>
          </a:bodyPr>
          <a:lstStyle/>
          <a:p>
            <a:pPr marL="457200" lvl="0" indent="-457200">
              <a:buFont typeface="+mj-lt"/>
              <a:buAutoNum type="arabicPeriod"/>
            </a:pPr>
            <a:r>
              <a:rPr lang="en-MY" sz="2400" b="1" dirty="0"/>
              <a:t>Check the folder structure first: </a:t>
            </a:r>
            <a:r>
              <a:rPr lang="en-MY" sz="2400" dirty="0"/>
              <a:t>Confirm this layout exists inside AI: </a:t>
            </a:r>
            <a:r>
              <a:rPr lang="en-MY" sz="2400" dirty="0" err="1"/>
              <a:t>all_datasets</a:t>
            </a:r>
            <a:r>
              <a:rPr lang="en-MY" sz="2400" dirty="0"/>
              <a:t>/ → lab01-03_airports.csv, lab01-03_routes.csv </a:t>
            </a:r>
            <a:r>
              <a:rPr lang="en-MY" sz="2400" dirty="0" err="1"/>
              <a:t>all_experiments</a:t>
            </a:r>
            <a:r>
              <a:rPr lang="en-MY" sz="2400" dirty="0"/>
              <a:t>/ → lab01_search_foundations.py </a:t>
            </a:r>
            <a:r>
              <a:rPr lang="en-MY" sz="2400" dirty="0" err="1"/>
              <a:t>all_experiments</a:t>
            </a:r>
            <a:r>
              <a:rPr lang="en-MY" sz="2400" dirty="0"/>
              <a:t>/utils/ → __init__.py, core.py, openflights.py, plotting.py, test_search.py, search_queries.csv results/ (can be empty — the script creates results/lab01/ itself)</a:t>
            </a:r>
          </a:p>
          <a:p>
            <a:pPr marL="457200" lvl="0" indent="-457200">
              <a:buFont typeface="+mj-lt"/>
              <a:buAutoNum type="arabicPeriod"/>
            </a:pPr>
            <a:r>
              <a:rPr lang="en-MY" sz="2400" b="1" dirty="0"/>
              <a:t>Select your .</a:t>
            </a:r>
            <a:r>
              <a:rPr lang="en-MY" sz="2400" b="1" dirty="0" err="1"/>
              <a:t>venv</a:t>
            </a:r>
            <a:r>
              <a:rPr lang="en-MY" sz="2400" b="1" dirty="0"/>
              <a:t> interpreter: </a:t>
            </a:r>
            <a:r>
              <a:rPr lang="en-MY" sz="2400" dirty="0"/>
              <a:t>Bottom-right corner of VS Code shows the current Python interpreter. Click it and pick the one listed under .</a:t>
            </a:r>
            <a:r>
              <a:rPr lang="en-MY" sz="2400" dirty="0" err="1"/>
              <a:t>venv</a:t>
            </a:r>
            <a:r>
              <a:rPr lang="en-MY" sz="2400" dirty="0"/>
              <a:t>. If it's already correct, skip this.</a:t>
            </a:r>
          </a:p>
          <a:p>
            <a:pPr marL="457200" lvl="0" indent="-457200">
              <a:buFont typeface="+mj-lt"/>
              <a:buAutoNum type="arabicPeriod"/>
            </a:pPr>
            <a:r>
              <a:rPr lang="en-MY" sz="2400" b="1" dirty="0"/>
              <a:t>Open the integrated terminal: </a:t>
            </a:r>
            <a:r>
              <a:rPr lang="en-MY" sz="2400" dirty="0"/>
              <a:t>Ctrl+` to open it, confirm the prompt shows (.</a:t>
            </a:r>
            <a:r>
              <a:rPr lang="en-MY" sz="2400" dirty="0" err="1"/>
              <a:t>venv</a:t>
            </a:r>
            <a:r>
              <a:rPr lang="en-MY" sz="2400" dirty="0"/>
              <a:t>), then run: </a:t>
            </a:r>
            <a:r>
              <a:rPr lang="en-MY" sz="2400" i="1" dirty="0"/>
              <a:t>pip install -r requirements.txt</a:t>
            </a:r>
            <a:r>
              <a:rPr lang="en-MY" sz="2400" dirty="0"/>
              <a:t>. This installs pandas, </a:t>
            </a:r>
            <a:r>
              <a:rPr lang="en-MY" sz="2400" dirty="0" err="1"/>
              <a:t>numpy</a:t>
            </a:r>
            <a:r>
              <a:rPr lang="en-MY" sz="2400" dirty="0"/>
              <a:t>, matplotlib, everything every file above imports.</a:t>
            </a:r>
          </a:p>
          <a:p>
            <a:pPr marL="457200" lvl="0" indent="-457200">
              <a:buFont typeface="+mj-lt"/>
              <a:buAutoNum type="arabicPeriod"/>
            </a:pPr>
            <a:r>
              <a:rPr lang="en-MY" sz="2400" b="1" dirty="0"/>
              <a:t>Move into </a:t>
            </a:r>
            <a:r>
              <a:rPr lang="en-MY" sz="2400" b="1" dirty="0" err="1"/>
              <a:t>all_experiments</a:t>
            </a:r>
            <a:r>
              <a:rPr lang="en-MY" sz="2400" b="1" dirty="0"/>
              <a:t>: </a:t>
            </a:r>
            <a:r>
              <a:rPr lang="en-MY" sz="2400" dirty="0"/>
              <a:t>In the SAME terminal: </a:t>
            </a:r>
            <a:r>
              <a:rPr lang="en-MY" sz="2400" i="1" dirty="0"/>
              <a:t>cd </a:t>
            </a:r>
            <a:r>
              <a:rPr lang="en-MY" sz="2400" i="1" dirty="0" err="1"/>
              <a:t>all_experiments</a:t>
            </a:r>
            <a:r>
              <a:rPr lang="en-MY" sz="2400" i="1" dirty="0"/>
              <a:t> </a:t>
            </a:r>
            <a:r>
              <a:rPr lang="en-MY" sz="2400" dirty="0"/>
              <a:t>Everything after this runs from here, because the script and utils/ both assume this is the working folder.</a:t>
            </a:r>
          </a:p>
          <a:p>
            <a:pPr marL="457200" lvl="0" indent="-457200">
              <a:buFont typeface="+mj-lt"/>
              <a:buAutoNum type="arabicPeriod"/>
            </a:pPr>
            <a:r>
              <a:rPr lang="en-MY" sz="2400" b="1" dirty="0"/>
              <a:t>Run the tests first, not the lab script: </a:t>
            </a:r>
            <a:r>
              <a:rPr lang="en-MY" sz="2400" i="1" dirty="0"/>
              <a:t>python -m </a:t>
            </a:r>
            <a:r>
              <a:rPr lang="en-MY" sz="2400" i="1" dirty="0" err="1"/>
              <a:t>pytest</a:t>
            </a:r>
            <a:r>
              <a:rPr lang="en-MY" sz="2400" i="1" dirty="0"/>
              <a:t> utils -q </a:t>
            </a:r>
            <a:r>
              <a:rPr lang="en-MY" sz="2400" dirty="0"/>
              <a:t>This runs test_search.py on the tiny hand-made graphs — no dataset needed. If all 8 tests pass (green dots), you KNOW the algorithms themselves are correct before trusting them on real data. Fix any failure here before moving on.</a:t>
            </a:r>
          </a:p>
          <a:p>
            <a:pPr marL="457200" lvl="0" indent="-457200">
              <a:buFont typeface="+mj-lt"/>
              <a:buAutoNum type="arabicPeriod"/>
            </a:pPr>
            <a:r>
              <a:rPr lang="en-MY" sz="2400" b="1" dirty="0"/>
              <a:t>Run the actual lab script: </a:t>
            </a:r>
            <a:r>
              <a:rPr lang="en-MY" sz="2400" i="1" dirty="0"/>
              <a:t>python lab01_search_foundations.py </a:t>
            </a:r>
            <a:r>
              <a:rPr lang="en-MY" sz="2400" dirty="0"/>
              <a:t>This is the real run - it imports from utils (using __init__.py), loads and cleans the real CSVs (openflights.py), runs BFS/DFS/UCS (core.py), verifies every path, and saves the chart (plotting.py). Output prints straight into this same terminal.</a:t>
            </a:r>
          </a:p>
          <a:p>
            <a:pPr marL="457200" lvl="0" indent="-457200">
              <a:buFont typeface="+mj-lt"/>
              <a:buAutoNum type="arabicPeriod"/>
            </a:pPr>
            <a:r>
              <a:rPr lang="en-MY" sz="2400" b="1" dirty="0"/>
              <a:t>Read the console output top to bottom: </a:t>
            </a:r>
            <a:r>
              <a:rPr lang="en-MY" sz="2400" dirty="0"/>
              <a:t>Scroll up through the terminal output, you should see Question 1 to 6 print in order, ending with "Lab 1 complete." and a Saved: [...] line listing the output files.</a:t>
            </a:r>
          </a:p>
          <a:p>
            <a:pPr marL="457200" lvl="0" indent="-457200">
              <a:buFont typeface="+mj-lt"/>
              <a:buAutoNum type="arabicPeriod"/>
            </a:pPr>
            <a:r>
              <a:rPr lang="en-MY" sz="2400" b="1" dirty="0"/>
              <a:t>Check the results folder: </a:t>
            </a:r>
            <a:r>
              <a:rPr lang="en-MY" sz="2400" dirty="0"/>
              <a:t>In the Explorer panel (left sidebar), expand results/lab01/ - you should now see metrics.csv and route_comparison.png. Click route_comparison.png to preview the chart directly inside VS Code.</a:t>
            </a:r>
          </a:p>
        </p:txBody>
      </p:sp>
    </p:spTree>
    <p:extLst>
      <p:ext uri="{BB962C8B-B14F-4D97-AF65-F5344CB8AC3E}">
        <p14:creationId xmlns:p14="http://schemas.microsoft.com/office/powerpoint/2010/main" val="4133065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grpSp>
        <p:nvGrpSpPr>
          <p:cNvPr id="12" name="Group 12"/>
          <p:cNvGrpSpPr/>
          <p:nvPr/>
        </p:nvGrpSpPr>
        <p:grpSpPr>
          <a:xfrm>
            <a:off x="5509434" y="6611027"/>
            <a:ext cx="4570737" cy="425112"/>
            <a:chOff x="0" y="0"/>
            <a:chExt cx="6094314"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084740" cy="479448"/>
            </a:xfrm>
            <a:prstGeom prst="rect">
              <a:avLst/>
            </a:prstGeom>
          </p:spPr>
          <p:txBody>
            <a:bodyPr wrap="square"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FIZA_24004757@UTP.EDU.MY</a:t>
              </a:r>
            </a:p>
          </p:txBody>
        </p:sp>
      </p:grpSp>
      <p:grpSp>
        <p:nvGrpSpPr>
          <p:cNvPr id="15" name="Group 15"/>
          <p:cNvGrpSpPr/>
          <p:nvPr/>
        </p:nvGrpSpPr>
        <p:grpSpPr>
          <a:xfrm>
            <a:off x="5509434" y="7391229"/>
            <a:ext cx="4570735" cy="512496"/>
            <a:chOff x="0" y="0"/>
            <a:chExt cx="6094311"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3" y="75176"/>
              <a:ext cx="5084738"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ea typeface="Aptos"/>
                  <a:cs typeface="Aptos"/>
                  <a:sym typeface="Aptos"/>
                </a:rPr>
                <a:t>Lab 01-01-10: Data Analytic Lab</a:t>
              </a:r>
              <a:endPar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04</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F8EABEC-D4DA-4635-9F5B-DEE1FFF379A2}">
  <ds:schemaRefs>
    <ds:schemaRef ds:uri="http://www.w3.org/XML/1998/namespace"/>
    <ds:schemaRef ds:uri="http://schemas.openxmlformats.org/package/2006/metadata/core-properties"/>
    <ds:schemaRef ds:uri="http://schemas.microsoft.com/office/2006/metadata/properties"/>
    <ds:schemaRef ds:uri="http://purl.org/dc/terms/"/>
    <ds:schemaRef ds:uri="f604542f-3f98-4180-a530-dccd8eb96459"/>
    <ds:schemaRef ds:uri="http://schemas.microsoft.com/office/2006/documentManagement/types"/>
    <ds:schemaRef ds:uri="http://schemas.microsoft.com/office/infopath/2007/PartnerControls"/>
    <ds:schemaRef ds:uri="161b1d0b-c5d9-4346-b7aa-7c23791df872"/>
    <ds:schemaRef ds:uri="http://schemas.microsoft.com/sharepoint/v3"/>
    <ds:schemaRef ds:uri="http://purl.org/dc/dcmitype/"/>
    <ds:schemaRef ds:uri="http://purl.org/dc/elements/1.1/"/>
  </ds:schemaRefs>
</ds:datastoreItem>
</file>

<file path=customXml/itemProps3.xml><?xml version="1.0" encoding="utf-8"?>
<ds:datastoreItem xmlns:ds="http://schemas.openxmlformats.org/officeDocument/2006/customXml" ds:itemID="{459B6550-91B7-456B-A940-ECDA25AB8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663</TotalTime>
  <Words>8574</Words>
  <Application>Microsoft Office PowerPoint</Application>
  <PresentationFormat>Custom</PresentationFormat>
  <Paragraphs>650</Paragraphs>
  <Slides>38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Calibri</vt:lpstr>
      <vt:lpstr>Cascadia Code</vt:lpstr>
      <vt:lpstr>Calibri Light</vt:lpstr>
      <vt:lpstr>Aptos</vt:lpstr>
      <vt:lpstr>Arial</vt:lpstr>
      <vt:lpstr>Segoe UI</vt:lpstr>
      <vt:lpstr>Museo Sans 300</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Beg Fiza</cp:lastModifiedBy>
  <cp:revision>3</cp:revision>
  <dcterms:created xsi:type="dcterms:W3CDTF">2006-08-16T00:00:00Z</dcterms:created>
  <dcterms:modified xsi:type="dcterms:W3CDTF">2026-09-29T18:50:25Z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