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1" r:id="rId4"/>
  </p:sldMasterIdLst>
  <p:notesMasterIdLst>
    <p:notesMasterId r:id="rId19"/>
  </p:notesMasterIdLst>
  <p:handoutMasterIdLst>
    <p:handoutMasterId r:id="rId20"/>
  </p:handoutMasterIdLst>
  <p:sldIdLst>
    <p:sldId id="268" r:id="rId5"/>
    <p:sldId id="276" r:id="rId6"/>
    <p:sldId id="277" r:id="rId7"/>
    <p:sldId id="285" r:id="rId8"/>
    <p:sldId id="280" r:id="rId9"/>
    <p:sldId id="283" r:id="rId10"/>
    <p:sldId id="286" r:id="rId11"/>
    <p:sldId id="287" r:id="rId12"/>
    <p:sldId id="288" r:id="rId13"/>
    <p:sldId id="289" r:id="rId14"/>
    <p:sldId id="284" r:id="rId15"/>
    <p:sldId id="279" r:id="rId16"/>
    <p:sldId id="278" r:id="rId17"/>
    <p:sldId id="270" r:id="rId18"/>
  </p:sldIdLst>
  <p:sldSz cx="18288000" cy="10287000"/>
  <p:notesSz cx="6858000" cy="9144000"/>
  <p:embeddedFontLst>
    <p:embeddedFont>
      <p:font typeface="Museo Sans 300" panose="02000000000000000000" charset="0"/>
      <p:regular r:id="rId21"/>
      <p:italic r:id="rId22"/>
    </p:embeddedFont>
    <p:embeddedFont>
      <p:font typeface="Segoe UI" panose="020B0502040204020203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254BC-C669-4C58-8896-EBBB7531B6D9}" v="1" dt="2026-05-05T09:16:46.154"/>
    <p1510:client id="{A6A84AB0-1939-49CC-8FF8-086EF10AAC9A}" v="51" dt="2026-03-30T07:00:11.4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669" autoAdjust="0"/>
  </p:normalViewPr>
  <p:slideViewPr>
    <p:cSldViewPr snapToGrid="0">
      <p:cViewPr varScale="1">
        <p:scale>
          <a:sx n="62" d="100"/>
          <a:sy n="62" d="100"/>
        </p:scale>
        <p:origin x="628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B93D41-E753-CA08-512C-7FD9149E95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83311-34CD-10A6-71A7-5FEC1EAC08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391DD-0852-4038-9481-BE0C8E4C0068}" type="datetimeFigureOut">
              <a:rPr lang="en-MY" smtClean="0"/>
              <a:t>24/9/2026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2A957-AB6C-53B4-A4E1-0374492AD1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79F2C-EAFF-B3B1-975D-3770C8024B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BE2F9-A3A4-483F-A619-855FC01C419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959022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1111C-7368-49FD-8B9D-8D05AE4C3340}" type="datetimeFigureOut">
              <a:rPr lang="en-MY" smtClean="0"/>
              <a:t>24/9/2026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61F1A-E494-4223-A600-C9DDF71EE4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62439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86465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22563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FB8B8-D543-7607-6C34-050EE4A0E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2528E-70B7-E936-10DE-B9C8982E0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CC8420-42A5-C346-C7F5-C0967FA83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DCF6F4-677B-10D5-0BBC-EDFB03DDD0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6A9AC-9CB7-3E27-CBC9-43AC7BB8F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7059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F8E93-9B80-B364-69D2-1427F496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461BCA-74C5-2BDF-D47F-76A5DA9EC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41A98-C981-26AE-47D2-83628916D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DD2A0E-80B7-3E12-B1FF-303E1E2720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9FB08-E67E-58E6-0F33-25823F5F6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8576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61575-DA01-B900-44FE-A954F138E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4F2DA-8DC3-3957-0AAA-1827CB86B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EC4EE-1434-BD10-6AA8-EA0A77027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0BCFB-48E9-E778-3159-862218F918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40E94-7D3E-E066-B80B-2FBCA7962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31707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EED7B-1BED-F471-FAB5-3A4A66B7C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98DDE-D84F-FDF2-7F52-585E16F49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B4CE6-DFF3-EDD5-9916-6067B064A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C8AE0E-F7A1-8920-6414-4A43DBD85A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001141-1A71-4F84-0879-22AF90CE3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70123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82477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5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5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34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8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58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93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3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93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4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0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hf hdr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06887" y="1511403"/>
            <a:ext cx="11424666" cy="5204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106887" y="9410700"/>
            <a:ext cx="1142466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426192" y="1942813"/>
            <a:ext cx="9036316" cy="1752887"/>
            <a:chOff x="0" y="0"/>
            <a:chExt cx="2337006" cy="292155"/>
          </a:xfrm>
          <a:noFill/>
        </p:grpSpPr>
        <p:sp>
          <p:nvSpPr>
            <p:cNvPr id="5" name="Freeform 5"/>
            <p:cNvSpPr/>
            <p:nvPr/>
          </p:nvSpPr>
          <p:spPr>
            <a:xfrm>
              <a:off x="0" y="0"/>
              <a:ext cx="2337006" cy="292155"/>
            </a:xfrm>
            <a:custGeom>
              <a:avLst/>
              <a:gdLst/>
              <a:ahLst/>
              <a:cxnLst/>
              <a:rect l="l" t="t" r="r" b="b"/>
              <a:pathLst>
                <a:path w="2337006" h="292155">
                  <a:moveTo>
                    <a:pt x="0" y="0"/>
                  </a:moveTo>
                  <a:lnTo>
                    <a:pt x="2337006" y="0"/>
                  </a:lnTo>
                  <a:lnTo>
                    <a:pt x="2337006" y="292155"/>
                  </a:lnTo>
                  <a:lnTo>
                    <a:pt x="0" y="292155"/>
                  </a:lnTo>
                  <a:close/>
                </a:path>
              </a:pathLst>
            </a:custGeom>
            <a:grpFill/>
            <a:ln w="38100" cap="sq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37006" cy="33025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273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13452568" y="161232"/>
            <a:ext cx="3806732" cy="1350171"/>
          </a:xfrm>
          <a:custGeom>
            <a:avLst/>
            <a:gdLst/>
            <a:ahLst/>
            <a:cxnLst/>
            <a:rect l="l" t="t" r="r" b="b"/>
            <a:pathLst>
              <a:path w="3806732" h="1350171">
                <a:moveTo>
                  <a:pt x="0" y="0"/>
                </a:moveTo>
                <a:lnTo>
                  <a:pt x="3806732" y="0"/>
                </a:lnTo>
                <a:lnTo>
                  <a:pt x="3806732" y="1350171"/>
                </a:lnTo>
                <a:lnTo>
                  <a:pt x="0" y="1350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" y="0"/>
            <a:ext cx="6106886" cy="10286998"/>
            <a:chOff x="-10330" y="-104775"/>
            <a:chExt cx="1377733" cy="2182730"/>
          </a:xfrm>
        </p:grpSpPr>
        <p:sp>
          <p:nvSpPr>
            <p:cNvPr id="9" name="Freeform 9"/>
            <p:cNvSpPr/>
            <p:nvPr/>
          </p:nvSpPr>
          <p:spPr>
            <a:xfrm>
              <a:off x="-10330" y="-104775"/>
              <a:ext cx="1377733" cy="2182730"/>
            </a:xfrm>
            <a:custGeom>
              <a:avLst/>
              <a:gdLst/>
              <a:ahLst/>
              <a:cxnLst/>
              <a:rect l="l" t="t" r="r" b="b"/>
              <a:pathLst>
                <a:path w="1282673" h="2091166">
                  <a:moveTo>
                    <a:pt x="0" y="0"/>
                  </a:moveTo>
                  <a:lnTo>
                    <a:pt x="1282673" y="0"/>
                  </a:lnTo>
                  <a:lnTo>
                    <a:pt x="1282673" y="2091166"/>
                  </a:lnTo>
                  <a:lnTo>
                    <a:pt x="0" y="2091166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1282673" cy="1906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501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99" b="0" i="0" u="none" strike="noStrike" kern="1200" cap="none" spc="13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Aptos"/>
                  <a:cs typeface="Aptos"/>
                  <a:sym typeface="Aptos"/>
                </a:rPr>
                <a:t>Insert relevant picture related to the topic</a:t>
              </a:r>
            </a:p>
            <a:p>
              <a:pPr marL="0" marR="0" lvl="0" indent="0" algn="ctr" defTabSz="457200" rtl="0" eaLnBrk="1" fontAlgn="auto" latinLnBrk="0" hangingPunct="1">
                <a:lnSpc>
                  <a:spcPts val="501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99" b="0" i="0" u="none" strike="noStrike" kern="1200" cap="none" spc="13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468506" y="4249467"/>
            <a:ext cx="11424666" cy="2490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6688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WEEK 03 </a:t>
            </a:r>
          </a:p>
          <a:p>
            <a:pPr marL="0" marR="0" lvl="0" indent="0" algn="ctr" defTabSz="457200" rtl="0" eaLnBrk="1" fontAlgn="auto" latinLnBrk="0" hangingPunct="1">
              <a:lnSpc>
                <a:spcPts val="6688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GitHub, Python &amp; VS Code </a:t>
            </a:r>
            <a:r>
              <a:rPr kumimoji="0" lang="en-US" sz="4400" b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Basic Installations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65993" y="2479851"/>
            <a:ext cx="6429692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304815">
              <a:lnSpc>
                <a:spcPts val="2837"/>
              </a:lnSpc>
              <a:defRPr/>
            </a:pPr>
            <a:r>
              <a:rPr lang="en-US" sz="2800" spc="69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TGB2013/TFB2073/TEB2023_092 : Artificial Intelligence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85066" y="7789617"/>
            <a:ext cx="8221734" cy="804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90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DEPARTMENT OF COMPUTING</a:t>
            </a:r>
          </a:p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spc="90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FACULTY OF SCIENCE, MANAGEMENT &amp; COMPUTING</a:t>
            </a:r>
            <a:r>
              <a:rPr kumimoji="0" lang="en-US" sz="2200" b="0" i="0" u="none" strike="noStrike" kern="1200" cap="none" spc="90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 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486EF194-5755-EE7E-90D6-9FC063183FE5}"/>
              </a:ext>
            </a:extLst>
          </p:cNvPr>
          <p:cNvSpPr txBox="1">
            <a:spLocks/>
          </p:cNvSpPr>
          <p:nvPr/>
        </p:nvSpPr>
        <p:spPr>
          <a:xfrm>
            <a:off x="6629400" y="9582308"/>
            <a:ext cx="10629900" cy="553998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237490" algn="ctr" fontAlgn="base">
              <a:buNone/>
            </a:pPr>
            <a:r>
              <a:rPr lang="en-US" sz="1000" kern="12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© 2026 INSTITUTE OF TECHNOLOGY PETRONAS SDN BHD </a:t>
            </a:r>
            <a:endParaRPr lang="en-MY" sz="1100">
              <a:effectLst/>
              <a:latin typeface="Museo Sans 300" panose="02000000000000000000" pitchFamily="50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7490" algn="ctr" fontAlgn="base">
              <a:buNone/>
            </a:pPr>
            <a:r>
              <a:rPr lang="en-US" sz="1000" kern="12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rights reserved. No part of this document may be reproduced, stored in a retrieval system or transmitted in any form or by any means (electronic, mechanical, photocopying, recording or otherwise) without the permission of the copyright owner.</a:t>
            </a:r>
            <a:endParaRPr lang="en-MY" sz="1100">
              <a:effectLst/>
              <a:latin typeface="Museo Sans 300" panose="02000000000000000000" pitchFamily="50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2E8717A-DAE6-83DA-B948-7047270D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2"/>
            <a:ext cx="6106886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9CD0D-972B-FE6D-B005-F472E53C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2F305BD-B647-52A1-7229-8D1C689775AB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0AD37D0-AB7C-531D-442D-316B5352ACD1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EE389B7-4BDC-9F88-5E29-C825141ABF62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47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1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LEARNING OUTCOMES</a:t>
            </a:r>
            <a:endParaRPr kumimoji="0" lang="en-US" sz="3200" b="1" i="0" u="none" strike="noStrike" kern="1200" cap="none" spc="147" normalizeH="0" baseline="0" noProof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4AC5EDA-CD04-CA81-5505-46F71DF981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03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84BAFFF-0B17-2D6B-F88C-8FD53E5AE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EFAFA90-B6A0-006E-2A2C-78E3AA19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2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8044F-6D69-5ECE-F229-C0DDFB6CEC83}"/>
              </a:ext>
            </a:extLst>
          </p:cNvPr>
          <p:cNvSpPr txBox="1"/>
          <p:nvPr/>
        </p:nvSpPr>
        <p:spPr>
          <a:xfrm>
            <a:off x="757619" y="1790700"/>
            <a:ext cx="60644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MY" sz="2400" dirty="0"/>
              <a:t>Install Git &amp; create a GitHub account</a:t>
            </a:r>
          </a:p>
          <a:p>
            <a:pPr marL="514350" indent="-514350">
              <a:buAutoNum type="arabicPeriod"/>
            </a:pPr>
            <a:r>
              <a:rPr lang="en-MY" sz="2400" dirty="0"/>
              <a:t>Install and verify Python</a:t>
            </a:r>
          </a:p>
          <a:p>
            <a:r>
              <a:rPr lang="en-MY" sz="2400" dirty="0"/>
              <a:t>	2.1	Run python --version</a:t>
            </a:r>
          </a:p>
          <a:p>
            <a:r>
              <a:rPr lang="en-MY" sz="2400" dirty="0"/>
              <a:t>	2.2	Confirm pip is available</a:t>
            </a:r>
          </a:p>
          <a:p>
            <a:pPr marL="514350" indent="-514350">
              <a:buAutoNum type="arabicPeriod" startAt="3"/>
            </a:pPr>
            <a:r>
              <a:rPr lang="en-MY" sz="2400" dirty="0"/>
              <a:t>Install VS Code &amp; extensions</a:t>
            </a:r>
          </a:p>
          <a:p>
            <a:r>
              <a:rPr lang="en-MY" sz="2400" dirty="0"/>
              <a:t>	3.1	Configure the Python extension</a:t>
            </a:r>
          </a:p>
          <a:p>
            <a:r>
              <a:rPr lang="en-MY" sz="2400" dirty="0"/>
              <a:t>	3.2	Connect VS Code to Git</a:t>
            </a:r>
          </a:p>
          <a:p>
            <a:r>
              <a:rPr lang="en-MY" sz="2400" dirty="0"/>
              <a:t>4.	Clone a repo &amp; run a script</a:t>
            </a:r>
            <a:endParaRPr lang="en-MY" sz="2600" dirty="0"/>
          </a:p>
        </p:txBody>
      </p:sp>
    </p:spTree>
    <p:extLst>
      <p:ext uri="{BB962C8B-B14F-4D97-AF65-F5344CB8AC3E}">
        <p14:creationId xmlns:p14="http://schemas.microsoft.com/office/powerpoint/2010/main" val="3162996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D2C32-2405-2D6D-2E95-4FEAC1828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C44FB3C-D441-A268-21DB-28FD335B7FB0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B94D0FD-7DD1-81BC-FF9E-48321CC5887F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7ADA04D-2EEC-3768-1CF2-E10510389D1B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47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147" normalizeH="0" baseline="0" noProof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TOPIC 1: INSTALLING GIT &amp; GITHUB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124E5E4-CE96-F8F9-06CC-0229CED86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03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FD37AF0-935A-8041-2A98-8EECF5094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94D0C17-6852-F3DE-F2D9-1043BAB0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3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A1256F-01ED-6251-D28B-5D99463419F9}"/>
              </a:ext>
            </a:extLst>
          </p:cNvPr>
          <p:cNvSpPr txBox="1"/>
          <p:nvPr/>
        </p:nvSpPr>
        <p:spPr>
          <a:xfrm>
            <a:off x="863030" y="3698228"/>
            <a:ext cx="1631108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MY" sz="2400" b="1" dirty="0"/>
              <a:t>1. Download Git for Windows</a:t>
            </a:r>
          </a:p>
          <a:p>
            <a:pPr lvl="0"/>
            <a:r>
              <a:rPr lang="en-MY" sz="2400" dirty="0"/>
              <a:t>Go to git-scm.com/download/win — the download starts automatically for your system.</a:t>
            </a:r>
          </a:p>
          <a:p>
            <a:pPr lvl="0"/>
            <a:r>
              <a:rPr lang="en-MY" sz="2400" b="1" dirty="0"/>
              <a:t>2. Run the installer, keep default options</a:t>
            </a:r>
          </a:p>
          <a:p>
            <a:pPr lvl="0"/>
            <a:r>
              <a:rPr lang="en-MY" sz="2400" dirty="0"/>
              <a:t>Run the installer. Defaults are fine for nearly everything; just make sure "Git from the command line and also from 3rd-party software" is selected (it's the default) so both the terminal and your editor can use it.</a:t>
            </a:r>
          </a:p>
          <a:p>
            <a:pPr lvl="0"/>
            <a:r>
              <a:rPr lang="en-MY" sz="2400" b="1" dirty="0"/>
              <a:t>3. Verify it installed</a:t>
            </a:r>
          </a:p>
          <a:p>
            <a:pPr lvl="0"/>
            <a:r>
              <a:rPr lang="en-MY" sz="2400" dirty="0"/>
              <a:t>Open Command Prompt or PowerShell and run git --version. You should see a version number.</a:t>
            </a:r>
          </a:p>
          <a:p>
            <a:pPr lvl="0"/>
            <a:r>
              <a:rPr lang="en-MY" sz="2400" b="1" dirty="0"/>
              <a:t>4. Set your identity</a:t>
            </a:r>
          </a:p>
          <a:p>
            <a:pPr lvl="0"/>
            <a:r>
              <a:rPr lang="en-MY" sz="2400" dirty="0"/>
              <a:t>git config --global user.name "Your Name" git config --global </a:t>
            </a:r>
            <a:r>
              <a:rPr lang="en-MY" sz="2400" dirty="0" err="1"/>
              <a:t>user.email</a:t>
            </a:r>
            <a:r>
              <a:rPr lang="en-MY" sz="2400" dirty="0"/>
              <a:t> "you@example.com" This is what gets attached to every commit you make.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BCFDA1-B03D-9DA8-0004-DEE36CD6BEBF}"/>
              </a:ext>
            </a:extLst>
          </p:cNvPr>
          <p:cNvSpPr txBox="1"/>
          <p:nvPr/>
        </p:nvSpPr>
        <p:spPr>
          <a:xfrm>
            <a:off x="863030" y="1419404"/>
            <a:ext cx="164343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MY" sz="2400" b="1" dirty="0"/>
              <a:t>Git itself must be installed</a:t>
            </a:r>
            <a:r>
              <a:rPr lang="en-MY" sz="2400" dirty="0"/>
              <a:t>, regardless of which editor you use. Here's the distinction: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MY" sz="2400" b="1" dirty="0"/>
              <a:t>GitHub</a:t>
            </a:r>
            <a:r>
              <a:rPr lang="en-MY" sz="2400" dirty="0"/>
              <a:t> = the website/account (sign up at github.com, no installation needed for that part)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MY" sz="2400" b="1" dirty="0"/>
              <a:t>Git</a:t>
            </a:r>
            <a:r>
              <a:rPr lang="en-MY" sz="2400" dirty="0"/>
              <a:t> = the actual version-control engine that runs commits, pushes, pulls, etc. on your machine</a:t>
            </a:r>
          </a:p>
          <a:p>
            <a:pPr rtl="0">
              <a:buNone/>
            </a:pPr>
            <a:r>
              <a:rPr lang="en-MY" sz="2400" dirty="0"/>
              <a:t>VS Code and Visual Studio don't bundle Git, they only provide a UI on top of it. If Git isn't installed, their Git/Source Control panels will just show an error asking you to install it. You can't get around this by only using the GitHub website.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709BC0-287D-D8E0-4C63-2424120BC5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4200" b="-1894"/>
          <a:stretch>
            <a:fillRect/>
          </a:stretch>
        </p:blipFill>
        <p:spPr>
          <a:xfrm>
            <a:off x="0" y="7539021"/>
            <a:ext cx="13539705" cy="6744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86112C-77DC-A1B5-D054-3E63FA1996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426" b="44984"/>
          <a:stretch>
            <a:fillRect/>
          </a:stretch>
        </p:blipFill>
        <p:spPr>
          <a:xfrm>
            <a:off x="13445369" y="7304936"/>
            <a:ext cx="4761206" cy="221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797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8799EF-EB65-4AD9-96AA-228DF1396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D6C0FD-3EB7-ECBD-DDEC-E92934174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For educational use only. Not to be distributed or shared without permission.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C6384-536C-0108-3257-985F5B18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CF3A62-0A73-8730-5450-987084135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7105" y="206794"/>
            <a:ext cx="3992137" cy="30374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49E99C-F67D-6C16-9F43-9310FD53C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9" y="132529"/>
            <a:ext cx="3992137" cy="30542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AAE17A-D6E6-F650-0CF8-15A4B0D11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944" y="132528"/>
            <a:ext cx="4019988" cy="30542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7AA46D-4F47-A27F-3CB5-50FD2AC86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1070" y="132528"/>
            <a:ext cx="4061897" cy="31116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F98A8-65D9-5B3F-539F-F225B20EE5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10" y="3671540"/>
            <a:ext cx="4008168" cy="30542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4F96E0F-27D5-1658-70A5-34FA309D2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6944" y="3671540"/>
            <a:ext cx="4043060" cy="30542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831AE27-4977-873B-8DA6-2BFFB8A909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87105" y="7100247"/>
            <a:ext cx="4026026" cy="309879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51D510B-8993-2873-2501-A6876C7459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1070" y="3671540"/>
            <a:ext cx="4050696" cy="30542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EF886D4-233A-4906-77FA-6B9F783976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52832" y="3671540"/>
            <a:ext cx="4026410" cy="309879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870832C-0EC6-7A07-F5F7-BDFCB7DB52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77" y="7100247"/>
            <a:ext cx="4008169" cy="311208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C13C628-99F6-E7B1-808B-40BF4E2352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96944" y="7100247"/>
            <a:ext cx="4043060" cy="310817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FDAB91D-84FB-505E-5430-B3148199B5A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71070" y="7100247"/>
            <a:ext cx="4050696" cy="3114986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C82B553-7727-08B2-60B3-7BFF65D61345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 flipV="1">
            <a:off x="4081346" y="1659641"/>
            <a:ext cx="715598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A13E380-1D2F-9CF2-B221-E4919AB17D49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8816932" y="1659641"/>
            <a:ext cx="654138" cy="287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6996DF3-F1E4-1EFC-84AE-AE8817596C90}"/>
              </a:ext>
            </a:extLst>
          </p:cNvPr>
          <p:cNvCxnSpPr>
            <a:stCxn id="14" idx="3"/>
            <a:endCxn id="8" idx="1"/>
          </p:cNvCxnSpPr>
          <p:nvPr/>
        </p:nvCxnSpPr>
        <p:spPr>
          <a:xfrm>
            <a:off x="13532967" y="1688365"/>
            <a:ext cx="654138" cy="371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169ED29-61E2-B676-84B8-C2F032510340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>
            <a:off x="4097378" y="5198653"/>
            <a:ext cx="69956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484B14-82BF-1DA0-04B5-1F3C2F05C87F}"/>
              </a:ext>
            </a:extLst>
          </p:cNvPr>
          <p:cNvCxnSpPr>
            <a:stCxn id="18" idx="3"/>
            <a:endCxn id="22" idx="1"/>
          </p:cNvCxnSpPr>
          <p:nvPr/>
        </p:nvCxnSpPr>
        <p:spPr>
          <a:xfrm>
            <a:off x="8840004" y="5198653"/>
            <a:ext cx="63106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6FD31C8-9070-068D-64E4-8D6A50705DE0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13521766" y="5198653"/>
            <a:ext cx="631066" cy="222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E4A6216-7098-6189-62C0-53F2618C04E9}"/>
              </a:ext>
            </a:extLst>
          </p:cNvPr>
          <p:cNvCxnSpPr>
            <a:stCxn id="26" idx="3"/>
            <a:endCxn id="28" idx="1"/>
          </p:cNvCxnSpPr>
          <p:nvPr/>
        </p:nvCxnSpPr>
        <p:spPr>
          <a:xfrm flipV="1">
            <a:off x="4081346" y="8654336"/>
            <a:ext cx="715598" cy="19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7BDBAB9-8B68-19EC-E7B2-DF7F980EB0CD}"/>
              </a:ext>
            </a:extLst>
          </p:cNvPr>
          <p:cNvCxnSpPr>
            <a:stCxn id="28" idx="3"/>
            <a:endCxn id="30" idx="1"/>
          </p:cNvCxnSpPr>
          <p:nvPr/>
        </p:nvCxnSpPr>
        <p:spPr>
          <a:xfrm>
            <a:off x="8840004" y="8654336"/>
            <a:ext cx="631066" cy="34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A2A070B-75AE-09F8-A376-02A297A5470E}"/>
              </a:ext>
            </a:extLst>
          </p:cNvPr>
          <p:cNvCxnSpPr>
            <a:cxnSpLocks/>
            <a:stCxn id="30" idx="3"/>
            <a:endCxn id="20" idx="1"/>
          </p:cNvCxnSpPr>
          <p:nvPr/>
        </p:nvCxnSpPr>
        <p:spPr>
          <a:xfrm flipV="1">
            <a:off x="13521766" y="8649645"/>
            <a:ext cx="665339" cy="80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456E6C05-6FA9-D534-53A0-0E94E4720E00}"/>
              </a:ext>
            </a:extLst>
          </p:cNvPr>
          <p:cNvCxnSpPr>
            <a:stCxn id="24" idx="3"/>
            <a:endCxn id="26" idx="1"/>
          </p:cNvCxnSpPr>
          <p:nvPr/>
        </p:nvCxnSpPr>
        <p:spPr>
          <a:xfrm flipH="1">
            <a:off x="73177" y="5220939"/>
            <a:ext cx="18106065" cy="3435350"/>
          </a:xfrm>
          <a:prstGeom prst="bentConnector5">
            <a:avLst>
              <a:gd name="adj1" fmla="val -242"/>
              <a:gd name="adj2" fmla="val 49903"/>
              <a:gd name="adj3" fmla="val 99221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74B61CB7-0939-1BA3-52A1-60F3B88D0540}"/>
              </a:ext>
            </a:extLst>
          </p:cNvPr>
          <p:cNvCxnSpPr>
            <a:stCxn id="8" idx="3"/>
            <a:endCxn id="16" idx="1"/>
          </p:cNvCxnSpPr>
          <p:nvPr/>
        </p:nvCxnSpPr>
        <p:spPr>
          <a:xfrm flipH="1">
            <a:off x="89210" y="1725498"/>
            <a:ext cx="18090032" cy="3473155"/>
          </a:xfrm>
          <a:prstGeom prst="bentConnector5">
            <a:avLst>
              <a:gd name="adj1" fmla="val -298"/>
              <a:gd name="adj2" fmla="val 49879"/>
              <a:gd name="adj3" fmla="val 99106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705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D2C32-2405-2D6D-2E95-4FEAC1828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C44FB3C-D441-A268-21DB-28FD335B7FB0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B94D0FD-7DD1-81BC-FF9E-48321CC5887F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7ADA04D-2EEC-3768-1CF2-E10510389D1B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47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147" normalizeH="0" baseline="0" noProof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TOPIC 2: INSTALLING PYTHON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124E5E4-CE96-F8F9-06CC-0229CED86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03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FD37AF0-935A-8041-2A98-8EECF5094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94D0C17-6852-F3DE-F2D9-1043BAB0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5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60F9F3B-0EE4-6083-67B8-EB97ACAF2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869246"/>
              </p:ext>
            </p:extLst>
          </p:nvPr>
        </p:nvGraphicFramePr>
        <p:xfrm>
          <a:off x="6774522" y="1545023"/>
          <a:ext cx="10757031" cy="359680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14482">
                  <a:extLst>
                    <a:ext uri="{9D8B030D-6E8A-4147-A177-3AD203B41FA5}">
                      <a16:colId xmlns:a16="http://schemas.microsoft.com/office/drawing/2014/main" val="2238645900"/>
                    </a:ext>
                  </a:extLst>
                </a:gridCol>
                <a:gridCol w="8242549">
                  <a:extLst>
                    <a:ext uri="{9D8B030D-6E8A-4147-A177-3AD203B41FA5}">
                      <a16:colId xmlns:a16="http://schemas.microsoft.com/office/drawing/2014/main" val="4274419042"/>
                    </a:ext>
                  </a:extLst>
                </a:gridCol>
              </a:tblGrid>
              <a:tr h="573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Editor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Bundles Python?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27252"/>
                  </a:ext>
                </a:extLst>
              </a:tr>
              <a:tr h="1042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VS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No, never. You must install Python from python.org yourself. VS Code just detects whatever's on your system.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5212222"/>
                  </a:ext>
                </a:extLst>
              </a:tr>
              <a:tr h="1980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Visual Studio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Can optionally bundle one. When you check "Python development" in the installer, an expandable panel on the right lets you also tick a specific Python interpreter version to install alongside it.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176604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68C3343-8987-ED09-83D3-06446EF825ED}"/>
              </a:ext>
            </a:extLst>
          </p:cNvPr>
          <p:cNvSpPr txBox="1"/>
          <p:nvPr/>
        </p:nvSpPr>
        <p:spPr>
          <a:xfrm>
            <a:off x="990600" y="5238352"/>
            <a:ext cx="16540953" cy="1261884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/>
              <a:t>Tip</a:t>
            </a:r>
            <a:r>
              <a:rPr lang="en-US" sz="2400" dirty="0"/>
              <a:t>: </a:t>
            </a:r>
          </a:p>
          <a:p>
            <a:r>
              <a:rPr lang="en-US" sz="2400" b="1" dirty="0"/>
              <a:t>1. </a:t>
            </a:r>
            <a:r>
              <a:rPr lang="en-MY" sz="2400" b="1" dirty="0"/>
              <a:t>Install Python from python.org first</a:t>
            </a:r>
            <a:r>
              <a:rPr lang="en-MY" sz="2400" dirty="0"/>
              <a:t>, then let VS Code / Visual Studio detect it — rather than relying on an editor to provide it.</a:t>
            </a:r>
          </a:p>
          <a:p>
            <a:r>
              <a:rPr lang="en-MY" sz="2400" dirty="0"/>
              <a:t>2. On Windows, use </a:t>
            </a:r>
            <a:r>
              <a:rPr lang="en-MY" sz="2000" dirty="0" err="1"/>
              <a:t>py</a:t>
            </a:r>
            <a:r>
              <a:rPr lang="en-MY" sz="2000" dirty="0"/>
              <a:t> --version </a:t>
            </a:r>
            <a:r>
              <a:rPr lang="en-MY" sz="2400" dirty="0"/>
              <a:t>instead of </a:t>
            </a:r>
            <a:r>
              <a:rPr lang="en-MY" sz="2000" dirty="0"/>
              <a:t>python –version, </a:t>
            </a:r>
            <a:r>
              <a:rPr lang="en-MY" sz="2400" dirty="0"/>
              <a:t>Windows may redirect </a:t>
            </a:r>
            <a:r>
              <a:rPr lang="en-MY" sz="2000" dirty="0"/>
              <a:t>python</a:t>
            </a:r>
            <a:r>
              <a:rPr lang="en-MY" sz="2400" dirty="0"/>
              <a:t> to the Microsoft Store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141ED6-6ECB-F3CE-11A4-3A6B5E91C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6652205"/>
            <a:ext cx="10060804" cy="582362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C7CD1F8-B2FC-5A36-16A4-F5B4081B5DDA}"/>
              </a:ext>
            </a:extLst>
          </p:cNvPr>
          <p:cNvSpPr/>
          <p:nvPr/>
        </p:nvSpPr>
        <p:spPr>
          <a:xfrm>
            <a:off x="990600" y="1545027"/>
            <a:ext cx="5667053" cy="35968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AutoNum type="arabicPeriod"/>
            </a:pPr>
            <a:r>
              <a:rPr lang="en-MY" sz="2400" dirty="0"/>
              <a:t>Download Python (python.org)</a:t>
            </a:r>
          </a:p>
          <a:p>
            <a:pPr marL="514350" indent="-514350">
              <a:buAutoNum type="arabicPeriod"/>
            </a:pPr>
            <a:r>
              <a:rPr lang="en-MY" sz="2400" dirty="0"/>
              <a:t>Run the installer</a:t>
            </a:r>
          </a:p>
          <a:p>
            <a:r>
              <a:rPr lang="en-MY" sz="2400" dirty="0"/>
              <a:t>	2.1	Windows: check "Add to PATH"</a:t>
            </a:r>
          </a:p>
          <a:p>
            <a:r>
              <a:rPr lang="en-MY" sz="2400" dirty="0"/>
              <a:t>	2.2	macOS/Linux: use package manager</a:t>
            </a:r>
          </a:p>
          <a:p>
            <a:pPr marL="514350" indent="-514350">
              <a:buAutoNum type="arabicPeriod" startAt="3"/>
            </a:pPr>
            <a:r>
              <a:rPr lang="en-MY" sz="2400" dirty="0"/>
              <a:t>Verify the installation</a:t>
            </a:r>
          </a:p>
          <a:p>
            <a:r>
              <a:rPr lang="en-MY" sz="2400" dirty="0"/>
              <a:t>	3.1	python --version</a:t>
            </a:r>
          </a:p>
          <a:p>
            <a:r>
              <a:rPr lang="en-MY" sz="2400" dirty="0"/>
              <a:t>	3.2	pip --version</a:t>
            </a:r>
          </a:p>
          <a:p>
            <a:r>
              <a:rPr lang="en-MY" sz="2400" dirty="0"/>
              <a:t>4.	Create a </a:t>
            </a:r>
            <a:r>
              <a:rPr lang="en-MY" sz="2400" dirty="0" err="1"/>
              <a:t>venv</a:t>
            </a:r>
            <a:r>
              <a:rPr lang="en-MY" sz="2400" dirty="0"/>
              <a:t>: python -m </a:t>
            </a:r>
            <a:r>
              <a:rPr lang="en-MY" sz="2400" dirty="0" err="1"/>
              <a:t>venv</a:t>
            </a:r>
            <a:endParaRPr lang="en-MY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AC5026-C752-2707-9BFB-09C723C996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465043" y="6569989"/>
            <a:ext cx="4646099" cy="296093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0A4E224-17C4-6EDA-E0A2-F2195EC9D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761" y="7362501"/>
            <a:ext cx="3446431" cy="21684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AE934C7-F6E4-22D9-99C0-9D30F2EFD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7083" y="7366845"/>
            <a:ext cx="3446432" cy="216018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91760BC-B6BF-3B73-9223-B1180129B9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7821459"/>
            <a:ext cx="3615358" cy="84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797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61EB-15E1-34B5-0D82-01BD26C7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2540DAC-B960-5009-11D8-06B1E5B45032}"/>
              </a:ext>
            </a:extLst>
          </p:cNvPr>
          <p:cNvSpPr/>
          <p:nvPr/>
        </p:nvSpPr>
        <p:spPr>
          <a:xfrm>
            <a:off x="756447" y="766141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BFBCD3B-1C60-6316-1369-5BBDAC875B2D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8AE31EC-2407-158E-A5F5-388D0E38AF64}"/>
              </a:ext>
            </a:extLst>
          </p:cNvPr>
          <p:cNvSpPr txBox="1"/>
          <p:nvPr/>
        </p:nvSpPr>
        <p:spPr>
          <a:xfrm>
            <a:off x="990599" y="104050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TOPIC 3: VS Code set up</a:t>
            </a:r>
            <a:endParaRPr kumimoji="0" lang="en-US" sz="3200" b="1" i="0" u="none" strike="noStrike" kern="1200" cap="none" spc="147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622D379-5655-4882-6C8D-522A2B91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03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0C6682C-C64D-D002-1A33-C55D1AF5A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E770BFD-E7C9-AE60-5F28-1DEDC570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6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7040A8-26EF-A1B4-106A-70A51EFF8BB3}"/>
              </a:ext>
            </a:extLst>
          </p:cNvPr>
          <p:cNvSpPr txBox="1"/>
          <p:nvPr/>
        </p:nvSpPr>
        <p:spPr>
          <a:xfrm>
            <a:off x="472611" y="929223"/>
            <a:ext cx="17630454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AutoNum type="arabicPeriod"/>
            </a:pPr>
            <a:r>
              <a:rPr lang="en-MY" sz="2400" b="1" dirty="0"/>
              <a:t>Download &amp; install VS Code</a:t>
            </a:r>
          </a:p>
          <a:p>
            <a:pPr lvl="0"/>
            <a:r>
              <a:rPr lang="en-MY" sz="2400" dirty="0"/>
              <a:t>Go to code.visualstudio.com, download the installer for your OS, and run it. On Windows, keep "Add to PATH" checked in the setup options.</a:t>
            </a:r>
          </a:p>
          <a:p>
            <a:pPr lvl="0"/>
            <a:r>
              <a:rPr lang="en-MY" sz="2400" b="1" dirty="0"/>
              <a:t>2. Install essential extensions</a:t>
            </a:r>
          </a:p>
          <a:p>
            <a:r>
              <a:rPr lang="en-MY" sz="2400" dirty="0"/>
              <a:t>	2.1	Python extension (Microsoft)</a:t>
            </a:r>
          </a:p>
          <a:p>
            <a:r>
              <a:rPr lang="en-MY" sz="2400" dirty="0"/>
              <a:t>	2.2	</a:t>
            </a:r>
            <a:r>
              <a:rPr lang="en-MY" sz="2400" dirty="0" err="1"/>
              <a:t>GitLens</a:t>
            </a:r>
            <a:r>
              <a:rPr lang="en-MY" sz="2400" dirty="0"/>
              <a:t> &amp; Git Graph</a:t>
            </a:r>
          </a:p>
          <a:p>
            <a:pPr lvl="0"/>
            <a:r>
              <a:rPr lang="en-MY" sz="2400" b="1" dirty="0"/>
              <a:t>3. Create your project folder</a:t>
            </a:r>
          </a:p>
          <a:p>
            <a:pPr lvl="0"/>
            <a:r>
              <a:rPr lang="en-MY" sz="2400" dirty="0"/>
              <a:t>In File Explorer / Finder, create a folder called AI wherever you want the project to live (e.g. Documents/AI).</a:t>
            </a:r>
          </a:p>
          <a:p>
            <a:pPr lvl="0"/>
            <a:r>
              <a:rPr lang="en-MY" sz="2400" b="1" dirty="0"/>
              <a:t>4. Open the folder in VS Code</a:t>
            </a:r>
          </a:p>
          <a:p>
            <a:pPr lvl="0"/>
            <a:r>
              <a:rPr lang="en-MY" sz="2400" dirty="0"/>
              <a:t>Launch VS Code &gt; File &gt; Open Folder... &gt; select AI. Build out your subfolders (</a:t>
            </a:r>
            <a:r>
              <a:rPr lang="en-MY" sz="2400" dirty="0" err="1"/>
              <a:t>all_datasets</a:t>
            </a:r>
            <a:r>
              <a:rPr lang="en-MY" sz="2400" dirty="0"/>
              <a:t>/, </a:t>
            </a:r>
            <a:r>
              <a:rPr lang="en-MY" sz="2400" dirty="0" err="1"/>
              <a:t>all_experiments</a:t>
            </a:r>
            <a:r>
              <a:rPr lang="en-MY" sz="2400" dirty="0"/>
              <a:t>/, etc.) from </a:t>
            </a:r>
            <a:r>
              <a:rPr lang="en-MY" sz="2400" i="1" dirty="0"/>
              <a:t>“Chapter0_Python_Toolkit”</a:t>
            </a:r>
            <a:r>
              <a:rPr lang="en-MY" sz="2400" dirty="0"/>
              <a:t> ppt.</a:t>
            </a:r>
          </a:p>
          <a:p>
            <a:pPr lvl="0"/>
            <a:r>
              <a:rPr lang="en-MY" sz="2400" b="1" dirty="0"/>
              <a:t>5. Confirm Git and Python are installed</a:t>
            </a:r>
          </a:p>
          <a:p>
            <a:pPr lvl="0"/>
            <a:r>
              <a:rPr lang="en-MY" sz="2400" dirty="0"/>
              <a:t>Open the integrated terminal (Ctrl+`) and run git --version and python --version. If either is missing, install Git from git-scm.com and Python from python.org first.</a:t>
            </a:r>
          </a:p>
          <a:p>
            <a:pPr lvl="0"/>
            <a:r>
              <a:rPr lang="en-MY" sz="2400" b="1" dirty="0"/>
              <a:t>6. Connect to GitHub</a:t>
            </a:r>
          </a:p>
          <a:p>
            <a:pPr lvl="0"/>
            <a:r>
              <a:rPr lang="en-MY" sz="2400" dirty="0"/>
              <a:t>Click the Accounts icon (bottom-left) &gt; Sign in with GitHub. Then open the Source Control panel (</a:t>
            </a:r>
            <a:r>
              <a:rPr lang="en-MY" sz="2400" dirty="0" err="1"/>
              <a:t>Ctrl+Shift+G</a:t>
            </a:r>
            <a:r>
              <a:rPr lang="en-MY" sz="2400" dirty="0"/>
              <a:t>) &gt; Initialize Repository &gt; Publish to GitHub, choosing public or private.</a:t>
            </a:r>
          </a:p>
          <a:p>
            <a:pPr lvl="0"/>
            <a:r>
              <a:rPr lang="en-MY" sz="2400" b="1" dirty="0"/>
              <a:t>7. Create the virtual environment</a:t>
            </a:r>
          </a:p>
          <a:p>
            <a:pPr lvl="0"/>
            <a:r>
              <a:rPr lang="en-MY" sz="2400" dirty="0" err="1"/>
              <a:t>Ctrl+Shift+P</a:t>
            </a:r>
            <a:r>
              <a:rPr lang="en-MY" sz="2400" dirty="0"/>
              <a:t> &gt; "Python: Create Environment" &gt; </a:t>
            </a:r>
            <a:r>
              <a:rPr lang="en-MY" sz="2400" dirty="0" err="1"/>
              <a:t>Venv</a:t>
            </a:r>
            <a:r>
              <a:rPr lang="en-MY" sz="2400" dirty="0"/>
              <a:t> &gt; select your Python interpreter. VS Code creates .</a:t>
            </a:r>
            <a:r>
              <a:rPr lang="en-MY" sz="2400" dirty="0" err="1"/>
              <a:t>venv</a:t>
            </a:r>
            <a:r>
              <a:rPr lang="en-MY" sz="2400" dirty="0"/>
              <a:t> inside AI and offers to install requirements.txt if one exists.</a:t>
            </a:r>
          </a:p>
          <a:p>
            <a:pPr lvl="0"/>
            <a:r>
              <a:rPr lang="en-MY" sz="2400" b="1" dirty="0"/>
              <a:t>8. Select it as the active interpreter</a:t>
            </a:r>
          </a:p>
          <a:p>
            <a:pPr lvl="0"/>
            <a:r>
              <a:rPr lang="en-MY" sz="2400" dirty="0"/>
              <a:t>If not prompted automatically, </a:t>
            </a:r>
            <a:r>
              <a:rPr lang="en-MY" sz="2400" dirty="0" err="1"/>
              <a:t>Ctrl+Shift+P</a:t>
            </a:r>
            <a:r>
              <a:rPr lang="en-MY" sz="2400" dirty="0"/>
              <a:t> &gt; "Python: Select Interpreter" &gt; choose the one listed under .</a:t>
            </a:r>
            <a:r>
              <a:rPr lang="en-MY" sz="2400" dirty="0" err="1"/>
              <a:t>venv</a:t>
            </a:r>
            <a:r>
              <a:rPr lang="en-MY" sz="2400" dirty="0"/>
              <a:t>.</a:t>
            </a:r>
          </a:p>
          <a:p>
            <a:pPr lvl="0"/>
            <a:r>
              <a:rPr lang="en-MY" sz="2400" b="1" dirty="0"/>
              <a:t>9. Verify it's active</a:t>
            </a:r>
          </a:p>
          <a:p>
            <a:pPr lvl="0"/>
            <a:r>
              <a:rPr lang="en-MY" sz="2400" dirty="0"/>
              <a:t>Open a new integrated terminal — you should see (.</a:t>
            </a:r>
            <a:r>
              <a:rPr lang="en-MY" sz="2400" dirty="0" err="1"/>
              <a:t>venv</a:t>
            </a:r>
            <a:r>
              <a:rPr lang="en-MY" sz="2400" dirty="0"/>
              <a:t>) at the start of the prompt, confirming it's active and ready to use.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B4CBC4-B4F8-F472-B74B-BAD2670DC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138" y="1998912"/>
            <a:ext cx="10668415" cy="58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38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32CB62-6A58-F05D-590D-2A0279C1E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1C314C-8AA2-4E49-3FF2-0E68AF6E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6F9C7-1CDA-F731-3B01-2FD7D8D4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B82E7F-7B32-E34B-F8DF-775D1136D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39" y="155241"/>
            <a:ext cx="5664491" cy="42928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921CA9-A036-35E5-3099-22AD456A6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782" y="155241"/>
            <a:ext cx="5664491" cy="42547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B27FD5-3CBC-8EE9-7C44-DE666E01B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0225" y="134932"/>
            <a:ext cx="5683542" cy="42737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AA2997-CBFC-4FB2-3294-62500D4FF4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339" y="5143501"/>
            <a:ext cx="5604561" cy="37280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4E41A1-48C2-1426-A4BE-0D6812C192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9211" y="5143500"/>
            <a:ext cx="5615469" cy="37280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F8B097C-3CDF-8DED-53CB-2426CC4D76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4509" y="5143500"/>
            <a:ext cx="5589258" cy="373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35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D8C387-EE6E-B241-62EA-B546F6733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D256B-6F52-A4C7-96B9-5EB0EC0AB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329F8-6C4E-52F1-F6D0-F9CA26BA7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BFBDC1-7C24-CBD3-4F13-F8476A9B0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8" y="347252"/>
            <a:ext cx="8309084" cy="55533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494880-94E6-81D3-FA29-6EB3E691A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739" y="3123906"/>
            <a:ext cx="9497183" cy="6315601"/>
          </a:xfrm>
          <a:prstGeom prst="rect">
            <a:avLst/>
          </a:prstGeom>
        </p:spPr>
      </p:pic>
      <p:sp>
        <p:nvSpPr>
          <p:cNvPr id="12" name="Arrow: Left 11">
            <a:extLst>
              <a:ext uri="{FF2B5EF4-FFF2-40B4-BE49-F238E27FC236}">
                <a16:creationId xmlns:a16="http://schemas.microsoft.com/office/drawing/2014/main" id="{8995B795-761A-24F2-6DFF-70781A7DE14C}"/>
              </a:ext>
            </a:extLst>
          </p:cNvPr>
          <p:cNvSpPr/>
          <p:nvPr/>
        </p:nvSpPr>
        <p:spPr>
          <a:xfrm>
            <a:off x="10181690" y="523983"/>
            <a:ext cx="5219272" cy="175688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this particular </a:t>
            </a:r>
            <a:r>
              <a:rPr lang="en-US" dirty="0" err="1"/>
              <a:t>GitLens</a:t>
            </a:r>
            <a:r>
              <a:rPr lang="en-US" dirty="0"/>
              <a:t> </a:t>
            </a:r>
            <a:r>
              <a:rPr lang="en-MY" dirty="0"/>
              <a:t>by </a:t>
            </a:r>
            <a:r>
              <a:rPr lang="en-MY" b="1" dirty="0" err="1"/>
              <a:t>GitKraken</a:t>
            </a:r>
            <a:r>
              <a:rPr lang="en-US" dirty="0"/>
              <a:t> to install</a:t>
            </a:r>
            <a:endParaRPr lang="en-MY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17BFFD8-E8F3-FC5B-335F-FE14023D3299}"/>
              </a:ext>
            </a:extLst>
          </p:cNvPr>
          <p:cNvSpPr/>
          <p:nvPr/>
        </p:nvSpPr>
        <p:spPr>
          <a:xfrm>
            <a:off x="2835667" y="6644222"/>
            <a:ext cx="4664468" cy="17671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this particular Git Graph by </a:t>
            </a:r>
            <a:r>
              <a:rPr lang="en-MY" dirty="0" err="1"/>
              <a:t>mhutchie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885355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239D2D-EEAC-F765-6343-8FCE589FD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4187E4-261B-3959-C6DC-4DAD4BD8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D088E-D67F-7624-2334-9EE06CE3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4449F5-DFB3-36A6-A63A-0CFDCB01E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59" y="1361656"/>
            <a:ext cx="7982360" cy="81728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4AAFA9-677A-F834-B893-67E0D6D1826B}"/>
              </a:ext>
            </a:extLst>
          </p:cNvPr>
          <p:cNvSpPr txBox="1"/>
          <p:nvPr/>
        </p:nvSpPr>
        <p:spPr>
          <a:xfrm>
            <a:off x="599460" y="583135"/>
            <a:ext cx="7663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After Ctrl + `   … Terminal opens  at the bottom of the editor.</a:t>
            </a:r>
            <a:endParaRPr lang="en-MY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CADFC6-9E60-4176-69D1-1982BDB38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182" y="1733489"/>
            <a:ext cx="8068339" cy="32766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AB6994-66B6-F607-E0B5-6E8FD7F18D32}"/>
              </a:ext>
            </a:extLst>
          </p:cNvPr>
          <p:cNvSpPr txBox="1"/>
          <p:nvPr/>
        </p:nvSpPr>
        <p:spPr>
          <a:xfrm>
            <a:off x="9706180" y="444635"/>
            <a:ext cx="7982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While finding version, for windows user, python --version might throw error, so use </a:t>
            </a:r>
            <a:r>
              <a:rPr lang="en-US" sz="2400" dirty="0" err="1"/>
              <a:t>py</a:t>
            </a:r>
            <a:r>
              <a:rPr lang="en-US" sz="2400" dirty="0"/>
              <a:t> --version to get the required installed python version.</a:t>
            </a:r>
            <a:endParaRPr lang="en-MY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69B7EB-7369-7918-E3F6-089768FE7D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6483" y="5143500"/>
            <a:ext cx="5172797" cy="44773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1F2B587-38D8-9FDB-98EB-88FBCA39FA69}"/>
              </a:ext>
            </a:extLst>
          </p:cNvPr>
          <p:cNvSpPr txBox="1"/>
          <p:nvPr/>
        </p:nvSpPr>
        <p:spPr>
          <a:xfrm>
            <a:off x="10568376" y="6856839"/>
            <a:ext cx="1428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Sign in to GitHub</a:t>
            </a: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1211386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4337B1-E557-0D60-7546-47E23D7CD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C055B9-0CE8-61C8-4967-E06CF984D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F10BF-0932-CA1C-F1F3-1A508437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865B0F-DA05-4588-F813-6189C3D05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96" y="587278"/>
            <a:ext cx="4997707" cy="37784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6031ED-FFB4-480F-57EF-4AEBB4AE7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094" y="7267468"/>
            <a:ext cx="5816899" cy="16764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61788C-102B-0B6B-2C2A-12CDB8B131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365" y="1521502"/>
            <a:ext cx="5245370" cy="18923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DC5AB0-763B-378A-02CC-6F1456DAC7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7754" y="1800190"/>
            <a:ext cx="5150115" cy="13526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109BE4-3F4E-EFB9-98DD-671EAA979E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7097" y="5262339"/>
            <a:ext cx="5391427" cy="13526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74CAA3A-C452-19D1-36F5-DF40BB78F9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412" y="7197615"/>
            <a:ext cx="5073911" cy="181619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910BC20-1B64-F250-69C7-6ED17F478E0D}"/>
              </a:ext>
            </a:extLst>
          </p:cNvPr>
          <p:cNvSpPr txBox="1"/>
          <p:nvPr/>
        </p:nvSpPr>
        <p:spPr>
          <a:xfrm>
            <a:off x="10743642" y="5523150"/>
            <a:ext cx="17702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dirty="0"/>
              <a:t>Skip package installation.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CFF02B-BB95-D8B0-1422-DA630454621C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5527803" y="2467701"/>
            <a:ext cx="696562" cy="8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1FB60FB-AAF3-3ED3-B1D0-51EB7C7D2FD9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11469735" y="2467701"/>
            <a:ext cx="1288019" cy="8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9140320-98D3-6641-39C8-FE708EDAC9F2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 flipH="1">
            <a:off x="15332811" y="3152810"/>
            <a:ext cx="1" cy="21095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5876FB6-BA56-84E2-6C41-6E4E5192614A}"/>
              </a:ext>
            </a:extLst>
          </p:cNvPr>
          <p:cNvCxnSpPr>
            <a:stCxn id="18" idx="1"/>
            <a:endCxn id="8" idx="3"/>
          </p:cNvCxnSpPr>
          <p:nvPr/>
        </p:nvCxnSpPr>
        <p:spPr>
          <a:xfrm flipH="1" flipV="1">
            <a:off x="6983993" y="8105711"/>
            <a:ext cx="1117419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55572AE7-C1E0-9B37-0BEB-98BBD3C1226D}"/>
              </a:ext>
            </a:extLst>
          </p:cNvPr>
          <p:cNvCxnSpPr>
            <a:stCxn id="14" idx="2"/>
            <a:endCxn id="18" idx="3"/>
          </p:cNvCxnSpPr>
          <p:nvPr/>
        </p:nvCxnSpPr>
        <p:spPr>
          <a:xfrm rot="5400000">
            <a:off x="13508691" y="6281591"/>
            <a:ext cx="1490753" cy="215748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633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DCD6B-57E2-6AB0-28E3-B237F0AE6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3AB686E-7094-4E9F-5DED-97C95CDBFB49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BAA8B91-BAD5-932B-BFF0-4260099F36E7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5917898-DC38-887E-F36A-0907ACFAFAAE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47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Visual Studio set up</a:t>
            </a:r>
            <a:endParaRPr kumimoji="0" lang="en-US" sz="3200" b="1" i="0" u="none" strike="noStrike" kern="1200" cap="none" spc="147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CB569D6-5F5A-63D2-C849-101514ED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03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631E751-4F0B-5029-B4C4-903E582E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BE6167-9E6B-3BB2-9B1B-26E6C02E2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11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AD683-0D2A-A2E3-D08D-145692305F7E}"/>
              </a:ext>
            </a:extLst>
          </p:cNvPr>
          <p:cNvSpPr txBox="1"/>
          <p:nvPr/>
        </p:nvSpPr>
        <p:spPr>
          <a:xfrm>
            <a:off x="756447" y="1421666"/>
            <a:ext cx="16678798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MY" sz="2400" b="1" dirty="0"/>
              <a:t>1. Download &amp; install Visual Studio</a:t>
            </a:r>
          </a:p>
          <a:p>
            <a:pPr lvl="0"/>
            <a:r>
              <a:rPr lang="en-MY" sz="2400" dirty="0"/>
              <a:t>Go to visualstudio.microsoft.com, download Community (free) or your licensed edition, and run the installer.</a:t>
            </a:r>
          </a:p>
          <a:p>
            <a:pPr lvl="0"/>
            <a:r>
              <a:rPr lang="en-MY" sz="2400" b="1" dirty="0"/>
              <a:t>2. Select the Python workload</a:t>
            </a:r>
          </a:p>
          <a:p>
            <a:pPr lvl="0"/>
            <a:r>
              <a:rPr lang="en-MY" sz="2400" dirty="0"/>
              <a:t>In the Visual Studio Installer, check "Python development" under Workloads, then click Install (or Modify if already installed).</a:t>
            </a:r>
          </a:p>
          <a:p>
            <a:r>
              <a:rPr lang="en-MY" sz="2400" b="1" dirty="0"/>
              <a:t>3.</a:t>
            </a:r>
            <a:r>
              <a:rPr lang="en-MY" sz="2400" dirty="0"/>
              <a:t> </a:t>
            </a:r>
            <a:r>
              <a:rPr lang="en-MY" sz="2400" b="1" dirty="0"/>
              <a:t>Visual Studio doesn't use this extension model </a:t>
            </a:r>
            <a:r>
              <a:rPr lang="en-MY" sz="2400" dirty="0"/>
              <a:t>for these two things at all:</a:t>
            </a:r>
          </a:p>
          <a:p>
            <a:pPr lvl="0"/>
            <a:r>
              <a:rPr lang="en-MY" sz="2400" b="1" dirty="0"/>
              <a:t>Git support is built directly into the IDE,</a:t>
            </a:r>
            <a:r>
              <a:rPr lang="en-MY" sz="2400" dirty="0"/>
              <a:t> the </a:t>
            </a:r>
            <a:r>
              <a:rPr lang="en-MY" sz="2400" b="1" dirty="0"/>
              <a:t>Git Changes</a:t>
            </a:r>
            <a:r>
              <a:rPr lang="en-MY" sz="2400" dirty="0"/>
              <a:t> window and </a:t>
            </a:r>
            <a:r>
              <a:rPr lang="en-MY" sz="2400" b="1" dirty="0"/>
              <a:t>Git Repository</a:t>
            </a:r>
            <a:r>
              <a:rPr lang="en-MY" sz="2400" dirty="0"/>
              <a:t> window (with its own commit graph) are there by default. There's no separate </a:t>
            </a:r>
            <a:r>
              <a:rPr lang="en-MY" sz="2400" dirty="0" err="1"/>
              <a:t>GitLens</a:t>
            </a:r>
            <a:r>
              <a:rPr lang="en-MY" sz="2400" dirty="0"/>
              <a:t>/Git Graph equivalent to add.</a:t>
            </a:r>
          </a:p>
          <a:p>
            <a:pPr lvl="0"/>
            <a:r>
              <a:rPr lang="en-MY" sz="2400" b="1" dirty="0"/>
              <a:t>4. Create and open your project folder</a:t>
            </a:r>
          </a:p>
          <a:p>
            <a:pPr lvl="0"/>
            <a:r>
              <a:rPr lang="en-MY" sz="2400" dirty="0"/>
              <a:t>Create the AI folder in File Explorer, then in Visual Studio: File &gt; Open &gt; Folder... &gt; select AI. Build out your subfolders from Solution Explorer.</a:t>
            </a:r>
          </a:p>
          <a:p>
            <a:pPr lvl="0"/>
            <a:r>
              <a:rPr lang="en-MY" sz="2400" b="1" dirty="0"/>
              <a:t>5. Confirm Git and Python are installed</a:t>
            </a:r>
          </a:p>
          <a:p>
            <a:pPr lvl="0"/>
            <a:r>
              <a:rPr lang="en-MY" sz="2400" dirty="0"/>
              <a:t>Open View &gt; Terminal and run git --version and python --version. Install Git from git-scm.com or Python from python.org first if either is missing.</a:t>
            </a:r>
          </a:p>
          <a:p>
            <a:pPr lvl="0"/>
            <a:r>
              <a:rPr lang="en-MY" sz="2400" b="1" dirty="0"/>
              <a:t>6. Connect to GitHub</a:t>
            </a:r>
          </a:p>
          <a:p>
            <a:pPr lvl="0"/>
            <a:r>
              <a:rPr lang="en-MY" sz="2400" dirty="0"/>
              <a:t>Git menu &gt; "Clone Repository" (to pull an existing repo) or "Create Git Repository" (to start fresh) &gt; sign in with your GitHub account when prompted &gt; choose to push AI to a new or existing GitHub repo.</a:t>
            </a:r>
          </a:p>
          <a:p>
            <a:pPr lvl="0"/>
            <a:r>
              <a:rPr lang="en-MY" sz="2400" b="1" dirty="0"/>
              <a:t>7 Open the Python Environments window</a:t>
            </a:r>
          </a:p>
          <a:p>
            <a:pPr lvl="0"/>
            <a:r>
              <a:rPr lang="en-MY" sz="2400" dirty="0"/>
              <a:t>View &gt; Python Environments (only appears once the Python workload is installed).</a:t>
            </a:r>
          </a:p>
          <a:p>
            <a:pPr lvl="0"/>
            <a:r>
              <a:rPr lang="en-MY" sz="2400" b="1" dirty="0"/>
              <a:t>8. Create the virtual environment</a:t>
            </a:r>
          </a:p>
          <a:p>
            <a:pPr lvl="0"/>
            <a:r>
              <a:rPr lang="en-MY" sz="2400" dirty="0"/>
              <a:t>Click "Add Environment" &gt; Virtual Environment &gt; point it at your requirements.txt so Visual Studio installs everything automatically.</a:t>
            </a:r>
          </a:p>
          <a:p>
            <a:pPr lvl="0"/>
            <a:r>
              <a:rPr lang="en-MY" sz="2400" b="1" dirty="0"/>
              <a:t>9. Set it as the active environment</a:t>
            </a:r>
          </a:p>
          <a:p>
            <a:pPr lvl="0"/>
            <a:r>
              <a:rPr lang="en-MY" sz="2400" dirty="0"/>
              <a:t>Right-click the new environment &gt; "Set as Current Environment" so all scripts in this project run inside .</a:t>
            </a:r>
            <a:r>
              <a:rPr lang="en-MY" sz="2400" dirty="0" err="1"/>
              <a:t>venv</a:t>
            </a:r>
            <a:r>
              <a:rPr lang="en-MY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7370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862E9-F54B-B087-DCBF-6460B684E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848980F-82D1-EA4E-47E6-6EE24D6B39A6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3FDB01E-F971-DBA0-B492-36082CBB6440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34B1EFF-76C9-0A5A-AFD7-3CECD8249562}"/>
              </a:ext>
            </a:extLst>
          </p:cNvPr>
          <p:cNvSpPr txBox="1"/>
          <p:nvPr/>
        </p:nvSpPr>
        <p:spPr>
          <a:xfrm>
            <a:off x="990600" y="300719"/>
            <a:ext cx="6119117" cy="621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To be checked in next class</a:t>
            </a:r>
            <a:endParaRPr kumimoji="0" lang="en-US" sz="3200" b="1" i="0" u="none" strike="noStrike" kern="1200" cap="none" spc="147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8CF1AFE-CF34-F1FE-4311-62830A8150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03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C64631D-62C3-E69A-389C-987D17683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0B01C5-666B-2D11-797F-6C3D0635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12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29406-DD43-521F-000F-E6FC4AAF902A}"/>
              </a:ext>
            </a:extLst>
          </p:cNvPr>
          <p:cNvSpPr txBox="1"/>
          <p:nvPr/>
        </p:nvSpPr>
        <p:spPr>
          <a:xfrm>
            <a:off x="990600" y="1621481"/>
            <a:ext cx="98000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MY" sz="2600" dirty="0"/>
              <a:t>Screenshot of all three tools</a:t>
            </a:r>
          </a:p>
          <a:p>
            <a:r>
              <a:rPr lang="en-MY" sz="2600" dirty="0"/>
              <a:t>	</a:t>
            </a:r>
            <a:r>
              <a:rPr lang="en-MY" sz="2200" dirty="0"/>
              <a:t>1.1	Screenshot Git &amp; Python versions</a:t>
            </a:r>
          </a:p>
          <a:p>
            <a:r>
              <a:rPr lang="en-MY" sz="2200" dirty="0"/>
              <a:t>	1.2	Screenshot the VS Code welcome screen</a:t>
            </a:r>
            <a:r>
              <a:rPr lang="en-MY" sz="2600" dirty="0"/>
              <a:t>	</a:t>
            </a:r>
          </a:p>
          <a:p>
            <a:pPr marL="342900" indent="-342900">
              <a:buFont typeface="+mj-lt"/>
              <a:buAutoNum type="arabicPeriod"/>
            </a:pPr>
            <a:endParaRPr lang="en-MY" sz="2600" dirty="0"/>
          </a:p>
        </p:txBody>
      </p:sp>
    </p:spTree>
    <p:extLst>
      <p:ext uri="{BB962C8B-B14F-4D97-AF65-F5344CB8AC3E}">
        <p14:creationId xmlns:p14="http://schemas.microsoft.com/office/powerpoint/2010/main" val="71604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C4F57-A0D2-A1C5-4C9C-1FA3E6798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814153A-1A7F-746B-43F0-99D5D0A64DA6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E4C38F4-DB83-C389-2E97-86665AC9C17B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877088A-4AB3-DB28-D54E-E7482C2E89E3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47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1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SUMMARY</a:t>
            </a:r>
            <a:endParaRPr kumimoji="0" lang="en-US" sz="3200" b="1" i="0" u="none" strike="noStrike" kern="1200" cap="none" spc="147" normalizeH="0" baseline="0" noProof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D0DBE7C-4225-697B-9A34-AA94D98851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03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A750A4A-BA53-9CEA-82F7-B975C226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2B37115-622D-5572-C35D-A0511CEB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13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380BA-B325-F8EE-45CB-D3B8F57B38CE}"/>
              </a:ext>
            </a:extLst>
          </p:cNvPr>
          <p:cNvSpPr txBox="1"/>
          <p:nvPr/>
        </p:nvSpPr>
        <p:spPr>
          <a:xfrm>
            <a:off x="757619" y="1790700"/>
            <a:ext cx="9800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MY" sz="2600"/>
              <a:t>Git &amp; GitHub enable version control</a:t>
            </a:r>
          </a:p>
          <a:p>
            <a:pPr marL="514350" indent="-514350">
              <a:buAutoNum type="arabicPeriod"/>
            </a:pPr>
            <a:r>
              <a:rPr lang="en-MY" sz="2600"/>
              <a:t>Python installed and verified</a:t>
            </a:r>
          </a:p>
          <a:p>
            <a:r>
              <a:rPr lang="en-MY" sz="2600"/>
              <a:t>	</a:t>
            </a:r>
            <a:r>
              <a:rPr lang="en-MY" sz="2200"/>
              <a:t>2.1	</a:t>
            </a:r>
            <a:r>
              <a:rPr lang="en-MY" sz="2200" err="1"/>
              <a:t>python --version confirms it</a:t>
            </a:r>
            <a:endParaRPr lang="en-MY" sz="2200"/>
          </a:p>
          <a:p>
            <a:r>
              <a:rPr lang="en-MY" sz="2200"/>
              <a:t>	2.2	</a:t>
            </a:r>
            <a:r>
              <a:rPr lang="en-MY" sz="2200" err="1"/>
              <a:t>pip manages packages</a:t>
            </a:r>
            <a:endParaRPr lang="en-MY" sz="2200"/>
          </a:p>
          <a:p>
            <a:pPr marL="514350" indent="-514350">
              <a:buAutoNum type="arabicPeriod" startAt="3"/>
            </a:pPr>
            <a:r>
              <a:rPr lang="en-MY" sz="2600"/>
              <a:t>VS Code ties it together</a:t>
            </a:r>
          </a:p>
          <a:p>
            <a:r>
              <a:rPr lang="en-MY" sz="2600"/>
              <a:t>	</a:t>
            </a:r>
            <a:r>
              <a:rPr lang="en-MY" sz="2200"/>
              <a:t>3.1	</a:t>
            </a:r>
            <a:r>
              <a:rPr lang="en-MY" sz="2200" err="1"/>
              <a:t>Python extension for coding</a:t>
            </a:r>
            <a:endParaRPr lang="en-MY" sz="2200"/>
          </a:p>
          <a:p>
            <a:r>
              <a:rPr lang="en-MY" sz="2200"/>
              <a:t>	3.2	</a:t>
            </a:r>
            <a:r>
              <a:rPr lang="en-MY" sz="2200" err="1"/>
              <a:t>Git integration for commits</a:t>
            </a:r>
            <a:endParaRPr lang="en-MY" sz="2200"/>
          </a:p>
          <a:p>
            <a:r>
              <a:rPr lang="en-MY" sz="2600"/>
              <a:t>4.	Next: writing your first script</a:t>
            </a:r>
          </a:p>
          <a:p>
            <a:r>
              <a:rPr lang="en-MY" sz="2600"/>
              <a:t>	</a:t>
            </a:r>
          </a:p>
          <a:p>
            <a:pPr marL="342900" indent="-342900">
              <a:buFont typeface="+mj-lt"/>
              <a:buAutoNum type="arabicPeriod"/>
            </a:pPr>
            <a:endParaRPr lang="en-MY" sz="2600"/>
          </a:p>
        </p:txBody>
      </p:sp>
    </p:spTree>
    <p:extLst>
      <p:ext uri="{BB962C8B-B14F-4D97-AF65-F5344CB8AC3E}">
        <p14:creationId xmlns:p14="http://schemas.microsoft.com/office/powerpoint/2010/main" val="3244788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6447" y="1563443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1028700" y="9534526"/>
            <a:ext cx="16502853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4648200" y="4777861"/>
            <a:ext cx="8037635" cy="3503005"/>
            <a:chOff x="0" y="0"/>
            <a:chExt cx="2337006" cy="1018527"/>
          </a:xfrm>
          <a:noFill/>
        </p:grpSpPr>
        <p:sp>
          <p:nvSpPr>
            <p:cNvPr id="5" name="Freeform 5"/>
            <p:cNvSpPr/>
            <p:nvPr/>
          </p:nvSpPr>
          <p:spPr>
            <a:xfrm>
              <a:off x="0" y="0"/>
              <a:ext cx="2337006" cy="1018527"/>
            </a:xfrm>
            <a:custGeom>
              <a:avLst/>
              <a:gdLst/>
              <a:ahLst/>
              <a:cxnLst/>
              <a:rect l="l" t="t" r="r" b="b"/>
              <a:pathLst>
                <a:path w="2337006" h="1018527">
                  <a:moveTo>
                    <a:pt x="0" y="0"/>
                  </a:moveTo>
                  <a:lnTo>
                    <a:pt x="2337006" y="0"/>
                  </a:lnTo>
                  <a:lnTo>
                    <a:pt x="2337006" y="1018527"/>
                  </a:lnTo>
                  <a:lnTo>
                    <a:pt x="0" y="1018527"/>
                  </a:lnTo>
                  <a:close/>
                </a:path>
              </a:pathLst>
            </a:custGeom>
            <a:grpFill/>
            <a:ln w="38100" cap="sq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37006" cy="105662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273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42298" y="3005254"/>
            <a:ext cx="10822028" cy="1371979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185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99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14211" y="5660960"/>
            <a:ext cx="5678202" cy="396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90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Aptos"/>
                <a:ea typeface="Aptos"/>
                <a:cs typeface="Aptos"/>
                <a:sym typeface="Aptos"/>
              </a:rPr>
              <a:t>DEPARTMENT OF COMPUTING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509434" y="6611027"/>
            <a:ext cx="4834714" cy="425111"/>
            <a:chOff x="0" y="0"/>
            <a:chExt cx="6446284" cy="5668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7647" cy="566816"/>
            </a:xfrm>
            <a:custGeom>
              <a:avLst/>
              <a:gdLst/>
              <a:ahLst/>
              <a:cxnLst/>
              <a:rect l="l" t="t" r="r" b="b"/>
              <a:pathLst>
                <a:path w="577647" h="566816">
                  <a:moveTo>
                    <a:pt x="0" y="0"/>
                  </a:moveTo>
                  <a:lnTo>
                    <a:pt x="577647" y="0"/>
                  </a:lnTo>
                  <a:lnTo>
                    <a:pt x="577647" y="566816"/>
                  </a:lnTo>
                  <a:lnTo>
                    <a:pt x="0" y="566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9574" y="146279"/>
              <a:ext cx="5436710" cy="3512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defTabSz="304815">
                <a:lnSpc>
                  <a:spcPts val="2027"/>
                </a:lnSpc>
                <a:defRPr/>
              </a:pPr>
              <a:r>
                <a:rPr lang="en-US" sz="2000" spc="55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50000">
                        <a:srgbClr val="002F31">
                          <a:alpha val="100000"/>
                        </a:srgbClr>
                      </a:gs>
                      <a:gs pos="100000">
                        <a:srgbClr val="00959A">
                          <a:alpha val="100000"/>
                        </a:srgbClr>
                      </a:gs>
                    </a:gsLst>
                    <a:lin ang="2700000"/>
                  </a:gradFill>
                  <a:latin typeface="Aptos"/>
                  <a:ea typeface="Aptos"/>
                  <a:cs typeface="Aptos"/>
                  <a:sym typeface="Aptos"/>
                </a:rPr>
                <a:t>FARAHIDA.MAUSOR@UTP.EDU.MY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509434" y="7391229"/>
            <a:ext cx="4834716" cy="512496"/>
            <a:chOff x="0" y="0"/>
            <a:chExt cx="6446288" cy="6833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0390" cy="683328"/>
            </a:xfrm>
            <a:custGeom>
              <a:avLst/>
              <a:gdLst/>
              <a:ahLst/>
              <a:cxnLst/>
              <a:rect l="l" t="t" r="r" b="b"/>
              <a:pathLst>
                <a:path w="550390" h="683328">
                  <a:moveTo>
                    <a:pt x="0" y="0"/>
                  </a:moveTo>
                  <a:lnTo>
                    <a:pt x="550390" y="0"/>
                  </a:lnTo>
                  <a:lnTo>
                    <a:pt x="550390" y="683328"/>
                  </a:lnTo>
                  <a:lnTo>
                    <a:pt x="0" y="683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9575" y="75176"/>
              <a:ext cx="5436713" cy="4794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3040"/>
                </a:lnSpc>
                <a:defRPr/>
              </a:pPr>
              <a:r>
                <a:rPr lang="en-US" sz="2000" spc="82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50000">
                        <a:srgbClr val="002F31">
                          <a:alpha val="100000"/>
                        </a:srgbClr>
                      </a:gs>
                      <a:gs pos="100000">
                        <a:srgbClr val="00959A">
                          <a:alpha val="100000"/>
                        </a:srgbClr>
                      </a:gs>
                    </a:gsLst>
                    <a:lin ang="2700000"/>
                  </a:gradFill>
                  <a:latin typeface="Aptos"/>
                  <a:ea typeface="Aptos"/>
                  <a:cs typeface="Aptos"/>
                  <a:sym typeface="Aptos"/>
                </a:rPr>
                <a:t>Lab 01-01-10: Data Analytic Lab</a:t>
              </a:r>
              <a:endParaRPr kumimoji="0" lang="en-US" sz="2000" b="0" i="0" u="none" strike="noStrike" kern="1200" cap="none" spc="82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13452568" y="161232"/>
            <a:ext cx="3806732" cy="1350171"/>
          </a:xfrm>
          <a:custGeom>
            <a:avLst/>
            <a:gdLst/>
            <a:ahLst/>
            <a:cxnLst/>
            <a:rect l="l" t="t" r="r" b="b"/>
            <a:pathLst>
              <a:path w="3806732" h="1350171">
                <a:moveTo>
                  <a:pt x="0" y="0"/>
                </a:moveTo>
                <a:lnTo>
                  <a:pt x="3806732" y="0"/>
                </a:lnTo>
                <a:lnTo>
                  <a:pt x="3806732" y="1350171"/>
                </a:lnTo>
                <a:lnTo>
                  <a:pt x="0" y="1350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69CC0C1-CEE6-7AFD-F08C-9037DCAED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Week 03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559E3EB5-D08C-1B33-945D-C91DA725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7658100" cy="547688"/>
          </a:xfrm>
        </p:spPr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A546E35-A579-1253-4F8D-BE6DFA9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f604542f-3f98-4180-a530-dccd8eb9645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C87EB35ACF9448AB6AF0166C74B31C" ma:contentTypeVersion="20" ma:contentTypeDescription="Create a new document." ma:contentTypeScope="" ma:versionID="afd188c47451dba45a86e012c1481767">
  <xsd:schema xmlns:xsd="http://www.w3.org/2001/XMLSchema" xmlns:xs="http://www.w3.org/2001/XMLSchema" xmlns:p="http://schemas.microsoft.com/office/2006/metadata/properties" xmlns:ns1="http://schemas.microsoft.com/sharepoint/v3" xmlns:ns3="f604542f-3f98-4180-a530-dccd8eb96459" xmlns:ns4="161b1d0b-c5d9-4346-b7aa-7c23791df872" targetNamespace="http://schemas.microsoft.com/office/2006/metadata/properties" ma:root="true" ma:fieldsID="f8830e1d0cf709f132b06e9cca8a370a" ns1:_="" ns3:_="" ns4:_="">
    <xsd:import namespace="http://schemas.microsoft.com/sharepoint/v3"/>
    <xsd:import namespace="f604542f-3f98-4180-a530-dccd8eb96459"/>
    <xsd:import namespace="161b1d0b-c5d9-4346-b7aa-7c23791df8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04542f-3f98-4180-a530-dccd8eb964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7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1b1d0b-c5d9-4346-b7aa-7c23791df87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8EABEC-D4DA-4635-9F5B-DEE1FFF379A2}">
  <ds:schemaRefs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terms/"/>
    <ds:schemaRef ds:uri="f604542f-3f98-4180-a530-dccd8eb96459"/>
    <ds:schemaRef ds:uri="http://schemas.microsoft.com/office/2006/documentManagement/types"/>
    <ds:schemaRef ds:uri="http://schemas.microsoft.com/office/infopath/2007/PartnerControls"/>
    <ds:schemaRef ds:uri="161b1d0b-c5d9-4346-b7aa-7c23791df872"/>
    <ds:schemaRef ds:uri="http://schemas.microsoft.com/sharepoint/v3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7F07991-DBC0-402D-BD53-7E5C26CAE5A5}">
  <ds:schemaRefs>
    <ds:schemaRef ds:uri="161b1d0b-c5d9-4346-b7aa-7c23791df872"/>
    <ds:schemaRef ds:uri="f604542f-3f98-4180-a530-dccd8eb9645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59B6550-91B7-456B-A940-ECDA25AB84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456</TotalTime>
  <Words>1657</Words>
  <Application>Microsoft Office PowerPoint</Application>
  <PresentationFormat>Custom</PresentationFormat>
  <Paragraphs>157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Segoe UI</vt:lpstr>
      <vt:lpstr>Arial</vt:lpstr>
      <vt:lpstr>Calibri</vt:lpstr>
      <vt:lpstr>Museo Sans 300</vt:lpstr>
      <vt:lpstr>Aptos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 Slide Ver02</dc:title>
  <dc:creator>Nurul Fazilah Bt Esa (FSMC/UTP)</dc:creator>
  <cp:lastModifiedBy>Beg Fiza</cp:lastModifiedBy>
  <cp:revision>4</cp:revision>
  <dcterms:created xsi:type="dcterms:W3CDTF">2006-08-16T00:00:00Z</dcterms:created>
  <dcterms:modified xsi:type="dcterms:W3CDTF">2026-09-24T10:57:31Z</dcterms:modified>
  <dc:identifier>DAG_MRG_x0E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0x0101000DC87EB35ACF9448AB6AF0166C74B31C</vt:lpwstr>
  </property>
</Properties>
</file>